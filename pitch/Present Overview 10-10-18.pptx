
<file path=[Content_Types].xml><?xml version="1.0" encoding="utf-8"?>
<Types xmlns="http://schemas.openxmlformats.org/package/2006/content-types">
  <Default Extension="xml" ContentType="application/xml"/>
  <Default Extension="jpeg" ContentType="image/jpeg"/>
  <Default Extension="jpg" ContentType="image/jpeg"/>
  <Default Extension="rels" ContentType="application/vnd.openxmlformats-package.relationships+xml"/>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83" r:id="rId2"/>
    <p:sldId id="304" r:id="rId3"/>
    <p:sldId id="291" r:id="rId4"/>
    <p:sldId id="305" r:id="rId5"/>
    <p:sldId id="307" r:id="rId6"/>
    <p:sldId id="306" r:id="rId7"/>
    <p:sldId id="309" r:id="rId8"/>
    <p:sldId id="308" r:id="rId9"/>
    <p:sldId id="311" r:id="rId10"/>
    <p:sldId id="312" r:id="rId11"/>
    <p:sldId id="313" r:id="rId12"/>
    <p:sldId id="276" r:id="rId13"/>
    <p:sldId id="298" r:id="rId14"/>
    <p:sldId id="297" r:id="rId15"/>
    <p:sldId id="31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465F"/>
    <a:srgbClr val="F4BC53"/>
    <a:srgbClr val="F15D5A"/>
    <a:srgbClr val="83CACC"/>
    <a:srgbClr val="114961"/>
    <a:srgbClr val="05465F"/>
    <a:srgbClr val="032734"/>
    <a:srgbClr val="011C25"/>
    <a:srgbClr val="F15D59"/>
    <a:srgbClr val="84C9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92" autoAdjust="0"/>
    <p:restoredTop sz="94349" autoAdjust="0"/>
  </p:normalViewPr>
  <p:slideViewPr>
    <p:cSldViewPr snapToGrid="0">
      <p:cViewPr varScale="1">
        <p:scale>
          <a:sx n="100" d="100"/>
          <a:sy n="100" d="100"/>
        </p:scale>
        <p:origin x="-1048" y="-112"/>
      </p:cViewPr>
      <p:guideLst>
        <p:guide orient="horz" pos="2160"/>
        <p:guide pos="3840"/>
      </p:guideLst>
    </p:cSldViewPr>
  </p:slideViewPr>
  <p:outlineViewPr>
    <p:cViewPr>
      <p:scale>
        <a:sx n="33" d="100"/>
        <a:sy n="33" d="100"/>
      </p:scale>
      <p:origin x="0" y="-608"/>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interSettings" Target="printerSettings/printerSettings1.bin"/><Relationship Id="rId19" Type="http://schemas.openxmlformats.org/officeDocument/2006/relationships/presProps" Target="pres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9C435-7C9A-4DE8-9E01-91C2D214B839}" type="datetimeFigureOut">
              <a:rPr lang="en-US" smtClean="0"/>
              <a:t>10/11/18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258AA-1419-4C70-8A6F-96848BC4069F}" type="slidenum">
              <a:rPr lang="en-US" smtClean="0"/>
              <a:t>‹#›</a:t>
            </a:fld>
            <a:endParaRPr lang="en-US"/>
          </a:p>
        </p:txBody>
      </p:sp>
    </p:spTree>
    <p:extLst>
      <p:ext uri="{BB962C8B-B14F-4D97-AF65-F5344CB8AC3E}">
        <p14:creationId xmlns:p14="http://schemas.microsoft.com/office/powerpoint/2010/main" val="2902779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1</a:t>
            </a:fld>
            <a:endParaRPr lang="en-US"/>
          </a:p>
        </p:txBody>
      </p:sp>
    </p:spTree>
    <p:extLst>
      <p:ext uri="{BB962C8B-B14F-4D97-AF65-F5344CB8AC3E}">
        <p14:creationId xmlns:p14="http://schemas.microsoft.com/office/powerpoint/2010/main" val="1754759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8</a:t>
            </a:fld>
            <a:endParaRPr lang="en-US"/>
          </a:p>
        </p:txBody>
      </p:sp>
    </p:spTree>
    <p:extLst>
      <p:ext uri="{BB962C8B-B14F-4D97-AF65-F5344CB8AC3E}">
        <p14:creationId xmlns:p14="http://schemas.microsoft.com/office/powerpoint/2010/main" val="2254525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9</a:t>
            </a:fld>
            <a:endParaRPr lang="en-US"/>
          </a:p>
        </p:txBody>
      </p:sp>
    </p:spTree>
    <p:extLst>
      <p:ext uri="{BB962C8B-B14F-4D97-AF65-F5344CB8AC3E}">
        <p14:creationId xmlns:p14="http://schemas.microsoft.com/office/powerpoint/2010/main" val="2254525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10</a:t>
            </a:fld>
            <a:endParaRPr lang="en-US"/>
          </a:p>
        </p:txBody>
      </p:sp>
    </p:spTree>
    <p:extLst>
      <p:ext uri="{BB962C8B-B14F-4D97-AF65-F5344CB8AC3E}">
        <p14:creationId xmlns:p14="http://schemas.microsoft.com/office/powerpoint/2010/main" val="2254525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11</a:t>
            </a:fld>
            <a:endParaRPr lang="en-US"/>
          </a:p>
        </p:txBody>
      </p:sp>
    </p:spTree>
    <p:extLst>
      <p:ext uri="{BB962C8B-B14F-4D97-AF65-F5344CB8AC3E}">
        <p14:creationId xmlns:p14="http://schemas.microsoft.com/office/powerpoint/2010/main" val="986405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7258AA-1419-4C70-8A6F-96848BC4069F}" type="slidenum">
              <a:rPr lang="en-US" smtClean="0"/>
              <a:t>15</a:t>
            </a:fld>
            <a:endParaRPr lang="en-US"/>
          </a:p>
        </p:txBody>
      </p:sp>
    </p:spTree>
    <p:extLst>
      <p:ext uri="{BB962C8B-B14F-4D97-AF65-F5344CB8AC3E}">
        <p14:creationId xmlns:p14="http://schemas.microsoft.com/office/powerpoint/2010/main" val="2254525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464146-12C5-4EE0-A2D6-8E042CC3B748}"/>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xmlns="" id="{B8352CA5-23AA-4F91-9CDD-A59ED87FA2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33997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95D6FA-D2A7-404D-B8DC-55C3C141AFFF}"/>
              </a:ext>
            </a:extLst>
          </p:cNvPr>
          <p:cNvSpPr>
            <a:spLocks noGrp="1"/>
          </p:cNvSpPr>
          <p:nvPr>
            <p:ph type="title"/>
          </p:nvPr>
        </p:nvSpPr>
        <p:spPr/>
        <p:txBody>
          <a:bodyPr/>
          <a:lstStyle>
            <a:lvl1pPr>
              <a:defRPr>
                <a:latin typeface="Century Gothic" panose="020B0502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DA25952B-D758-4A6E-995F-E396493899DC}"/>
              </a:ext>
            </a:extLst>
          </p:cNvPr>
          <p:cNvSpPr>
            <a:spLocks noGrp="1"/>
          </p:cNvSpPr>
          <p:nvPr>
            <p:ph idx="1"/>
          </p:nvPr>
        </p:nvSpPr>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00927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B4A313-95B6-4C11-AEFA-CD358CF4A8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9149C05E-954A-4C7C-B9C6-18130FDDB7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015182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B3E1AE-3404-4F73-90FE-9794E665C6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49CD75F9-EE05-4315-85AF-D9B8A040C014}"/>
              </a:ext>
            </a:extLst>
          </p:cNvPr>
          <p:cNvSpPr>
            <a:spLocks noGrp="1"/>
          </p:cNvSpPr>
          <p:nvPr>
            <p:ph sz="half" idx="1"/>
          </p:nvPr>
        </p:nvSpPr>
        <p:spPr>
          <a:xfrm>
            <a:off x="838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47F293BA-C32B-4DC3-A757-4D095F6E0DFE}"/>
              </a:ext>
            </a:extLst>
          </p:cNvPr>
          <p:cNvSpPr>
            <a:spLocks noGrp="1"/>
          </p:cNvSpPr>
          <p:nvPr>
            <p:ph sz="half" idx="2"/>
          </p:nvPr>
        </p:nvSpPr>
        <p:spPr>
          <a:xfrm>
            <a:off x="6172200" y="1825625"/>
            <a:ext cx="5181600" cy="4351338"/>
          </a:xfrm>
        </p:spPr>
        <p:txBody>
          <a:bodyPr>
            <a:norm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506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9A02BC-FE77-4C30-8AD3-C09141E650D0}"/>
              </a:ext>
            </a:extLst>
          </p:cNvPr>
          <p:cNvSpPr>
            <a:spLocks noGrp="1"/>
          </p:cNvSpPr>
          <p:nvPr>
            <p:ph type="title"/>
          </p:nvPr>
        </p:nvSpPr>
        <p:spPr>
          <a:xfrm>
            <a:off x="839788" y="645653"/>
            <a:ext cx="10515600" cy="64770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F85B1C9C-3712-4C00-B5CD-51447922F1F8}"/>
              </a:ext>
            </a:extLst>
          </p:cNvPr>
          <p:cNvSpPr>
            <a:spLocks noGrp="1"/>
          </p:cNvSpPr>
          <p:nvPr>
            <p:ph type="body" idx="1"/>
          </p:nvPr>
        </p:nvSpPr>
        <p:spPr>
          <a:xfrm>
            <a:off x="839788" y="1293354"/>
            <a:ext cx="5157787" cy="64770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xmlns="" id="{A7FEAA38-19BC-4D9F-973D-E005D95A387A}"/>
              </a:ext>
            </a:extLst>
          </p:cNvPr>
          <p:cNvSpPr>
            <a:spLocks noGrp="1"/>
          </p:cNvSpPr>
          <p:nvPr>
            <p:ph sz="half" idx="2"/>
          </p:nvPr>
        </p:nvSpPr>
        <p:spPr>
          <a:xfrm>
            <a:off x="839788" y="1941054"/>
            <a:ext cx="5157787"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E0937E75-866A-4E03-BD1C-E487E6C05217}"/>
              </a:ext>
            </a:extLst>
          </p:cNvPr>
          <p:cNvSpPr>
            <a:spLocks noGrp="1"/>
          </p:cNvSpPr>
          <p:nvPr>
            <p:ph type="body" sz="quarter" idx="3"/>
          </p:nvPr>
        </p:nvSpPr>
        <p:spPr>
          <a:xfrm>
            <a:off x="6172200" y="1293354"/>
            <a:ext cx="5183188" cy="64770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xmlns="" id="{C87E8FC9-26F0-4EC2-84B6-0950E71B71D6}"/>
              </a:ext>
            </a:extLst>
          </p:cNvPr>
          <p:cNvSpPr>
            <a:spLocks noGrp="1"/>
          </p:cNvSpPr>
          <p:nvPr>
            <p:ph sz="quarter" idx="4"/>
          </p:nvPr>
        </p:nvSpPr>
        <p:spPr>
          <a:xfrm>
            <a:off x="6172200" y="1941054"/>
            <a:ext cx="5183188" cy="3684588"/>
          </a:xfrm>
        </p:spPr>
        <p:txBody>
          <a:bodyPr>
            <a:normAutofit/>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79235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34846D-0B66-4FE5-9DA1-225B1AE78FEC}"/>
              </a:ext>
            </a:extLst>
          </p:cNvPr>
          <p:cNvSpPr>
            <a:spLocks noGrp="1"/>
          </p:cNvSpPr>
          <p:nvPr>
            <p:ph type="title"/>
          </p:nvPr>
        </p:nvSpPr>
        <p:spPr>
          <a:xfrm>
            <a:off x="838200" y="650174"/>
            <a:ext cx="10515600" cy="640241"/>
          </a:xfrm>
        </p:spPr>
        <p:txBody>
          <a:bodyPr/>
          <a:lstStyle/>
          <a:p>
            <a:r>
              <a:rPr lang="en-US" dirty="0"/>
              <a:t>Click to edit Master title style</a:t>
            </a:r>
          </a:p>
        </p:txBody>
      </p:sp>
    </p:spTree>
    <p:extLst>
      <p:ext uri="{BB962C8B-B14F-4D97-AF65-F5344CB8AC3E}">
        <p14:creationId xmlns:p14="http://schemas.microsoft.com/office/powerpoint/2010/main" val="193521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899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AD6522-A2A9-449E-A782-813B46AD633D}"/>
              </a:ext>
            </a:extLst>
          </p:cNvPr>
          <p:cNvSpPr>
            <a:spLocks noGrp="1"/>
          </p:cNvSpPr>
          <p:nvPr>
            <p:ph type="title"/>
          </p:nvPr>
        </p:nvSpPr>
        <p:spPr>
          <a:xfrm>
            <a:off x="839788" y="654136"/>
            <a:ext cx="3932237" cy="668166"/>
          </a:xfrm>
        </p:spPr>
        <p:txBody>
          <a:bodyPr anchor="b">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xmlns="" id="{83BB0B47-0765-44BB-B89C-6ABA062CA601}"/>
              </a:ext>
            </a:extLst>
          </p:cNvPr>
          <p:cNvSpPr>
            <a:spLocks noGrp="1"/>
          </p:cNvSpPr>
          <p:nvPr>
            <p:ph idx="1"/>
          </p:nvPr>
        </p:nvSpPr>
        <p:spPr>
          <a:xfrm>
            <a:off x="5183188" y="654136"/>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xmlns="" id="{1080D115-E1B6-4D05-BBC7-CF7A896CF52D}"/>
              </a:ext>
            </a:extLst>
          </p:cNvPr>
          <p:cNvSpPr>
            <a:spLocks noGrp="1"/>
          </p:cNvSpPr>
          <p:nvPr>
            <p:ph type="body" sz="half" idx="2"/>
          </p:nvPr>
        </p:nvSpPr>
        <p:spPr>
          <a:xfrm>
            <a:off x="839788" y="1322302"/>
            <a:ext cx="3932237" cy="421339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1718064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xmlns="" id="{21EC281F-6D57-4D7F-B246-FC96260B90BD}"/>
              </a:ext>
            </a:extLst>
          </p:cNvPr>
          <p:cNvSpPr>
            <a:spLocks noGrp="1"/>
          </p:cNvSpPr>
          <p:nvPr>
            <p:ph type="pic" idx="1"/>
          </p:nvPr>
        </p:nvSpPr>
        <p:spPr>
          <a:xfrm>
            <a:off x="5183188" y="64559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 name="Title 1">
            <a:extLst>
              <a:ext uri="{FF2B5EF4-FFF2-40B4-BE49-F238E27FC236}">
                <a16:creationId xmlns:a16="http://schemas.microsoft.com/office/drawing/2014/main" xmlns="" id="{6B4B2710-B65C-4A18-9DD6-787DF8E6B606}"/>
              </a:ext>
            </a:extLst>
          </p:cNvPr>
          <p:cNvSpPr>
            <a:spLocks noGrp="1"/>
          </p:cNvSpPr>
          <p:nvPr>
            <p:ph type="title"/>
          </p:nvPr>
        </p:nvSpPr>
        <p:spPr>
          <a:xfrm>
            <a:off x="839788" y="654136"/>
            <a:ext cx="3932237" cy="668166"/>
          </a:xfrm>
        </p:spPr>
        <p:txBody>
          <a:bodyPr anchor="b">
            <a:normAutofit/>
          </a:bodyPr>
          <a:lstStyle>
            <a:lvl1pPr>
              <a:defRPr sz="2400"/>
            </a:lvl1pPr>
          </a:lstStyle>
          <a:p>
            <a:r>
              <a:rPr lang="en-US" dirty="0"/>
              <a:t>Click to edit Master title style</a:t>
            </a:r>
          </a:p>
        </p:txBody>
      </p:sp>
      <p:sp>
        <p:nvSpPr>
          <p:cNvPr id="11" name="Text Placeholder 3">
            <a:extLst>
              <a:ext uri="{FF2B5EF4-FFF2-40B4-BE49-F238E27FC236}">
                <a16:creationId xmlns:a16="http://schemas.microsoft.com/office/drawing/2014/main" xmlns="" id="{F861774D-D11D-4AFE-8633-E9C46DF37B25}"/>
              </a:ext>
            </a:extLst>
          </p:cNvPr>
          <p:cNvSpPr>
            <a:spLocks noGrp="1"/>
          </p:cNvSpPr>
          <p:nvPr>
            <p:ph type="body" sz="half" idx="2"/>
          </p:nvPr>
        </p:nvSpPr>
        <p:spPr>
          <a:xfrm>
            <a:off x="839788" y="1322302"/>
            <a:ext cx="3932237" cy="421339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143314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8B0D72-3827-4A10-9170-2EEC72F59549}"/>
              </a:ext>
            </a:extLst>
          </p:cNvPr>
          <p:cNvSpPr>
            <a:spLocks noGrp="1"/>
          </p:cNvSpPr>
          <p:nvPr>
            <p:ph type="title"/>
          </p:nvPr>
        </p:nvSpPr>
        <p:spPr/>
        <p:txBody>
          <a:bodyPr>
            <a:normAutofit/>
          </a:bodyPr>
          <a:lstStyle>
            <a:lvl1pPr>
              <a:defRPr sz="2400"/>
            </a:lvl1pPr>
          </a:lstStyle>
          <a:p>
            <a:r>
              <a:rPr lang="en-US" dirty="0"/>
              <a:t>Click to edit Master title style</a:t>
            </a:r>
          </a:p>
        </p:txBody>
      </p:sp>
      <p:sp>
        <p:nvSpPr>
          <p:cNvPr id="3" name="Vertical Text Placeholder 2">
            <a:extLst>
              <a:ext uri="{FF2B5EF4-FFF2-40B4-BE49-F238E27FC236}">
                <a16:creationId xmlns:a16="http://schemas.microsoft.com/office/drawing/2014/main" xmlns="" id="{485099E7-D4D6-4259-B413-4AAEA42F949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3192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093FAAB-7240-4A32-8B88-C4BFA4C24E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3C1E05E-E657-4CB5-B922-C4E46133ADD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750495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64D5B2A0-9982-4EAC-A3FD-965064DEE2E9}"/>
              </a:ext>
            </a:extLst>
          </p:cNvPr>
          <p:cNvGrpSpPr/>
          <p:nvPr userDrawn="1"/>
        </p:nvGrpSpPr>
        <p:grpSpPr>
          <a:xfrm>
            <a:off x="0" y="6311899"/>
            <a:ext cx="12192000" cy="559561"/>
            <a:chOff x="0" y="6016346"/>
            <a:chExt cx="14287500" cy="819150"/>
          </a:xfrm>
        </p:grpSpPr>
        <p:pic>
          <p:nvPicPr>
            <p:cNvPr id="12" name="Picture 11">
              <a:extLst>
                <a:ext uri="{FF2B5EF4-FFF2-40B4-BE49-F238E27FC236}">
                  <a16:creationId xmlns:a16="http://schemas.microsoft.com/office/drawing/2014/main" xmlns="" id="{107B51C1-7236-4F53-AAEE-FE95E0441DCD}"/>
                </a:ext>
              </a:extLst>
            </p:cNvPr>
            <p:cNvPicPr>
              <a:picLocks noChangeAspect="1"/>
            </p:cNvPicPr>
            <p:nvPr userDrawn="1"/>
          </p:nvPicPr>
          <p:blipFill>
            <a:blip r:embed="rId13"/>
            <a:stretch>
              <a:fillRect/>
            </a:stretch>
          </p:blipFill>
          <p:spPr>
            <a:xfrm>
              <a:off x="0" y="6016346"/>
              <a:ext cx="4762500" cy="819150"/>
            </a:xfrm>
            <a:prstGeom prst="rect">
              <a:avLst/>
            </a:prstGeom>
          </p:spPr>
        </p:pic>
        <p:pic>
          <p:nvPicPr>
            <p:cNvPr id="13" name="Picture 12">
              <a:extLst>
                <a:ext uri="{FF2B5EF4-FFF2-40B4-BE49-F238E27FC236}">
                  <a16:creationId xmlns:a16="http://schemas.microsoft.com/office/drawing/2014/main" xmlns="" id="{ADF3DD30-C806-4321-8357-A79F7C7EAC74}"/>
                </a:ext>
              </a:extLst>
            </p:cNvPr>
            <p:cNvPicPr>
              <a:picLocks noChangeAspect="1"/>
            </p:cNvPicPr>
            <p:nvPr userDrawn="1"/>
          </p:nvPicPr>
          <p:blipFill>
            <a:blip r:embed="rId13"/>
            <a:stretch>
              <a:fillRect/>
            </a:stretch>
          </p:blipFill>
          <p:spPr>
            <a:xfrm>
              <a:off x="4762500" y="6016346"/>
              <a:ext cx="4762500" cy="819150"/>
            </a:xfrm>
            <a:prstGeom prst="rect">
              <a:avLst/>
            </a:prstGeom>
          </p:spPr>
        </p:pic>
        <p:pic>
          <p:nvPicPr>
            <p:cNvPr id="14" name="Picture 13">
              <a:extLst>
                <a:ext uri="{FF2B5EF4-FFF2-40B4-BE49-F238E27FC236}">
                  <a16:creationId xmlns:a16="http://schemas.microsoft.com/office/drawing/2014/main" xmlns="" id="{D92098DC-118A-4A57-A1C7-8E82FC172DB4}"/>
                </a:ext>
              </a:extLst>
            </p:cNvPr>
            <p:cNvPicPr>
              <a:picLocks noChangeAspect="1"/>
            </p:cNvPicPr>
            <p:nvPr userDrawn="1"/>
          </p:nvPicPr>
          <p:blipFill>
            <a:blip r:embed="rId13"/>
            <a:stretch>
              <a:fillRect/>
            </a:stretch>
          </p:blipFill>
          <p:spPr>
            <a:xfrm>
              <a:off x="9525000" y="6016346"/>
              <a:ext cx="4762500" cy="819150"/>
            </a:xfrm>
            <a:prstGeom prst="rect">
              <a:avLst/>
            </a:prstGeom>
          </p:spPr>
        </p:pic>
      </p:grpSp>
      <p:sp>
        <p:nvSpPr>
          <p:cNvPr id="2" name="Title Placeholder 1">
            <a:extLst>
              <a:ext uri="{FF2B5EF4-FFF2-40B4-BE49-F238E27FC236}">
                <a16:creationId xmlns:a16="http://schemas.microsoft.com/office/drawing/2014/main" xmlns="" id="{782B5AE1-B4C4-4540-8368-B138CB0C20D4}"/>
              </a:ext>
            </a:extLst>
          </p:cNvPr>
          <p:cNvSpPr>
            <a:spLocks noGrp="1"/>
          </p:cNvSpPr>
          <p:nvPr>
            <p:ph type="title"/>
          </p:nvPr>
        </p:nvSpPr>
        <p:spPr>
          <a:xfrm>
            <a:off x="838200" y="375127"/>
            <a:ext cx="10515600" cy="72558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A1FA0037-044D-4163-AE34-C6C56DAB1945}"/>
              </a:ext>
            </a:extLst>
          </p:cNvPr>
          <p:cNvSpPr>
            <a:spLocks noGrp="1"/>
          </p:cNvSpPr>
          <p:nvPr userDrawn="1">
            <p:ph type="body" idx="1"/>
          </p:nvPr>
        </p:nvSpPr>
        <p:spPr>
          <a:xfrm>
            <a:off x="838200" y="1429365"/>
            <a:ext cx="10515600" cy="420921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15">
            <a:extLst>
              <a:ext uri="{FF2B5EF4-FFF2-40B4-BE49-F238E27FC236}">
                <a16:creationId xmlns:a16="http://schemas.microsoft.com/office/drawing/2014/main" xmlns="" id="{B7505480-091D-48FA-A436-24219D2994B0}"/>
              </a:ext>
            </a:extLst>
          </p:cNvPr>
          <p:cNvSpPr/>
          <p:nvPr userDrawn="1"/>
        </p:nvSpPr>
        <p:spPr>
          <a:xfrm>
            <a:off x="0" y="6278249"/>
            <a:ext cx="12192000" cy="47273"/>
          </a:xfrm>
          <a:prstGeom prst="rect">
            <a:avLst/>
          </a:prstGeom>
          <a:solidFill>
            <a:srgbClr val="F3BC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xmlns="" id="{DC14B7DD-C0C6-41B1-837E-F5899AAE1968}"/>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16806" t="34874" r="17889" b="35309"/>
          <a:stretch/>
        </p:blipFill>
        <p:spPr>
          <a:xfrm>
            <a:off x="10714644" y="6367718"/>
            <a:ext cx="1278311" cy="451168"/>
          </a:xfrm>
          <a:prstGeom prst="rect">
            <a:avLst/>
          </a:prstGeom>
        </p:spPr>
      </p:pic>
    </p:spTree>
    <p:extLst>
      <p:ext uri="{BB962C8B-B14F-4D97-AF65-F5344CB8AC3E}">
        <p14:creationId xmlns:p14="http://schemas.microsoft.com/office/powerpoint/2010/main" val="241179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3600" b="1" i="0" kern="1200">
          <a:solidFill>
            <a:srgbClr val="04465F"/>
          </a:solidFill>
          <a:latin typeface="Century Gothic" panose="020B0502020202020204" pitchFamily="34" charset="0"/>
          <a:ea typeface="+mj-ea"/>
          <a:cs typeface="Arial"/>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jpg"/><Relationship Id="rId7" Type="http://schemas.openxmlformats.org/officeDocument/2006/relationships/image" Target="../media/image11.jpg"/><Relationship Id="rId8" Type="http://schemas.openxmlformats.org/officeDocument/2006/relationships/image" Target="../media/image12.png"/><Relationship Id="rId9" Type="http://schemas.openxmlformats.org/officeDocument/2006/relationships/image" Target="../media/image5.png"/><Relationship Id="rId10" Type="http://schemas.openxmlformats.org/officeDocument/2006/relationships/image" Target="../media/image13.png"/><Relationship Id="rId11" Type="http://schemas.openxmlformats.org/officeDocument/2006/relationships/image" Target="../media/image14.jpe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1" Type="http://schemas.openxmlformats.org/officeDocument/2006/relationships/image" Target="../media/image23.png"/><Relationship Id="rId12" Type="http://schemas.openxmlformats.org/officeDocument/2006/relationships/image" Target="../media/image24.gif"/><Relationship Id="rId13" Type="http://schemas.openxmlformats.org/officeDocument/2006/relationships/image" Target="../media/image25.jpg"/><Relationship Id="rId14"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4.gif"/><Relationship Id="rId6" Type="http://schemas.openxmlformats.org/officeDocument/2006/relationships/image" Target="../media/image26.png"/><Relationship Id="rId7"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28.jpeg"/><Relationship Id="rId4" Type="http://schemas.openxmlformats.org/officeDocument/2006/relationships/image" Target="../media/image29.jpeg"/><Relationship Id="rId5" Type="http://schemas.openxmlformats.org/officeDocument/2006/relationships/image" Target="../media/image30.jpe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6.png"/><Relationship Id="rId1" Type="http://schemas.openxmlformats.org/officeDocument/2006/relationships/slideLayout" Target="../slideLayouts/slideLayout6.xml"/><Relationship Id="rId2"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053086"/>
            <a:ext cx="12192000" cy="4804913"/>
          </a:xfrm>
          <a:prstGeom prst="rect">
            <a:avLst/>
          </a:prstGeom>
          <a:solidFill>
            <a:srgbClr val="11496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p:cNvSpPr txBox="1"/>
          <p:nvPr/>
        </p:nvSpPr>
        <p:spPr>
          <a:xfrm>
            <a:off x="609600" y="2850786"/>
            <a:ext cx="9241120" cy="2923877"/>
          </a:xfrm>
          <a:prstGeom prst="rect">
            <a:avLst/>
          </a:prstGeom>
          <a:noFill/>
        </p:spPr>
        <p:txBody>
          <a:bodyPr wrap="square" rtlCol="0">
            <a:spAutoFit/>
          </a:bodyPr>
          <a:lstStyle/>
          <a:p>
            <a:r>
              <a:rPr lang="en-US" sz="6000" dirty="0">
                <a:solidFill>
                  <a:schemeClr val="bg1"/>
                </a:solidFill>
                <a:latin typeface="Century Gothic" panose="020B0502020202020204" pitchFamily="34" charset="0"/>
              </a:rPr>
              <a:t>Present Education Overview</a:t>
            </a:r>
          </a:p>
          <a:p>
            <a:endParaRPr lang="en-US" sz="3200" dirty="0">
              <a:solidFill>
                <a:schemeClr val="bg1"/>
              </a:solidFill>
              <a:latin typeface="Century Gothic" panose="020B0502020202020204" pitchFamily="34" charset="0"/>
            </a:endParaRPr>
          </a:p>
          <a:p>
            <a:r>
              <a:rPr lang="en-US" sz="3200" dirty="0">
                <a:solidFill>
                  <a:schemeClr val="bg1"/>
                </a:solidFill>
                <a:latin typeface="Century Gothic" panose="020B0502020202020204" pitchFamily="34" charset="0"/>
              </a:rPr>
              <a:t>Fall 2018</a:t>
            </a:r>
          </a:p>
        </p:txBody>
      </p:sp>
      <p:pic>
        <p:nvPicPr>
          <p:cNvPr id="3" name="Picture 2">
            <a:extLst>
              <a:ext uri="{FF2B5EF4-FFF2-40B4-BE49-F238E27FC236}">
                <a16:creationId xmlns:a16="http://schemas.microsoft.com/office/drawing/2014/main" xmlns="" id="{44ED1E45-B841-4588-8724-B0EBDF7306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2779" y="-759123"/>
            <a:ext cx="4583502" cy="3543046"/>
          </a:xfrm>
          <a:prstGeom prst="rect">
            <a:avLst/>
          </a:prstGeom>
        </p:spPr>
      </p:pic>
      <p:sp>
        <p:nvSpPr>
          <p:cNvPr id="7" name="Rectangle 6">
            <a:extLst>
              <a:ext uri="{FF2B5EF4-FFF2-40B4-BE49-F238E27FC236}">
                <a16:creationId xmlns:a16="http://schemas.microsoft.com/office/drawing/2014/main" xmlns="" id="{0182A4DE-214E-4958-A4A2-5DCB7B7CEA2A}"/>
              </a:ext>
            </a:extLst>
          </p:cNvPr>
          <p:cNvSpPr/>
          <p:nvPr/>
        </p:nvSpPr>
        <p:spPr>
          <a:xfrm>
            <a:off x="0" y="1958197"/>
            <a:ext cx="12200626" cy="370935"/>
          </a:xfrm>
          <a:prstGeom prst="rect">
            <a:avLst/>
          </a:prstGeom>
          <a:solidFill>
            <a:srgbClr val="F3BC54"/>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sz="1400" dirty="0">
              <a:solidFill>
                <a:srgbClr val="04465F"/>
              </a:solidFill>
            </a:endParaRPr>
          </a:p>
        </p:txBody>
      </p:sp>
    </p:spTree>
    <p:extLst>
      <p:ext uri="{BB962C8B-B14F-4D97-AF65-F5344CB8AC3E}">
        <p14:creationId xmlns:p14="http://schemas.microsoft.com/office/powerpoint/2010/main" val="31792625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609600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CA4541C4-B83D-4AE7-9FDD-D33FB3170993}"/>
              </a:ext>
            </a:extLst>
          </p:cNvPr>
          <p:cNvSpPr>
            <a:spLocks noGrp="1"/>
          </p:cNvSpPr>
          <p:nvPr>
            <p:ph idx="1"/>
          </p:nvPr>
        </p:nvSpPr>
        <p:spPr>
          <a:xfrm>
            <a:off x="547200" y="1462641"/>
            <a:ext cx="6208494" cy="3787911"/>
          </a:xfrm>
        </p:spPr>
        <p:txBody>
          <a:bodyPr>
            <a:noAutofit/>
          </a:bodyPr>
          <a:lstStyle/>
          <a:p>
            <a:pPr marL="0" indent="0">
              <a:buNone/>
            </a:pPr>
            <a:r>
              <a:rPr lang="en-US" sz="3200" b="1" dirty="0">
                <a:solidFill>
                  <a:srgbClr val="F4BC53"/>
                </a:solidFill>
              </a:rPr>
              <a:t>Present</a:t>
            </a:r>
            <a:r>
              <a:rPr lang="en-US" sz="3200" dirty="0">
                <a:solidFill>
                  <a:srgbClr val="F4BC53"/>
                </a:solidFill>
              </a:rPr>
              <a:t> </a:t>
            </a:r>
            <a:r>
              <a:rPr lang="en-US" sz="3200" dirty="0"/>
              <a:t>leverages student devices to advance their learning </a:t>
            </a:r>
            <a:r>
              <a:rPr lang="mr-IN" sz="3200" dirty="0"/>
              <a:t>–</a:t>
            </a:r>
            <a:r>
              <a:rPr lang="en-US" sz="3200" dirty="0"/>
              <a:t> </a:t>
            </a:r>
            <a:r>
              <a:rPr lang="en-US" sz="3200" dirty="0">
                <a:solidFill>
                  <a:srgbClr val="83CACC"/>
                </a:solidFill>
              </a:rPr>
              <a:t>powering</a:t>
            </a:r>
            <a:r>
              <a:rPr lang="en-US" sz="3200" dirty="0">
                <a:solidFill>
                  <a:srgbClr val="F4BC53"/>
                </a:solidFill>
              </a:rPr>
              <a:t> </a:t>
            </a:r>
            <a:r>
              <a:rPr lang="en-US" sz="3200" dirty="0"/>
              <a:t>educational apps while </a:t>
            </a:r>
            <a:r>
              <a:rPr lang="en-US" sz="3200" dirty="0">
                <a:solidFill>
                  <a:srgbClr val="83CACC"/>
                </a:solidFill>
              </a:rPr>
              <a:t>disabling</a:t>
            </a:r>
            <a:r>
              <a:rPr lang="en-US" sz="3200" dirty="0">
                <a:solidFill>
                  <a:srgbClr val="F15D5A"/>
                </a:solidFill>
              </a:rPr>
              <a:t> </a:t>
            </a:r>
            <a:r>
              <a:rPr lang="en-US" sz="3200" dirty="0"/>
              <a:t>the distractions of texts, games, and social media.</a:t>
            </a:r>
          </a:p>
        </p:txBody>
      </p:sp>
      <p:sp>
        <p:nvSpPr>
          <p:cNvPr id="4" name="Title 3"/>
          <p:cNvSpPr>
            <a:spLocks noGrp="1"/>
          </p:cNvSpPr>
          <p:nvPr>
            <p:ph type="title"/>
          </p:nvPr>
        </p:nvSpPr>
        <p:spPr/>
        <p:txBody>
          <a:bodyPr/>
          <a:lstStyle/>
          <a:p>
            <a:r>
              <a:rPr lang="en-US" dirty="0"/>
              <a:t>Our Vision</a:t>
            </a:r>
          </a:p>
        </p:txBody>
      </p:sp>
      <p:grpSp>
        <p:nvGrpSpPr>
          <p:cNvPr id="22" name="Group 21">
            <a:extLst>
              <a:ext uri="{FF2B5EF4-FFF2-40B4-BE49-F238E27FC236}">
                <a16:creationId xmlns:a16="http://schemas.microsoft.com/office/drawing/2014/main" xmlns="" id="{EE93F744-F362-4D03-A75A-9623864C1504}"/>
              </a:ext>
            </a:extLst>
          </p:cNvPr>
          <p:cNvGrpSpPr/>
          <p:nvPr/>
        </p:nvGrpSpPr>
        <p:grpSpPr>
          <a:xfrm rot="166761">
            <a:off x="7474631" y="1399956"/>
            <a:ext cx="4110018" cy="3331055"/>
            <a:chOff x="7643560" y="516710"/>
            <a:chExt cx="4110018" cy="3331055"/>
          </a:xfrm>
        </p:grpSpPr>
        <p:grpSp>
          <p:nvGrpSpPr>
            <p:cNvPr id="16" name="Group 15">
              <a:extLst>
                <a:ext uri="{FF2B5EF4-FFF2-40B4-BE49-F238E27FC236}">
                  <a16:creationId xmlns:a16="http://schemas.microsoft.com/office/drawing/2014/main" xmlns="" id="{87441699-CC52-43E5-8C95-C4860AE7C510}"/>
                </a:ext>
              </a:extLst>
            </p:cNvPr>
            <p:cNvGrpSpPr/>
            <p:nvPr/>
          </p:nvGrpSpPr>
          <p:grpSpPr>
            <a:xfrm rot="805851">
              <a:off x="9451111" y="590838"/>
              <a:ext cx="2302467" cy="3256927"/>
              <a:chOff x="9473750" y="1140340"/>
              <a:chExt cx="2039815" cy="2885396"/>
            </a:xfrm>
            <a:effectLst>
              <a:outerShdw blurRad="50800" dist="38100" dir="2700000" algn="tl" rotWithShape="0">
                <a:prstClr val="black">
                  <a:alpha val="40000"/>
                </a:prstClr>
              </a:outerShdw>
            </a:effectLst>
          </p:grpSpPr>
          <p:pic>
            <p:nvPicPr>
              <p:cNvPr id="17" name="Picture 2" descr="Image result for smartphone vector image">
                <a:extLst>
                  <a:ext uri="{FF2B5EF4-FFF2-40B4-BE49-F238E27FC236}">
                    <a16:creationId xmlns:a16="http://schemas.microsoft.com/office/drawing/2014/main" xmlns="" id="{14F216E8-CB6D-407E-B078-BA59168EE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3750" y="1140340"/>
                <a:ext cx="2039815" cy="288539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xmlns="" id="{249462BD-788F-457E-9286-CD427ADB8F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7318" y="1519672"/>
                <a:ext cx="1197877" cy="2132626"/>
              </a:xfrm>
              <a:prstGeom prst="rect">
                <a:avLst/>
              </a:prstGeom>
            </p:spPr>
          </p:pic>
        </p:grpSp>
        <p:grpSp>
          <p:nvGrpSpPr>
            <p:cNvPr id="7" name="Group 6">
              <a:extLst>
                <a:ext uri="{FF2B5EF4-FFF2-40B4-BE49-F238E27FC236}">
                  <a16:creationId xmlns:a16="http://schemas.microsoft.com/office/drawing/2014/main" xmlns="" id="{6757BBC4-7995-4480-8B38-534F619AFB72}"/>
                </a:ext>
              </a:extLst>
            </p:cNvPr>
            <p:cNvGrpSpPr/>
            <p:nvPr/>
          </p:nvGrpSpPr>
          <p:grpSpPr>
            <a:xfrm rot="21130466">
              <a:off x="7643560" y="516710"/>
              <a:ext cx="2302467" cy="3256927"/>
              <a:chOff x="3319585" y="3240798"/>
              <a:chExt cx="2039815" cy="2885396"/>
            </a:xfrm>
            <a:effectLst>
              <a:outerShdw blurRad="50800" dist="38100" dir="2700000" algn="tl" rotWithShape="0">
                <a:prstClr val="black">
                  <a:alpha val="40000"/>
                </a:prstClr>
              </a:outerShdw>
            </a:effectLst>
          </p:grpSpPr>
          <p:pic>
            <p:nvPicPr>
              <p:cNvPr id="20" name="Picture 2" descr="Image result for smartphone vector image">
                <a:extLst>
                  <a:ext uri="{FF2B5EF4-FFF2-40B4-BE49-F238E27FC236}">
                    <a16:creationId xmlns:a16="http://schemas.microsoft.com/office/drawing/2014/main" xmlns="" id="{4A9C772C-552E-44BF-B913-6C40C419A4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9585" y="3240798"/>
                <a:ext cx="2039815" cy="28853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xmlns="" id="{D23EF1EA-9D4C-4C46-BBBB-32C36AD173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1045" y="3622881"/>
                <a:ext cx="1204302" cy="2134516"/>
              </a:xfrm>
              <a:prstGeom prst="rect">
                <a:avLst/>
              </a:prstGeom>
            </p:spPr>
          </p:pic>
        </p:grpSp>
      </p:grpSp>
    </p:spTree>
    <p:extLst>
      <p:ext uri="{BB962C8B-B14F-4D97-AF65-F5344CB8AC3E}">
        <p14:creationId xmlns:p14="http://schemas.microsoft.com/office/powerpoint/2010/main" val="3708121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609600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a:t>The Problem</a:t>
            </a:r>
          </a:p>
        </p:txBody>
      </p:sp>
      <p:sp>
        <p:nvSpPr>
          <p:cNvPr id="28" name="Content Placeholder 2">
            <a:extLst>
              <a:ext uri="{FF2B5EF4-FFF2-40B4-BE49-F238E27FC236}">
                <a16:creationId xmlns:a16="http://schemas.microsoft.com/office/drawing/2014/main" xmlns="" id="{CA4541C4-B83D-4AE7-9FDD-D33FB3170993}"/>
              </a:ext>
            </a:extLst>
          </p:cNvPr>
          <p:cNvSpPr>
            <a:spLocks noGrp="1"/>
          </p:cNvSpPr>
          <p:nvPr>
            <p:ph idx="1"/>
          </p:nvPr>
        </p:nvSpPr>
        <p:spPr>
          <a:xfrm>
            <a:off x="2831777" y="2061627"/>
            <a:ext cx="8068698" cy="826874"/>
          </a:xfrm>
        </p:spPr>
        <p:txBody>
          <a:bodyPr>
            <a:noAutofit/>
          </a:bodyPr>
          <a:lstStyle/>
          <a:p>
            <a:pPr marL="0" indent="0">
              <a:buNone/>
            </a:pPr>
            <a:r>
              <a:rPr lang="en-US" sz="2000" dirty="0"/>
              <a:t>Teachers are </a:t>
            </a:r>
            <a:r>
              <a:rPr lang="en-US" sz="2000" b="1" dirty="0">
                <a:solidFill>
                  <a:srgbClr val="F15D5A"/>
                </a:solidFill>
              </a:rPr>
              <a:t>frustrated</a:t>
            </a:r>
            <a:r>
              <a:rPr lang="en-US" sz="2000" dirty="0">
                <a:solidFill>
                  <a:srgbClr val="F15D5A"/>
                </a:solidFill>
              </a:rPr>
              <a:t> </a:t>
            </a:r>
            <a:r>
              <a:rPr lang="en-US" sz="2000" dirty="0"/>
              <a:t>and </a:t>
            </a:r>
            <a:r>
              <a:rPr lang="en-US" sz="2000" b="1" dirty="0">
                <a:solidFill>
                  <a:srgbClr val="F15D5A"/>
                </a:solidFill>
              </a:rPr>
              <a:t>exhausted</a:t>
            </a:r>
            <a:r>
              <a:rPr lang="en-US" sz="2000" dirty="0"/>
              <a:t> with having to compete against smartphones for student attention.</a:t>
            </a:r>
          </a:p>
        </p:txBody>
      </p:sp>
      <p:sp>
        <p:nvSpPr>
          <p:cNvPr id="29" name="Content Placeholder 2">
            <a:extLst>
              <a:ext uri="{FF2B5EF4-FFF2-40B4-BE49-F238E27FC236}">
                <a16:creationId xmlns:a16="http://schemas.microsoft.com/office/drawing/2014/main" xmlns="" id="{CA4541C4-B83D-4AE7-9FDD-D33FB3170993}"/>
              </a:ext>
            </a:extLst>
          </p:cNvPr>
          <p:cNvSpPr txBox="1">
            <a:spLocks/>
          </p:cNvSpPr>
          <p:nvPr/>
        </p:nvSpPr>
        <p:spPr>
          <a:xfrm>
            <a:off x="475552" y="3482787"/>
            <a:ext cx="8722659" cy="13095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Great education technology apps exist but 1:1 programs with </a:t>
            </a:r>
            <a:r>
              <a:rPr lang="en-US" sz="2000" dirty="0" err="1"/>
              <a:t>Chromebooks</a:t>
            </a:r>
            <a:r>
              <a:rPr lang="en-US" sz="2000" dirty="0"/>
              <a:t> and iPads are </a:t>
            </a:r>
            <a:r>
              <a:rPr lang="en-US" sz="2000" b="1" dirty="0">
                <a:solidFill>
                  <a:srgbClr val="F15D5A"/>
                </a:solidFill>
              </a:rPr>
              <a:t>too expensive</a:t>
            </a:r>
            <a:r>
              <a:rPr lang="en-US" sz="2000" dirty="0"/>
              <a:t> for most school districts.</a:t>
            </a:r>
          </a:p>
        </p:txBody>
      </p:sp>
      <p:sp>
        <p:nvSpPr>
          <p:cNvPr id="30" name="Content Placeholder 2">
            <a:extLst>
              <a:ext uri="{FF2B5EF4-FFF2-40B4-BE49-F238E27FC236}">
                <a16:creationId xmlns:a16="http://schemas.microsoft.com/office/drawing/2014/main" xmlns="" id="{CA4541C4-B83D-4AE7-9FDD-D33FB3170993}"/>
              </a:ext>
            </a:extLst>
          </p:cNvPr>
          <p:cNvSpPr txBox="1">
            <a:spLocks/>
          </p:cNvSpPr>
          <p:nvPr/>
        </p:nvSpPr>
        <p:spPr>
          <a:xfrm>
            <a:off x="3655928" y="4953964"/>
            <a:ext cx="7581331" cy="13095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Some classrooms have experimented with using student smartphones for classroom activities but “responsible use” policies are </a:t>
            </a:r>
            <a:r>
              <a:rPr lang="en-US" sz="2000" b="1" dirty="0">
                <a:solidFill>
                  <a:srgbClr val="F15D5A"/>
                </a:solidFill>
              </a:rPr>
              <a:t>impossible to enforce.</a:t>
            </a:r>
          </a:p>
        </p:txBody>
      </p:sp>
      <p:grpSp>
        <p:nvGrpSpPr>
          <p:cNvPr id="7" name="Group 6">
            <a:extLst>
              <a:ext uri="{FF2B5EF4-FFF2-40B4-BE49-F238E27FC236}">
                <a16:creationId xmlns:a16="http://schemas.microsoft.com/office/drawing/2014/main" xmlns="" id="{21BEE7DE-AFD3-46E9-86E0-958CAB06B235}"/>
              </a:ext>
            </a:extLst>
          </p:cNvPr>
          <p:cNvGrpSpPr/>
          <p:nvPr/>
        </p:nvGrpSpPr>
        <p:grpSpPr>
          <a:xfrm>
            <a:off x="9292736" y="3111599"/>
            <a:ext cx="2243627" cy="1048497"/>
            <a:chOff x="8243866" y="3173506"/>
            <a:chExt cx="2243627" cy="1048497"/>
          </a:xfrm>
        </p:grpSpPr>
        <p:sp>
          <p:nvSpPr>
            <p:cNvPr id="12" name="Freeform 28">
              <a:extLst>
                <a:ext uri="{FF2B5EF4-FFF2-40B4-BE49-F238E27FC236}">
                  <a16:creationId xmlns:a16="http://schemas.microsoft.com/office/drawing/2014/main" xmlns="" id="{0119EB67-D634-4B5A-A07A-80682A9E26A8}"/>
                </a:ext>
              </a:extLst>
            </p:cNvPr>
            <p:cNvSpPr>
              <a:spLocks noEditPoints="1"/>
            </p:cNvSpPr>
            <p:nvPr/>
          </p:nvSpPr>
          <p:spPr bwMode="auto">
            <a:xfrm>
              <a:off x="9412942" y="3173506"/>
              <a:ext cx="1074551" cy="1048497"/>
            </a:xfrm>
            <a:custGeom>
              <a:avLst/>
              <a:gdLst>
                <a:gd name="T0" fmla="*/ 240 w 430"/>
                <a:gd name="T1" fmla="*/ 307 h 408"/>
                <a:gd name="T2" fmla="*/ 39 w 430"/>
                <a:gd name="T3" fmla="*/ 273 h 408"/>
                <a:gd name="T4" fmla="*/ 347 w 430"/>
                <a:gd name="T5" fmla="*/ 96 h 408"/>
                <a:gd name="T6" fmla="*/ 323 w 430"/>
                <a:gd name="T7" fmla="*/ 101 h 408"/>
                <a:gd name="T8" fmla="*/ 283 w 430"/>
                <a:gd name="T9" fmla="*/ 89 h 408"/>
                <a:gd name="T10" fmla="*/ 316 w 430"/>
                <a:gd name="T11" fmla="*/ 91 h 408"/>
                <a:gd name="T12" fmla="*/ 315 w 430"/>
                <a:gd name="T13" fmla="*/ 82 h 408"/>
                <a:gd name="T14" fmla="*/ 280 w 430"/>
                <a:gd name="T15" fmla="*/ 79 h 408"/>
                <a:gd name="T16" fmla="*/ 253 w 430"/>
                <a:gd name="T17" fmla="*/ 63 h 408"/>
                <a:gd name="T18" fmla="*/ 262 w 430"/>
                <a:gd name="T19" fmla="*/ 48 h 408"/>
                <a:gd name="T20" fmla="*/ 286 w 430"/>
                <a:gd name="T21" fmla="*/ 45 h 408"/>
                <a:gd name="T22" fmla="*/ 299 w 430"/>
                <a:gd name="T23" fmla="*/ 61 h 408"/>
                <a:gd name="T24" fmla="*/ 274 w 430"/>
                <a:gd name="T25" fmla="*/ 57 h 408"/>
                <a:gd name="T26" fmla="*/ 294 w 430"/>
                <a:gd name="T27" fmla="*/ 66 h 408"/>
                <a:gd name="T28" fmla="*/ 334 w 430"/>
                <a:gd name="T29" fmla="*/ 71 h 408"/>
                <a:gd name="T30" fmla="*/ 342 w 430"/>
                <a:gd name="T31" fmla="*/ 93 h 408"/>
                <a:gd name="T32" fmla="*/ 180 w 430"/>
                <a:gd name="T33" fmla="*/ 175 h 408"/>
                <a:gd name="T34" fmla="*/ 149 w 430"/>
                <a:gd name="T35" fmla="*/ 177 h 408"/>
                <a:gd name="T36" fmla="*/ 131 w 430"/>
                <a:gd name="T37" fmla="*/ 157 h 408"/>
                <a:gd name="T38" fmla="*/ 164 w 430"/>
                <a:gd name="T39" fmla="*/ 165 h 408"/>
                <a:gd name="T40" fmla="*/ 148 w 430"/>
                <a:gd name="T41" fmla="*/ 152 h 408"/>
                <a:gd name="T42" fmla="*/ 101 w 430"/>
                <a:gd name="T43" fmla="*/ 147 h 408"/>
                <a:gd name="T44" fmla="*/ 95 w 430"/>
                <a:gd name="T45" fmla="*/ 126 h 408"/>
                <a:gd name="T46" fmla="*/ 108 w 430"/>
                <a:gd name="T47" fmla="*/ 114 h 408"/>
                <a:gd name="T48" fmla="*/ 136 w 430"/>
                <a:gd name="T49" fmla="*/ 119 h 408"/>
                <a:gd name="T50" fmla="*/ 130 w 430"/>
                <a:gd name="T51" fmla="*/ 137 h 408"/>
                <a:gd name="T52" fmla="*/ 113 w 430"/>
                <a:gd name="T53" fmla="*/ 132 h 408"/>
                <a:gd name="T54" fmla="*/ 153 w 430"/>
                <a:gd name="T55" fmla="*/ 139 h 408"/>
                <a:gd name="T56" fmla="*/ 186 w 430"/>
                <a:gd name="T57" fmla="*/ 150 h 408"/>
                <a:gd name="T58" fmla="*/ 319 w 430"/>
                <a:gd name="T59" fmla="*/ 271 h 408"/>
                <a:gd name="T60" fmla="*/ 320 w 430"/>
                <a:gd name="T61" fmla="*/ 253 h 408"/>
                <a:gd name="T62" fmla="*/ 241 w 430"/>
                <a:gd name="T63" fmla="*/ 236 h 408"/>
                <a:gd name="T64" fmla="*/ 39 w 430"/>
                <a:gd name="T65" fmla="*/ 202 h 408"/>
                <a:gd name="T66" fmla="*/ 321 w 430"/>
                <a:gd name="T67" fmla="*/ 199 h 408"/>
                <a:gd name="T68" fmla="*/ 398 w 430"/>
                <a:gd name="T69" fmla="*/ 165 h 408"/>
                <a:gd name="T70" fmla="*/ 398 w 430"/>
                <a:gd name="T71" fmla="*/ 94 h 408"/>
                <a:gd name="T72" fmla="*/ 322 w 430"/>
                <a:gd name="T73" fmla="*/ 128 h 408"/>
                <a:gd name="T74" fmla="*/ 278 w 430"/>
                <a:gd name="T75" fmla="*/ 2 h 408"/>
                <a:gd name="T76" fmla="*/ 430 w 430"/>
                <a:gd name="T77" fmla="*/ 85 h 408"/>
                <a:gd name="T78" fmla="*/ 430 w 430"/>
                <a:gd name="T79" fmla="*/ 155 h 408"/>
                <a:gd name="T80" fmla="*/ 430 w 430"/>
                <a:gd name="T81" fmla="*/ 227 h 408"/>
                <a:gd name="T82" fmla="*/ 2 w 430"/>
                <a:gd name="T83" fmla="*/ 321 h 408"/>
                <a:gd name="T84" fmla="*/ 2 w 430"/>
                <a:gd name="T85" fmla="*/ 250 h 408"/>
                <a:gd name="T86" fmla="*/ 2 w 430"/>
                <a:gd name="T87" fmla="*/ 179 h 408"/>
                <a:gd name="T88" fmla="*/ 107 w 430"/>
                <a:gd name="T89" fmla="*/ 74 h 408"/>
                <a:gd name="T90" fmla="*/ 132 w 430"/>
                <a:gd name="T91" fmla="*/ 91 h 408"/>
                <a:gd name="T92" fmla="*/ 242 w 430"/>
                <a:gd name="T93" fmla="*/ 164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0" h="408">
                  <a:moveTo>
                    <a:pt x="30" y="277"/>
                  </a:moveTo>
                  <a:cubicBezTo>
                    <a:pt x="142" y="352"/>
                    <a:pt x="142" y="352"/>
                    <a:pt x="142" y="352"/>
                  </a:cubicBezTo>
                  <a:cubicBezTo>
                    <a:pt x="240" y="307"/>
                    <a:pt x="240" y="307"/>
                    <a:pt x="240" y="307"/>
                  </a:cubicBezTo>
                  <a:cubicBezTo>
                    <a:pt x="241" y="290"/>
                    <a:pt x="241" y="290"/>
                    <a:pt x="241" y="290"/>
                  </a:cubicBezTo>
                  <a:cubicBezTo>
                    <a:pt x="140" y="337"/>
                    <a:pt x="140" y="337"/>
                    <a:pt x="140" y="337"/>
                  </a:cubicBezTo>
                  <a:cubicBezTo>
                    <a:pt x="39" y="273"/>
                    <a:pt x="39" y="273"/>
                    <a:pt x="39" y="273"/>
                  </a:cubicBezTo>
                  <a:cubicBezTo>
                    <a:pt x="30" y="277"/>
                    <a:pt x="30" y="277"/>
                    <a:pt x="30" y="277"/>
                  </a:cubicBezTo>
                  <a:close/>
                  <a:moveTo>
                    <a:pt x="342" y="93"/>
                  </a:moveTo>
                  <a:cubicBezTo>
                    <a:pt x="344" y="94"/>
                    <a:pt x="346" y="95"/>
                    <a:pt x="347" y="96"/>
                  </a:cubicBezTo>
                  <a:cubicBezTo>
                    <a:pt x="344" y="98"/>
                    <a:pt x="341" y="99"/>
                    <a:pt x="338" y="101"/>
                  </a:cubicBezTo>
                  <a:cubicBezTo>
                    <a:pt x="335" y="102"/>
                    <a:pt x="331" y="103"/>
                    <a:pt x="328" y="105"/>
                  </a:cubicBezTo>
                  <a:cubicBezTo>
                    <a:pt x="327" y="104"/>
                    <a:pt x="325" y="103"/>
                    <a:pt x="323" y="101"/>
                  </a:cubicBezTo>
                  <a:cubicBezTo>
                    <a:pt x="318" y="103"/>
                    <a:pt x="313" y="103"/>
                    <a:pt x="309" y="103"/>
                  </a:cubicBezTo>
                  <a:cubicBezTo>
                    <a:pt x="305" y="103"/>
                    <a:pt x="301" y="101"/>
                    <a:pt x="298" y="99"/>
                  </a:cubicBezTo>
                  <a:cubicBezTo>
                    <a:pt x="293" y="96"/>
                    <a:pt x="288" y="92"/>
                    <a:pt x="283" y="89"/>
                  </a:cubicBezTo>
                  <a:cubicBezTo>
                    <a:pt x="286" y="87"/>
                    <a:pt x="289" y="86"/>
                    <a:pt x="292" y="84"/>
                  </a:cubicBezTo>
                  <a:cubicBezTo>
                    <a:pt x="295" y="83"/>
                    <a:pt x="298" y="82"/>
                    <a:pt x="301" y="80"/>
                  </a:cubicBezTo>
                  <a:cubicBezTo>
                    <a:pt x="306" y="84"/>
                    <a:pt x="311" y="87"/>
                    <a:pt x="316" y="91"/>
                  </a:cubicBezTo>
                  <a:cubicBezTo>
                    <a:pt x="318" y="92"/>
                    <a:pt x="320" y="92"/>
                    <a:pt x="323" y="91"/>
                  </a:cubicBezTo>
                  <a:cubicBezTo>
                    <a:pt x="325" y="90"/>
                    <a:pt x="325" y="89"/>
                    <a:pt x="324" y="88"/>
                  </a:cubicBezTo>
                  <a:cubicBezTo>
                    <a:pt x="321" y="86"/>
                    <a:pt x="318" y="84"/>
                    <a:pt x="315" y="82"/>
                  </a:cubicBezTo>
                  <a:cubicBezTo>
                    <a:pt x="314" y="81"/>
                    <a:pt x="311" y="80"/>
                    <a:pt x="308" y="80"/>
                  </a:cubicBezTo>
                  <a:cubicBezTo>
                    <a:pt x="306" y="80"/>
                    <a:pt x="303" y="79"/>
                    <a:pt x="298" y="79"/>
                  </a:cubicBezTo>
                  <a:cubicBezTo>
                    <a:pt x="293" y="79"/>
                    <a:pt x="287" y="79"/>
                    <a:pt x="280" y="79"/>
                  </a:cubicBezTo>
                  <a:cubicBezTo>
                    <a:pt x="272" y="78"/>
                    <a:pt x="267" y="77"/>
                    <a:pt x="264" y="75"/>
                  </a:cubicBezTo>
                  <a:cubicBezTo>
                    <a:pt x="262" y="73"/>
                    <a:pt x="259" y="71"/>
                    <a:pt x="257" y="70"/>
                  </a:cubicBezTo>
                  <a:cubicBezTo>
                    <a:pt x="254" y="67"/>
                    <a:pt x="252" y="65"/>
                    <a:pt x="253" y="63"/>
                  </a:cubicBezTo>
                  <a:cubicBezTo>
                    <a:pt x="253" y="60"/>
                    <a:pt x="254" y="58"/>
                    <a:pt x="258" y="55"/>
                  </a:cubicBezTo>
                  <a:cubicBezTo>
                    <a:pt x="256" y="54"/>
                    <a:pt x="255" y="53"/>
                    <a:pt x="254" y="52"/>
                  </a:cubicBezTo>
                  <a:cubicBezTo>
                    <a:pt x="256" y="51"/>
                    <a:pt x="259" y="50"/>
                    <a:pt x="262" y="48"/>
                  </a:cubicBezTo>
                  <a:cubicBezTo>
                    <a:pt x="265" y="47"/>
                    <a:pt x="267" y="45"/>
                    <a:pt x="270" y="44"/>
                  </a:cubicBezTo>
                  <a:cubicBezTo>
                    <a:pt x="272" y="45"/>
                    <a:pt x="273" y="46"/>
                    <a:pt x="274" y="47"/>
                  </a:cubicBezTo>
                  <a:cubicBezTo>
                    <a:pt x="279" y="45"/>
                    <a:pt x="283" y="45"/>
                    <a:pt x="286" y="45"/>
                  </a:cubicBezTo>
                  <a:cubicBezTo>
                    <a:pt x="290" y="45"/>
                    <a:pt x="294" y="47"/>
                    <a:pt x="296" y="48"/>
                  </a:cubicBezTo>
                  <a:cubicBezTo>
                    <a:pt x="300" y="51"/>
                    <a:pt x="304" y="54"/>
                    <a:pt x="308" y="56"/>
                  </a:cubicBezTo>
                  <a:cubicBezTo>
                    <a:pt x="305" y="58"/>
                    <a:pt x="302" y="59"/>
                    <a:pt x="299" y="61"/>
                  </a:cubicBezTo>
                  <a:cubicBezTo>
                    <a:pt x="296" y="62"/>
                    <a:pt x="293" y="64"/>
                    <a:pt x="290" y="65"/>
                  </a:cubicBezTo>
                  <a:cubicBezTo>
                    <a:pt x="286" y="62"/>
                    <a:pt x="282" y="59"/>
                    <a:pt x="278" y="57"/>
                  </a:cubicBezTo>
                  <a:cubicBezTo>
                    <a:pt x="277" y="56"/>
                    <a:pt x="276" y="56"/>
                    <a:pt x="274" y="57"/>
                  </a:cubicBezTo>
                  <a:cubicBezTo>
                    <a:pt x="272" y="58"/>
                    <a:pt x="272" y="59"/>
                    <a:pt x="274" y="61"/>
                  </a:cubicBezTo>
                  <a:cubicBezTo>
                    <a:pt x="276" y="62"/>
                    <a:pt x="278" y="63"/>
                    <a:pt x="279" y="64"/>
                  </a:cubicBezTo>
                  <a:cubicBezTo>
                    <a:pt x="281" y="65"/>
                    <a:pt x="286" y="66"/>
                    <a:pt x="294" y="66"/>
                  </a:cubicBezTo>
                  <a:cubicBezTo>
                    <a:pt x="302" y="67"/>
                    <a:pt x="308" y="67"/>
                    <a:pt x="313" y="67"/>
                  </a:cubicBezTo>
                  <a:cubicBezTo>
                    <a:pt x="318" y="67"/>
                    <a:pt x="321" y="67"/>
                    <a:pt x="323" y="68"/>
                  </a:cubicBezTo>
                  <a:cubicBezTo>
                    <a:pt x="327" y="68"/>
                    <a:pt x="331" y="69"/>
                    <a:pt x="334" y="71"/>
                  </a:cubicBezTo>
                  <a:cubicBezTo>
                    <a:pt x="337" y="73"/>
                    <a:pt x="340" y="75"/>
                    <a:pt x="343" y="77"/>
                  </a:cubicBezTo>
                  <a:cubicBezTo>
                    <a:pt x="347" y="80"/>
                    <a:pt x="349" y="83"/>
                    <a:pt x="349" y="85"/>
                  </a:cubicBezTo>
                  <a:cubicBezTo>
                    <a:pt x="349" y="88"/>
                    <a:pt x="347" y="91"/>
                    <a:pt x="342" y="93"/>
                  </a:cubicBezTo>
                  <a:close/>
                  <a:moveTo>
                    <a:pt x="185" y="167"/>
                  </a:moveTo>
                  <a:cubicBezTo>
                    <a:pt x="187" y="168"/>
                    <a:pt x="188" y="169"/>
                    <a:pt x="190" y="170"/>
                  </a:cubicBezTo>
                  <a:cubicBezTo>
                    <a:pt x="187" y="172"/>
                    <a:pt x="183" y="173"/>
                    <a:pt x="180" y="175"/>
                  </a:cubicBezTo>
                  <a:cubicBezTo>
                    <a:pt x="177" y="176"/>
                    <a:pt x="173" y="178"/>
                    <a:pt x="170" y="179"/>
                  </a:cubicBezTo>
                  <a:cubicBezTo>
                    <a:pt x="168" y="178"/>
                    <a:pt x="167" y="177"/>
                    <a:pt x="165" y="176"/>
                  </a:cubicBezTo>
                  <a:cubicBezTo>
                    <a:pt x="159" y="177"/>
                    <a:pt x="154" y="178"/>
                    <a:pt x="149" y="177"/>
                  </a:cubicBezTo>
                  <a:cubicBezTo>
                    <a:pt x="145" y="177"/>
                    <a:pt x="141" y="176"/>
                    <a:pt x="138" y="173"/>
                  </a:cubicBezTo>
                  <a:cubicBezTo>
                    <a:pt x="133" y="169"/>
                    <a:pt x="127" y="166"/>
                    <a:pt x="122" y="162"/>
                  </a:cubicBezTo>
                  <a:cubicBezTo>
                    <a:pt x="125" y="160"/>
                    <a:pt x="128" y="159"/>
                    <a:pt x="131" y="157"/>
                  </a:cubicBezTo>
                  <a:cubicBezTo>
                    <a:pt x="134" y="156"/>
                    <a:pt x="137" y="154"/>
                    <a:pt x="141" y="153"/>
                  </a:cubicBezTo>
                  <a:cubicBezTo>
                    <a:pt x="146" y="157"/>
                    <a:pt x="152" y="161"/>
                    <a:pt x="157" y="165"/>
                  </a:cubicBezTo>
                  <a:cubicBezTo>
                    <a:pt x="159" y="166"/>
                    <a:pt x="161" y="166"/>
                    <a:pt x="164" y="165"/>
                  </a:cubicBezTo>
                  <a:cubicBezTo>
                    <a:pt x="166" y="163"/>
                    <a:pt x="167" y="162"/>
                    <a:pt x="165" y="161"/>
                  </a:cubicBezTo>
                  <a:cubicBezTo>
                    <a:pt x="162" y="159"/>
                    <a:pt x="159" y="157"/>
                    <a:pt x="156" y="155"/>
                  </a:cubicBezTo>
                  <a:cubicBezTo>
                    <a:pt x="154" y="154"/>
                    <a:pt x="152" y="153"/>
                    <a:pt x="148" y="152"/>
                  </a:cubicBezTo>
                  <a:cubicBezTo>
                    <a:pt x="146" y="152"/>
                    <a:pt x="143" y="152"/>
                    <a:pt x="138" y="152"/>
                  </a:cubicBezTo>
                  <a:cubicBezTo>
                    <a:pt x="133" y="152"/>
                    <a:pt x="126" y="152"/>
                    <a:pt x="118" y="151"/>
                  </a:cubicBezTo>
                  <a:cubicBezTo>
                    <a:pt x="110" y="151"/>
                    <a:pt x="105" y="149"/>
                    <a:pt x="101" y="147"/>
                  </a:cubicBezTo>
                  <a:cubicBezTo>
                    <a:pt x="99" y="145"/>
                    <a:pt x="96" y="143"/>
                    <a:pt x="94" y="142"/>
                  </a:cubicBezTo>
                  <a:cubicBezTo>
                    <a:pt x="91" y="139"/>
                    <a:pt x="89" y="137"/>
                    <a:pt x="89" y="134"/>
                  </a:cubicBezTo>
                  <a:cubicBezTo>
                    <a:pt x="89" y="132"/>
                    <a:pt x="91" y="129"/>
                    <a:pt x="95" y="126"/>
                  </a:cubicBezTo>
                  <a:cubicBezTo>
                    <a:pt x="93" y="125"/>
                    <a:pt x="92" y="124"/>
                    <a:pt x="90" y="123"/>
                  </a:cubicBezTo>
                  <a:cubicBezTo>
                    <a:pt x="93" y="122"/>
                    <a:pt x="96" y="120"/>
                    <a:pt x="99" y="119"/>
                  </a:cubicBezTo>
                  <a:cubicBezTo>
                    <a:pt x="102" y="117"/>
                    <a:pt x="105" y="116"/>
                    <a:pt x="108" y="114"/>
                  </a:cubicBezTo>
                  <a:cubicBezTo>
                    <a:pt x="109" y="115"/>
                    <a:pt x="111" y="116"/>
                    <a:pt x="113" y="117"/>
                  </a:cubicBezTo>
                  <a:cubicBezTo>
                    <a:pt x="117" y="116"/>
                    <a:pt x="121" y="115"/>
                    <a:pt x="125" y="115"/>
                  </a:cubicBezTo>
                  <a:cubicBezTo>
                    <a:pt x="129" y="116"/>
                    <a:pt x="133" y="117"/>
                    <a:pt x="136" y="119"/>
                  </a:cubicBezTo>
                  <a:cubicBezTo>
                    <a:pt x="140" y="122"/>
                    <a:pt x="144" y="125"/>
                    <a:pt x="148" y="127"/>
                  </a:cubicBezTo>
                  <a:cubicBezTo>
                    <a:pt x="145" y="129"/>
                    <a:pt x="142" y="130"/>
                    <a:pt x="139" y="132"/>
                  </a:cubicBezTo>
                  <a:cubicBezTo>
                    <a:pt x="136" y="134"/>
                    <a:pt x="133" y="135"/>
                    <a:pt x="130" y="137"/>
                  </a:cubicBezTo>
                  <a:cubicBezTo>
                    <a:pt x="125" y="134"/>
                    <a:pt x="121" y="131"/>
                    <a:pt x="117" y="128"/>
                  </a:cubicBezTo>
                  <a:cubicBezTo>
                    <a:pt x="115" y="127"/>
                    <a:pt x="114" y="127"/>
                    <a:pt x="112" y="128"/>
                  </a:cubicBezTo>
                  <a:cubicBezTo>
                    <a:pt x="110" y="129"/>
                    <a:pt x="110" y="131"/>
                    <a:pt x="113" y="132"/>
                  </a:cubicBezTo>
                  <a:cubicBezTo>
                    <a:pt x="114" y="133"/>
                    <a:pt x="116" y="134"/>
                    <a:pt x="117" y="135"/>
                  </a:cubicBezTo>
                  <a:cubicBezTo>
                    <a:pt x="120" y="137"/>
                    <a:pt x="125" y="138"/>
                    <a:pt x="133" y="138"/>
                  </a:cubicBezTo>
                  <a:cubicBezTo>
                    <a:pt x="141" y="138"/>
                    <a:pt x="148" y="138"/>
                    <a:pt x="153" y="139"/>
                  </a:cubicBezTo>
                  <a:cubicBezTo>
                    <a:pt x="159" y="139"/>
                    <a:pt x="162" y="139"/>
                    <a:pt x="165" y="139"/>
                  </a:cubicBezTo>
                  <a:cubicBezTo>
                    <a:pt x="169" y="140"/>
                    <a:pt x="173" y="141"/>
                    <a:pt x="176" y="143"/>
                  </a:cubicBezTo>
                  <a:cubicBezTo>
                    <a:pt x="179" y="146"/>
                    <a:pt x="182" y="148"/>
                    <a:pt x="186" y="150"/>
                  </a:cubicBezTo>
                  <a:cubicBezTo>
                    <a:pt x="190" y="153"/>
                    <a:pt x="192" y="155"/>
                    <a:pt x="192" y="158"/>
                  </a:cubicBezTo>
                  <a:cubicBezTo>
                    <a:pt x="192" y="161"/>
                    <a:pt x="189" y="164"/>
                    <a:pt x="185" y="167"/>
                  </a:cubicBezTo>
                  <a:close/>
                  <a:moveTo>
                    <a:pt x="319" y="271"/>
                  </a:moveTo>
                  <a:cubicBezTo>
                    <a:pt x="398" y="236"/>
                    <a:pt x="398" y="236"/>
                    <a:pt x="398" y="236"/>
                  </a:cubicBezTo>
                  <a:cubicBezTo>
                    <a:pt x="379" y="225"/>
                    <a:pt x="379" y="225"/>
                    <a:pt x="379" y="225"/>
                  </a:cubicBezTo>
                  <a:cubicBezTo>
                    <a:pt x="320" y="253"/>
                    <a:pt x="320" y="253"/>
                    <a:pt x="320" y="253"/>
                  </a:cubicBezTo>
                  <a:cubicBezTo>
                    <a:pt x="319" y="271"/>
                    <a:pt x="319" y="271"/>
                    <a:pt x="319" y="271"/>
                  </a:cubicBezTo>
                  <a:close/>
                  <a:moveTo>
                    <a:pt x="241" y="219"/>
                  </a:moveTo>
                  <a:cubicBezTo>
                    <a:pt x="241" y="236"/>
                    <a:pt x="241" y="236"/>
                    <a:pt x="241" y="236"/>
                  </a:cubicBezTo>
                  <a:cubicBezTo>
                    <a:pt x="142" y="281"/>
                    <a:pt x="142" y="281"/>
                    <a:pt x="142" y="281"/>
                  </a:cubicBezTo>
                  <a:cubicBezTo>
                    <a:pt x="30" y="206"/>
                    <a:pt x="30" y="206"/>
                    <a:pt x="30" y="206"/>
                  </a:cubicBezTo>
                  <a:cubicBezTo>
                    <a:pt x="39" y="202"/>
                    <a:pt x="39" y="202"/>
                    <a:pt x="39" y="202"/>
                  </a:cubicBezTo>
                  <a:cubicBezTo>
                    <a:pt x="140" y="266"/>
                    <a:pt x="140" y="266"/>
                    <a:pt x="140" y="266"/>
                  </a:cubicBezTo>
                  <a:cubicBezTo>
                    <a:pt x="241" y="219"/>
                    <a:pt x="241" y="219"/>
                    <a:pt x="241" y="219"/>
                  </a:cubicBezTo>
                  <a:close/>
                  <a:moveTo>
                    <a:pt x="321" y="199"/>
                  </a:moveTo>
                  <a:cubicBezTo>
                    <a:pt x="321" y="182"/>
                    <a:pt x="321" y="182"/>
                    <a:pt x="321" y="182"/>
                  </a:cubicBezTo>
                  <a:cubicBezTo>
                    <a:pt x="380" y="154"/>
                    <a:pt x="380" y="154"/>
                    <a:pt x="380" y="154"/>
                  </a:cubicBezTo>
                  <a:cubicBezTo>
                    <a:pt x="398" y="165"/>
                    <a:pt x="398" y="165"/>
                    <a:pt x="398" y="165"/>
                  </a:cubicBezTo>
                  <a:cubicBezTo>
                    <a:pt x="321" y="199"/>
                    <a:pt x="321" y="199"/>
                    <a:pt x="321" y="199"/>
                  </a:cubicBezTo>
                  <a:close/>
                  <a:moveTo>
                    <a:pt x="322" y="128"/>
                  </a:moveTo>
                  <a:cubicBezTo>
                    <a:pt x="398" y="94"/>
                    <a:pt x="398" y="94"/>
                    <a:pt x="398" y="94"/>
                  </a:cubicBezTo>
                  <a:cubicBezTo>
                    <a:pt x="282" y="27"/>
                    <a:pt x="282" y="27"/>
                    <a:pt x="282" y="27"/>
                  </a:cubicBezTo>
                  <a:cubicBezTo>
                    <a:pt x="206" y="60"/>
                    <a:pt x="206" y="60"/>
                    <a:pt x="206" y="60"/>
                  </a:cubicBezTo>
                  <a:cubicBezTo>
                    <a:pt x="322" y="128"/>
                    <a:pt x="322" y="128"/>
                    <a:pt x="322" y="128"/>
                  </a:cubicBezTo>
                  <a:cubicBezTo>
                    <a:pt x="322" y="128"/>
                    <a:pt x="322" y="128"/>
                    <a:pt x="322" y="128"/>
                  </a:cubicBezTo>
                  <a:close/>
                  <a:moveTo>
                    <a:pt x="180" y="44"/>
                  </a:moveTo>
                  <a:cubicBezTo>
                    <a:pt x="278" y="2"/>
                    <a:pt x="278" y="2"/>
                    <a:pt x="278" y="2"/>
                  </a:cubicBezTo>
                  <a:cubicBezTo>
                    <a:pt x="284" y="0"/>
                    <a:pt x="284" y="0"/>
                    <a:pt x="284" y="0"/>
                  </a:cubicBezTo>
                  <a:cubicBezTo>
                    <a:pt x="289" y="3"/>
                    <a:pt x="289" y="3"/>
                    <a:pt x="289" y="3"/>
                  </a:cubicBezTo>
                  <a:cubicBezTo>
                    <a:pt x="430" y="85"/>
                    <a:pt x="430" y="85"/>
                    <a:pt x="430" y="85"/>
                  </a:cubicBezTo>
                  <a:cubicBezTo>
                    <a:pt x="429" y="131"/>
                    <a:pt x="429" y="131"/>
                    <a:pt x="429" y="131"/>
                  </a:cubicBezTo>
                  <a:cubicBezTo>
                    <a:pt x="407" y="142"/>
                    <a:pt x="407" y="142"/>
                    <a:pt x="407" y="142"/>
                  </a:cubicBezTo>
                  <a:cubicBezTo>
                    <a:pt x="430" y="155"/>
                    <a:pt x="430" y="155"/>
                    <a:pt x="430" y="155"/>
                  </a:cubicBezTo>
                  <a:cubicBezTo>
                    <a:pt x="429" y="202"/>
                    <a:pt x="429" y="202"/>
                    <a:pt x="429" y="202"/>
                  </a:cubicBezTo>
                  <a:cubicBezTo>
                    <a:pt x="406" y="213"/>
                    <a:pt x="406" y="213"/>
                    <a:pt x="406" y="213"/>
                  </a:cubicBezTo>
                  <a:cubicBezTo>
                    <a:pt x="430" y="227"/>
                    <a:pt x="430" y="227"/>
                    <a:pt x="430" y="227"/>
                  </a:cubicBezTo>
                  <a:cubicBezTo>
                    <a:pt x="429" y="273"/>
                    <a:pt x="429" y="273"/>
                    <a:pt x="429" y="273"/>
                  </a:cubicBezTo>
                  <a:cubicBezTo>
                    <a:pt x="140" y="408"/>
                    <a:pt x="140" y="408"/>
                    <a:pt x="140" y="408"/>
                  </a:cubicBezTo>
                  <a:cubicBezTo>
                    <a:pt x="2" y="321"/>
                    <a:pt x="2" y="321"/>
                    <a:pt x="2" y="321"/>
                  </a:cubicBezTo>
                  <a:cubicBezTo>
                    <a:pt x="0" y="264"/>
                    <a:pt x="0" y="264"/>
                    <a:pt x="0" y="264"/>
                  </a:cubicBezTo>
                  <a:cubicBezTo>
                    <a:pt x="14" y="258"/>
                    <a:pt x="14" y="258"/>
                    <a:pt x="14" y="258"/>
                  </a:cubicBezTo>
                  <a:cubicBezTo>
                    <a:pt x="2" y="250"/>
                    <a:pt x="2" y="250"/>
                    <a:pt x="2" y="250"/>
                  </a:cubicBezTo>
                  <a:cubicBezTo>
                    <a:pt x="0" y="192"/>
                    <a:pt x="0" y="192"/>
                    <a:pt x="0" y="192"/>
                  </a:cubicBezTo>
                  <a:cubicBezTo>
                    <a:pt x="14" y="186"/>
                    <a:pt x="14" y="186"/>
                    <a:pt x="14" y="186"/>
                  </a:cubicBezTo>
                  <a:cubicBezTo>
                    <a:pt x="2" y="179"/>
                    <a:pt x="2" y="179"/>
                    <a:pt x="2" y="179"/>
                  </a:cubicBezTo>
                  <a:cubicBezTo>
                    <a:pt x="0" y="122"/>
                    <a:pt x="0" y="122"/>
                    <a:pt x="0" y="122"/>
                  </a:cubicBezTo>
                  <a:cubicBezTo>
                    <a:pt x="108" y="75"/>
                    <a:pt x="108" y="75"/>
                    <a:pt x="108" y="75"/>
                  </a:cubicBezTo>
                  <a:cubicBezTo>
                    <a:pt x="107" y="74"/>
                    <a:pt x="107" y="74"/>
                    <a:pt x="107" y="74"/>
                  </a:cubicBezTo>
                  <a:cubicBezTo>
                    <a:pt x="178" y="44"/>
                    <a:pt x="178" y="44"/>
                    <a:pt x="178" y="44"/>
                  </a:cubicBezTo>
                  <a:cubicBezTo>
                    <a:pt x="180" y="44"/>
                    <a:pt x="180" y="44"/>
                    <a:pt x="180" y="44"/>
                  </a:cubicBezTo>
                  <a:close/>
                  <a:moveTo>
                    <a:pt x="132" y="91"/>
                  </a:moveTo>
                  <a:cubicBezTo>
                    <a:pt x="30" y="135"/>
                    <a:pt x="30" y="135"/>
                    <a:pt x="30" y="135"/>
                  </a:cubicBezTo>
                  <a:cubicBezTo>
                    <a:pt x="142" y="210"/>
                    <a:pt x="142" y="210"/>
                    <a:pt x="142" y="210"/>
                  </a:cubicBezTo>
                  <a:cubicBezTo>
                    <a:pt x="242" y="164"/>
                    <a:pt x="242" y="164"/>
                    <a:pt x="242" y="164"/>
                  </a:cubicBezTo>
                  <a:lnTo>
                    <a:pt x="132" y="91"/>
                  </a:ln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3" name="Freeform 28">
              <a:extLst>
                <a:ext uri="{FF2B5EF4-FFF2-40B4-BE49-F238E27FC236}">
                  <a16:creationId xmlns:a16="http://schemas.microsoft.com/office/drawing/2014/main" xmlns="" id="{24A85A53-697F-4A49-B88A-A51A435A2DBC}"/>
                </a:ext>
              </a:extLst>
            </p:cNvPr>
            <p:cNvSpPr>
              <a:spLocks noEditPoints="1"/>
            </p:cNvSpPr>
            <p:nvPr/>
          </p:nvSpPr>
          <p:spPr bwMode="auto">
            <a:xfrm>
              <a:off x="8243866" y="3173506"/>
              <a:ext cx="1074551" cy="1048497"/>
            </a:xfrm>
            <a:custGeom>
              <a:avLst/>
              <a:gdLst>
                <a:gd name="T0" fmla="*/ 240 w 430"/>
                <a:gd name="T1" fmla="*/ 307 h 408"/>
                <a:gd name="T2" fmla="*/ 39 w 430"/>
                <a:gd name="T3" fmla="*/ 273 h 408"/>
                <a:gd name="T4" fmla="*/ 347 w 430"/>
                <a:gd name="T5" fmla="*/ 96 h 408"/>
                <a:gd name="T6" fmla="*/ 323 w 430"/>
                <a:gd name="T7" fmla="*/ 101 h 408"/>
                <a:gd name="T8" fmla="*/ 283 w 430"/>
                <a:gd name="T9" fmla="*/ 89 h 408"/>
                <a:gd name="T10" fmla="*/ 316 w 430"/>
                <a:gd name="T11" fmla="*/ 91 h 408"/>
                <a:gd name="T12" fmla="*/ 315 w 430"/>
                <a:gd name="T13" fmla="*/ 82 h 408"/>
                <a:gd name="T14" fmla="*/ 280 w 430"/>
                <a:gd name="T15" fmla="*/ 79 h 408"/>
                <a:gd name="T16" fmla="*/ 253 w 430"/>
                <a:gd name="T17" fmla="*/ 63 h 408"/>
                <a:gd name="T18" fmla="*/ 262 w 430"/>
                <a:gd name="T19" fmla="*/ 48 h 408"/>
                <a:gd name="T20" fmla="*/ 286 w 430"/>
                <a:gd name="T21" fmla="*/ 45 h 408"/>
                <a:gd name="T22" fmla="*/ 299 w 430"/>
                <a:gd name="T23" fmla="*/ 61 h 408"/>
                <a:gd name="T24" fmla="*/ 274 w 430"/>
                <a:gd name="T25" fmla="*/ 57 h 408"/>
                <a:gd name="T26" fmla="*/ 294 w 430"/>
                <a:gd name="T27" fmla="*/ 66 h 408"/>
                <a:gd name="T28" fmla="*/ 334 w 430"/>
                <a:gd name="T29" fmla="*/ 71 h 408"/>
                <a:gd name="T30" fmla="*/ 342 w 430"/>
                <a:gd name="T31" fmla="*/ 93 h 408"/>
                <a:gd name="T32" fmla="*/ 180 w 430"/>
                <a:gd name="T33" fmla="*/ 175 h 408"/>
                <a:gd name="T34" fmla="*/ 149 w 430"/>
                <a:gd name="T35" fmla="*/ 177 h 408"/>
                <a:gd name="T36" fmla="*/ 131 w 430"/>
                <a:gd name="T37" fmla="*/ 157 h 408"/>
                <a:gd name="T38" fmla="*/ 164 w 430"/>
                <a:gd name="T39" fmla="*/ 165 h 408"/>
                <a:gd name="T40" fmla="*/ 148 w 430"/>
                <a:gd name="T41" fmla="*/ 152 h 408"/>
                <a:gd name="T42" fmla="*/ 101 w 430"/>
                <a:gd name="T43" fmla="*/ 147 h 408"/>
                <a:gd name="T44" fmla="*/ 95 w 430"/>
                <a:gd name="T45" fmla="*/ 126 h 408"/>
                <a:gd name="T46" fmla="*/ 108 w 430"/>
                <a:gd name="T47" fmla="*/ 114 h 408"/>
                <a:gd name="T48" fmla="*/ 136 w 430"/>
                <a:gd name="T49" fmla="*/ 119 h 408"/>
                <a:gd name="T50" fmla="*/ 130 w 430"/>
                <a:gd name="T51" fmla="*/ 137 h 408"/>
                <a:gd name="T52" fmla="*/ 113 w 430"/>
                <a:gd name="T53" fmla="*/ 132 h 408"/>
                <a:gd name="T54" fmla="*/ 153 w 430"/>
                <a:gd name="T55" fmla="*/ 139 h 408"/>
                <a:gd name="T56" fmla="*/ 186 w 430"/>
                <a:gd name="T57" fmla="*/ 150 h 408"/>
                <a:gd name="T58" fmla="*/ 319 w 430"/>
                <a:gd name="T59" fmla="*/ 271 h 408"/>
                <a:gd name="T60" fmla="*/ 320 w 430"/>
                <a:gd name="T61" fmla="*/ 253 h 408"/>
                <a:gd name="T62" fmla="*/ 241 w 430"/>
                <a:gd name="T63" fmla="*/ 236 h 408"/>
                <a:gd name="T64" fmla="*/ 39 w 430"/>
                <a:gd name="T65" fmla="*/ 202 h 408"/>
                <a:gd name="T66" fmla="*/ 321 w 430"/>
                <a:gd name="T67" fmla="*/ 199 h 408"/>
                <a:gd name="T68" fmla="*/ 398 w 430"/>
                <a:gd name="T69" fmla="*/ 165 h 408"/>
                <a:gd name="T70" fmla="*/ 398 w 430"/>
                <a:gd name="T71" fmla="*/ 94 h 408"/>
                <a:gd name="T72" fmla="*/ 322 w 430"/>
                <a:gd name="T73" fmla="*/ 128 h 408"/>
                <a:gd name="T74" fmla="*/ 278 w 430"/>
                <a:gd name="T75" fmla="*/ 2 h 408"/>
                <a:gd name="T76" fmla="*/ 430 w 430"/>
                <a:gd name="T77" fmla="*/ 85 h 408"/>
                <a:gd name="T78" fmla="*/ 430 w 430"/>
                <a:gd name="T79" fmla="*/ 155 h 408"/>
                <a:gd name="T80" fmla="*/ 430 w 430"/>
                <a:gd name="T81" fmla="*/ 227 h 408"/>
                <a:gd name="T82" fmla="*/ 2 w 430"/>
                <a:gd name="T83" fmla="*/ 321 h 408"/>
                <a:gd name="T84" fmla="*/ 2 w 430"/>
                <a:gd name="T85" fmla="*/ 250 h 408"/>
                <a:gd name="T86" fmla="*/ 2 w 430"/>
                <a:gd name="T87" fmla="*/ 179 h 408"/>
                <a:gd name="T88" fmla="*/ 107 w 430"/>
                <a:gd name="T89" fmla="*/ 74 h 408"/>
                <a:gd name="T90" fmla="*/ 132 w 430"/>
                <a:gd name="T91" fmla="*/ 91 h 408"/>
                <a:gd name="T92" fmla="*/ 242 w 430"/>
                <a:gd name="T93" fmla="*/ 164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0" h="408">
                  <a:moveTo>
                    <a:pt x="30" y="277"/>
                  </a:moveTo>
                  <a:cubicBezTo>
                    <a:pt x="142" y="352"/>
                    <a:pt x="142" y="352"/>
                    <a:pt x="142" y="352"/>
                  </a:cubicBezTo>
                  <a:cubicBezTo>
                    <a:pt x="240" y="307"/>
                    <a:pt x="240" y="307"/>
                    <a:pt x="240" y="307"/>
                  </a:cubicBezTo>
                  <a:cubicBezTo>
                    <a:pt x="241" y="290"/>
                    <a:pt x="241" y="290"/>
                    <a:pt x="241" y="290"/>
                  </a:cubicBezTo>
                  <a:cubicBezTo>
                    <a:pt x="140" y="337"/>
                    <a:pt x="140" y="337"/>
                    <a:pt x="140" y="337"/>
                  </a:cubicBezTo>
                  <a:cubicBezTo>
                    <a:pt x="39" y="273"/>
                    <a:pt x="39" y="273"/>
                    <a:pt x="39" y="273"/>
                  </a:cubicBezTo>
                  <a:cubicBezTo>
                    <a:pt x="30" y="277"/>
                    <a:pt x="30" y="277"/>
                    <a:pt x="30" y="277"/>
                  </a:cubicBezTo>
                  <a:close/>
                  <a:moveTo>
                    <a:pt x="342" y="93"/>
                  </a:moveTo>
                  <a:cubicBezTo>
                    <a:pt x="344" y="94"/>
                    <a:pt x="346" y="95"/>
                    <a:pt x="347" y="96"/>
                  </a:cubicBezTo>
                  <a:cubicBezTo>
                    <a:pt x="344" y="98"/>
                    <a:pt x="341" y="99"/>
                    <a:pt x="338" y="101"/>
                  </a:cubicBezTo>
                  <a:cubicBezTo>
                    <a:pt x="335" y="102"/>
                    <a:pt x="331" y="103"/>
                    <a:pt x="328" y="105"/>
                  </a:cubicBezTo>
                  <a:cubicBezTo>
                    <a:pt x="327" y="104"/>
                    <a:pt x="325" y="103"/>
                    <a:pt x="323" y="101"/>
                  </a:cubicBezTo>
                  <a:cubicBezTo>
                    <a:pt x="318" y="103"/>
                    <a:pt x="313" y="103"/>
                    <a:pt x="309" y="103"/>
                  </a:cubicBezTo>
                  <a:cubicBezTo>
                    <a:pt x="305" y="103"/>
                    <a:pt x="301" y="101"/>
                    <a:pt x="298" y="99"/>
                  </a:cubicBezTo>
                  <a:cubicBezTo>
                    <a:pt x="293" y="96"/>
                    <a:pt x="288" y="92"/>
                    <a:pt x="283" y="89"/>
                  </a:cubicBezTo>
                  <a:cubicBezTo>
                    <a:pt x="286" y="87"/>
                    <a:pt x="289" y="86"/>
                    <a:pt x="292" y="84"/>
                  </a:cubicBezTo>
                  <a:cubicBezTo>
                    <a:pt x="295" y="83"/>
                    <a:pt x="298" y="82"/>
                    <a:pt x="301" y="80"/>
                  </a:cubicBezTo>
                  <a:cubicBezTo>
                    <a:pt x="306" y="84"/>
                    <a:pt x="311" y="87"/>
                    <a:pt x="316" y="91"/>
                  </a:cubicBezTo>
                  <a:cubicBezTo>
                    <a:pt x="318" y="92"/>
                    <a:pt x="320" y="92"/>
                    <a:pt x="323" y="91"/>
                  </a:cubicBezTo>
                  <a:cubicBezTo>
                    <a:pt x="325" y="90"/>
                    <a:pt x="325" y="89"/>
                    <a:pt x="324" y="88"/>
                  </a:cubicBezTo>
                  <a:cubicBezTo>
                    <a:pt x="321" y="86"/>
                    <a:pt x="318" y="84"/>
                    <a:pt x="315" y="82"/>
                  </a:cubicBezTo>
                  <a:cubicBezTo>
                    <a:pt x="314" y="81"/>
                    <a:pt x="311" y="80"/>
                    <a:pt x="308" y="80"/>
                  </a:cubicBezTo>
                  <a:cubicBezTo>
                    <a:pt x="306" y="80"/>
                    <a:pt x="303" y="79"/>
                    <a:pt x="298" y="79"/>
                  </a:cubicBezTo>
                  <a:cubicBezTo>
                    <a:pt x="293" y="79"/>
                    <a:pt x="287" y="79"/>
                    <a:pt x="280" y="79"/>
                  </a:cubicBezTo>
                  <a:cubicBezTo>
                    <a:pt x="272" y="78"/>
                    <a:pt x="267" y="77"/>
                    <a:pt x="264" y="75"/>
                  </a:cubicBezTo>
                  <a:cubicBezTo>
                    <a:pt x="262" y="73"/>
                    <a:pt x="259" y="71"/>
                    <a:pt x="257" y="70"/>
                  </a:cubicBezTo>
                  <a:cubicBezTo>
                    <a:pt x="254" y="67"/>
                    <a:pt x="252" y="65"/>
                    <a:pt x="253" y="63"/>
                  </a:cubicBezTo>
                  <a:cubicBezTo>
                    <a:pt x="253" y="60"/>
                    <a:pt x="254" y="58"/>
                    <a:pt x="258" y="55"/>
                  </a:cubicBezTo>
                  <a:cubicBezTo>
                    <a:pt x="256" y="54"/>
                    <a:pt x="255" y="53"/>
                    <a:pt x="254" y="52"/>
                  </a:cubicBezTo>
                  <a:cubicBezTo>
                    <a:pt x="256" y="51"/>
                    <a:pt x="259" y="50"/>
                    <a:pt x="262" y="48"/>
                  </a:cubicBezTo>
                  <a:cubicBezTo>
                    <a:pt x="265" y="47"/>
                    <a:pt x="267" y="45"/>
                    <a:pt x="270" y="44"/>
                  </a:cubicBezTo>
                  <a:cubicBezTo>
                    <a:pt x="272" y="45"/>
                    <a:pt x="273" y="46"/>
                    <a:pt x="274" y="47"/>
                  </a:cubicBezTo>
                  <a:cubicBezTo>
                    <a:pt x="279" y="45"/>
                    <a:pt x="283" y="45"/>
                    <a:pt x="286" y="45"/>
                  </a:cubicBezTo>
                  <a:cubicBezTo>
                    <a:pt x="290" y="45"/>
                    <a:pt x="294" y="47"/>
                    <a:pt x="296" y="48"/>
                  </a:cubicBezTo>
                  <a:cubicBezTo>
                    <a:pt x="300" y="51"/>
                    <a:pt x="304" y="54"/>
                    <a:pt x="308" y="56"/>
                  </a:cubicBezTo>
                  <a:cubicBezTo>
                    <a:pt x="305" y="58"/>
                    <a:pt x="302" y="59"/>
                    <a:pt x="299" y="61"/>
                  </a:cubicBezTo>
                  <a:cubicBezTo>
                    <a:pt x="296" y="62"/>
                    <a:pt x="293" y="64"/>
                    <a:pt x="290" y="65"/>
                  </a:cubicBezTo>
                  <a:cubicBezTo>
                    <a:pt x="286" y="62"/>
                    <a:pt x="282" y="59"/>
                    <a:pt x="278" y="57"/>
                  </a:cubicBezTo>
                  <a:cubicBezTo>
                    <a:pt x="277" y="56"/>
                    <a:pt x="276" y="56"/>
                    <a:pt x="274" y="57"/>
                  </a:cubicBezTo>
                  <a:cubicBezTo>
                    <a:pt x="272" y="58"/>
                    <a:pt x="272" y="59"/>
                    <a:pt x="274" y="61"/>
                  </a:cubicBezTo>
                  <a:cubicBezTo>
                    <a:pt x="276" y="62"/>
                    <a:pt x="278" y="63"/>
                    <a:pt x="279" y="64"/>
                  </a:cubicBezTo>
                  <a:cubicBezTo>
                    <a:pt x="281" y="65"/>
                    <a:pt x="286" y="66"/>
                    <a:pt x="294" y="66"/>
                  </a:cubicBezTo>
                  <a:cubicBezTo>
                    <a:pt x="302" y="67"/>
                    <a:pt x="308" y="67"/>
                    <a:pt x="313" y="67"/>
                  </a:cubicBezTo>
                  <a:cubicBezTo>
                    <a:pt x="318" y="67"/>
                    <a:pt x="321" y="67"/>
                    <a:pt x="323" y="68"/>
                  </a:cubicBezTo>
                  <a:cubicBezTo>
                    <a:pt x="327" y="68"/>
                    <a:pt x="331" y="69"/>
                    <a:pt x="334" y="71"/>
                  </a:cubicBezTo>
                  <a:cubicBezTo>
                    <a:pt x="337" y="73"/>
                    <a:pt x="340" y="75"/>
                    <a:pt x="343" y="77"/>
                  </a:cubicBezTo>
                  <a:cubicBezTo>
                    <a:pt x="347" y="80"/>
                    <a:pt x="349" y="83"/>
                    <a:pt x="349" y="85"/>
                  </a:cubicBezTo>
                  <a:cubicBezTo>
                    <a:pt x="349" y="88"/>
                    <a:pt x="347" y="91"/>
                    <a:pt x="342" y="93"/>
                  </a:cubicBezTo>
                  <a:close/>
                  <a:moveTo>
                    <a:pt x="185" y="167"/>
                  </a:moveTo>
                  <a:cubicBezTo>
                    <a:pt x="187" y="168"/>
                    <a:pt x="188" y="169"/>
                    <a:pt x="190" y="170"/>
                  </a:cubicBezTo>
                  <a:cubicBezTo>
                    <a:pt x="187" y="172"/>
                    <a:pt x="183" y="173"/>
                    <a:pt x="180" y="175"/>
                  </a:cubicBezTo>
                  <a:cubicBezTo>
                    <a:pt x="177" y="176"/>
                    <a:pt x="173" y="178"/>
                    <a:pt x="170" y="179"/>
                  </a:cubicBezTo>
                  <a:cubicBezTo>
                    <a:pt x="168" y="178"/>
                    <a:pt x="167" y="177"/>
                    <a:pt x="165" y="176"/>
                  </a:cubicBezTo>
                  <a:cubicBezTo>
                    <a:pt x="159" y="177"/>
                    <a:pt x="154" y="178"/>
                    <a:pt x="149" y="177"/>
                  </a:cubicBezTo>
                  <a:cubicBezTo>
                    <a:pt x="145" y="177"/>
                    <a:pt x="141" y="176"/>
                    <a:pt x="138" y="173"/>
                  </a:cubicBezTo>
                  <a:cubicBezTo>
                    <a:pt x="133" y="169"/>
                    <a:pt x="127" y="166"/>
                    <a:pt x="122" y="162"/>
                  </a:cubicBezTo>
                  <a:cubicBezTo>
                    <a:pt x="125" y="160"/>
                    <a:pt x="128" y="159"/>
                    <a:pt x="131" y="157"/>
                  </a:cubicBezTo>
                  <a:cubicBezTo>
                    <a:pt x="134" y="156"/>
                    <a:pt x="137" y="154"/>
                    <a:pt x="141" y="153"/>
                  </a:cubicBezTo>
                  <a:cubicBezTo>
                    <a:pt x="146" y="157"/>
                    <a:pt x="152" y="161"/>
                    <a:pt x="157" y="165"/>
                  </a:cubicBezTo>
                  <a:cubicBezTo>
                    <a:pt x="159" y="166"/>
                    <a:pt x="161" y="166"/>
                    <a:pt x="164" y="165"/>
                  </a:cubicBezTo>
                  <a:cubicBezTo>
                    <a:pt x="166" y="163"/>
                    <a:pt x="167" y="162"/>
                    <a:pt x="165" y="161"/>
                  </a:cubicBezTo>
                  <a:cubicBezTo>
                    <a:pt x="162" y="159"/>
                    <a:pt x="159" y="157"/>
                    <a:pt x="156" y="155"/>
                  </a:cubicBezTo>
                  <a:cubicBezTo>
                    <a:pt x="154" y="154"/>
                    <a:pt x="152" y="153"/>
                    <a:pt x="148" y="152"/>
                  </a:cubicBezTo>
                  <a:cubicBezTo>
                    <a:pt x="146" y="152"/>
                    <a:pt x="143" y="152"/>
                    <a:pt x="138" y="152"/>
                  </a:cubicBezTo>
                  <a:cubicBezTo>
                    <a:pt x="133" y="152"/>
                    <a:pt x="126" y="152"/>
                    <a:pt x="118" y="151"/>
                  </a:cubicBezTo>
                  <a:cubicBezTo>
                    <a:pt x="110" y="151"/>
                    <a:pt x="105" y="149"/>
                    <a:pt x="101" y="147"/>
                  </a:cubicBezTo>
                  <a:cubicBezTo>
                    <a:pt x="99" y="145"/>
                    <a:pt x="96" y="143"/>
                    <a:pt x="94" y="142"/>
                  </a:cubicBezTo>
                  <a:cubicBezTo>
                    <a:pt x="91" y="139"/>
                    <a:pt x="89" y="137"/>
                    <a:pt x="89" y="134"/>
                  </a:cubicBezTo>
                  <a:cubicBezTo>
                    <a:pt x="89" y="132"/>
                    <a:pt x="91" y="129"/>
                    <a:pt x="95" y="126"/>
                  </a:cubicBezTo>
                  <a:cubicBezTo>
                    <a:pt x="93" y="125"/>
                    <a:pt x="92" y="124"/>
                    <a:pt x="90" y="123"/>
                  </a:cubicBezTo>
                  <a:cubicBezTo>
                    <a:pt x="93" y="122"/>
                    <a:pt x="96" y="120"/>
                    <a:pt x="99" y="119"/>
                  </a:cubicBezTo>
                  <a:cubicBezTo>
                    <a:pt x="102" y="117"/>
                    <a:pt x="105" y="116"/>
                    <a:pt x="108" y="114"/>
                  </a:cubicBezTo>
                  <a:cubicBezTo>
                    <a:pt x="109" y="115"/>
                    <a:pt x="111" y="116"/>
                    <a:pt x="113" y="117"/>
                  </a:cubicBezTo>
                  <a:cubicBezTo>
                    <a:pt x="117" y="116"/>
                    <a:pt x="121" y="115"/>
                    <a:pt x="125" y="115"/>
                  </a:cubicBezTo>
                  <a:cubicBezTo>
                    <a:pt x="129" y="116"/>
                    <a:pt x="133" y="117"/>
                    <a:pt x="136" y="119"/>
                  </a:cubicBezTo>
                  <a:cubicBezTo>
                    <a:pt x="140" y="122"/>
                    <a:pt x="144" y="125"/>
                    <a:pt x="148" y="127"/>
                  </a:cubicBezTo>
                  <a:cubicBezTo>
                    <a:pt x="145" y="129"/>
                    <a:pt x="142" y="130"/>
                    <a:pt x="139" y="132"/>
                  </a:cubicBezTo>
                  <a:cubicBezTo>
                    <a:pt x="136" y="134"/>
                    <a:pt x="133" y="135"/>
                    <a:pt x="130" y="137"/>
                  </a:cubicBezTo>
                  <a:cubicBezTo>
                    <a:pt x="125" y="134"/>
                    <a:pt x="121" y="131"/>
                    <a:pt x="117" y="128"/>
                  </a:cubicBezTo>
                  <a:cubicBezTo>
                    <a:pt x="115" y="127"/>
                    <a:pt x="114" y="127"/>
                    <a:pt x="112" y="128"/>
                  </a:cubicBezTo>
                  <a:cubicBezTo>
                    <a:pt x="110" y="129"/>
                    <a:pt x="110" y="131"/>
                    <a:pt x="113" y="132"/>
                  </a:cubicBezTo>
                  <a:cubicBezTo>
                    <a:pt x="114" y="133"/>
                    <a:pt x="116" y="134"/>
                    <a:pt x="117" y="135"/>
                  </a:cubicBezTo>
                  <a:cubicBezTo>
                    <a:pt x="120" y="137"/>
                    <a:pt x="125" y="138"/>
                    <a:pt x="133" y="138"/>
                  </a:cubicBezTo>
                  <a:cubicBezTo>
                    <a:pt x="141" y="138"/>
                    <a:pt x="148" y="138"/>
                    <a:pt x="153" y="139"/>
                  </a:cubicBezTo>
                  <a:cubicBezTo>
                    <a:pt x="159" y="139"/>
                    <a:pt x="162" y="139"/>
                    <a:pt x="165" y="139"/>
                  </a:cubicBezTo>
                  <a:cubicBezTo>
                    <a:pt x="169" y="140"/>
                    <a:pt x="173" y="141"/>
                    <a:pt x="176" y="143"/>
                  </a:cubicBezTo>
                  <a:cubicBezTo>
                    <a:pt x="179" y="146"/>
                    <a:pt x="182" y="148"/>
                    <a:pt x="186" y="150"/>
                  </a:cubicBezTo>
                  <a:cubicBezTo>
                    <a:pt x="190" y="153"/>
                    <a:pt x="192" y="155"/>
                    <a:pt x="192" y="158"/>
                  </a:cubicBezTo>
                  <a:cubicBezTo>
                    <a:pt x="192" y="161"/>
                    <a:pt x="189" y="164"/>
                    <a:pt x="185" y="167"/>
                  </a:cubicBezTo>
                  <a:close/>
                  <a:moveTo>
                    <a:pt x="319" y="271"/>
                  </a:moveTo>
                  <a:cubicBezTo>
                    <a:pt x="398" y="236"/>
                    <a:pt x="398" y="236"/>
                    <a:pt x="398" y="236"/>
                  </a:cubicBezTo>
                  <a:cubicBezTo>
                    <a:pt x="379" y="225"/>
                    <a:pt x="379" y="225"/>
                    <a:pt x="379" y="225"/>
                  </a:cubicBezTo>
                  <a:cubicBezTo>
                    <a:pt x="320" y="253"/>
                    <a:pt x="320" y="253"/>
                    <a:pt x="320" y="253"/>
                  </a:cubicBezTo>
                  <a:cubicBezTo>
                    <a:pt x="319" y="271"/>
                    <a:pt x="319" y="271"/>
                    <a:pt x="319" y="271"/>
                  </a:cubicBezTo>
                  <a:close/>
                  <a:moveTo>
                    <a:pt x="241" y="219"/>
                  </a:moveTo>
                  <a:cubicBezTo>
                    <a:pt x="241" y="236"/>
                    <a:pt x="241" y="236"/>
                    <a:pt x="241" y="236"/>
                  </a:cubicBezTo>
                  <a:cubicBezTo>
                    <a:pt x="142" y="281"/>
                    <a:pt x="142" y="281"/>
                    <a:pt x="142" y="281"/>
                  </a:cubicBezTo>
                  <a:cubicBezTo>
                    <a:pt x="30" y="206"/>
                    <a:pt x="30" y="206"/>
                    <a:pt x="30" y="206"/>
                  </a:cubicBezTo>
                  <a:cubicBezTo>
                    <a:pt x="39" y="202"/>
                    <a:pt x="39" y="202"/>
                    <a:pt x="39" y="202"/>
                  </a:cubicBezTo>
                  <a:cubicBezTo>
                    <a:pt x="140" y="266"/>
                    <a:pt x="140" y="266"/>
                    <a:pt x="140" y="266"/>
                  </a:cubicBezTo>
                  <a:cubicBezTo>
                    <a:pt x="241" y="219"/>
                    <a:pt x="241" y="219"/>
                    <a:pt x="241" y="219"/>
                  </a:cubicBezTo>
                  <a:close/>
                  <a:moveTo>
                    <a:pt x="321" y="199"/>
                  </a:moveTo>
                  <a:cubicBezTo>
                    <a:pt x="321" y="182"/>
                    <a:pt x="321" y="182"/>
                    <a:pt x="321" y="182"/>
                  </a:cubicBezTo>
                  <a:cubicBezTo>
                    <a:pt x="380" y="154"/>
                    <a:pt x="380" y="154"/>
                    <a:pt x="380" y="154"/>
                  </a:cubicBezTo>
                  <a:cubicBezTo>
                    <a:pt x="398" y="165"/>
                    <a:pt x="398" y="165"/>
                    <a:pt x="398" y="165"/>
                  </a:cubicBezTo>
                  <a:cubicBezTo>
                    <a:pt x="321" y="199"/>
                    <a:pt x="321" y="199"/>
                    <a:pt x="321" y="199"/>
                  </a:cubicBezTo>
                  <a:close/>
                  <a:moveTo>
                    <a:pt x="322" y="128"/>
                  </a:moveTo>
                  <a:cubicBezTo>
                    <a:pt x="398" y="94"/>
                    <a:pt x="398" y="94"/>
                    <a:pt x="398" y="94"/>
                  </a:cubicBezTo>
                  <a:cubicBezTo>
                    <a:pt x="282" y="27"/>
                    <a:pt x="282" y="27"/>
                    <a:pt x="282" y="27"/>
                  </a:cubicBezTo>
                  <a:cubicBezTo>
                    <a:pt x="206" y="60"/>
                    <a:pt x="206" y="60"/>
                    <a:pt x="206" y="60"/>
                  </a:cubicBezTo>
                  <a:cubicBezTo>
                    <a:pt x="322" y="128"/>
                    <a:pt x="322" y="128"/>
                    <a:pt x="322" y="128"/>
                  </a:cubicBezTo>
                  <a:cubicBezTo>
                    <a:pt x="322" y="128"/>
                    <a:pt x="322" y="128"/>
                    <a:pt x="322" y="128"/>
                  </a:cubicBezTo>
                  <a:close/>
                  <a:moveTo>
                    <a:pt x="180" y="44"/>
                  </a:moveTo>
                  <a:cubicBezTo>
                    <a:pt x="278" y="2"/>
                    <a:pt x="278" y="2"/>
                    <a:pt x="278" y="2"/>
                  </a:cubicBezTo>
                  <a:cubicBezTo>
                    <a:pt x="284" y="0"/>
                    <a:pt x="284" y="0"/>
                    <a:pt x="284" y="0"/>
                  </a:cubicBezTo>
                  <a:cubicBezTo>
                    <a:pt x="289" y="3"/>
                    <a:pt x="289" y="3"/>
                    <a:pt x="289" y="3"/>
                  </a:cubicBezTo>
                  <a:cubicBezTo>
                    <a:pt x="430" y="85"/>
                    <a:pt x="430" y="85"/>
                    <a:pt x="430" y="85"/>
                  </a:cubicBezTo>
                  <a:cubicBezTo>
                    <a:pt x="429" y="131"/>
                    <a:pt x="429" y="131"/>
                    <a:pt x="429" y="131"/>
                  </a:cubicBezTo>
                  <a:cubicBezTo>
                    <a:pt x="407" y="142"/>
                    <a:pt x="407" y="142"/>
                    <a:pt x="407" y="142"/>
                  </a:cubicBezTo>
                  <a:cubicBezTo>
                    <a:pt x="430" y="155"/>
                    <a:pt x="430" y="155"/>
                    <a:pt x="430" y="155"/>
                  </a:cubicBezTo>
                  <a:cubicBezTo>
                    <a:pt x="429" y="202"/>
                    <a:pt x="429" y="202"/>
                    <a:pt x="429" y="202"/>
                  </a:cubicBezTo>
                  <a:cubicBezTo>
                    <a:pt x="406" y="213"/>
                    <a:pt x="406" y="213"/>
                    <a:pt x="406" y="213"/>
                  </a:cubicBezTo>
                  <a:cubicBezTo>
                    <a:pt x="430" y="227"/>
                    <a:pt x="430" y="227"/>
                    <a:pt x="430" y="227"/>
                  </a:cubicBezTo>
                  <a:cubicBezTo>
                    <a:pt x="429" y="273"/>
                    <a:pt x="429" y="273"/>
                    <a:pt x="429" y="273"/>
                  </a:cubicBezTo>
                  <a:cubicBezTo>
                    <a:pt x="140" y="408"/>
                    <a:pt x="140" y="408"/>
                    <a:pt x="140" y="408"/>
                  </a:cubicBezTo>
                  <a:cubicBezTo>
                    <a:pt x="2" y="321"/>
                    <a:pt x="2" y="321"/>
                    <a:pt x="2" y="321"/>
                  </a:cubicBezTo>
                  <a:cubicBezTo>
                    <a:pt x="0" y="264"/>
                    <a:pt x="0" y="264"/>
                    <a:pt x="0" y="264"/>
                  </a:cubicBezTo>
                  <a:cubicBezTo>
                    <a:pt x="14" y="258"/>
                    <a:pt x="14" y="258"/>
                    <a:pt x="14" y="258"/>
                  </a:cubicBezTo>
                  <a:cubicBezTo>
                    <a:pt x="2" y="250"/>
                    <a:pt x="2" y="250"/>
                    <a:pt x="2" y="250"/>
                  </a:cubicBezTo>
                  <a:cubicBezTo>
                    <a:pt x="0" y="192"/>
                    <a:pt x="0" y="192"/>
                    <a:pt x="0" y="192"/>
                  </a:cubicBezTo>
                  <a:cubicBezTo>
                    <a:pt x="14" y="186"/>
                    <a:pt x="14" y="186"/>
                    <a:pt x="14" y="186"/>
                  </a:cubicBezTo>
                  <a:cubicBezTo>
                    <a:pt x="2" y="179"/>
                    <a:pt x="2" y="179"/>
                    <a:pt x="2" y="179"/>
                  </a:cubicBezTo>
                  <a:cubicBezTo>
                    <a:pt x="0" y="122"/>
                    <a:pt x="0" y="122"/>
                    <a:pt x="0" y="122"/>
                  </a:cubicBezTo>
                  <a:cubicBezTo>
                    <a:pt x="108" y="75"/>
                    <a:pt x="108" y="75"/>
                    <a:pt x="108" y="75"/>
                  </a:cubicBezTo>
                  <a:cubicBezTo>
                    <a:pt x="107" y="74"/>
                    <a:pt x="107" y="74"/>
                    <a:pt x="107" y="74"/>
                  </a:cubicBezTo>
                  <a:cubicBezTo>
                    <a:pt x="178" y="44"/>
                    <a:pt x="178" y="44"/>
                    <a:pt x="178" y="44"/>
                  </a:cubicBezTo>
                  <a:cubicBezTo>
                    <a:pt x="180" y="44"/>
                    <a:pt x="180" y="44"/>
                    <a:pt x="180" y="44"/>
                  </a:cubicBezTo>
                  <a:close/>
                  <a:moveTo>
                    <a:pt x="132" y="91"/>
                  </a:moveTo>
                  <a:cubicBezTo>
                    <a:pt x="30" y="135"/>
                    <a:pt x="30" y="135"/>
                    <a:pt x="30" y="135"/>
                  </a:cubicBezTo>
                  <a:cubicBezTo>
                    <a:pt x="142" y="210"/>
                    <a:pt x="142" y="210"/>
                    <a:pt x="142" y="210"/>
                  </a:cubicBezTo>
                  <a:cubicBezTo>
                    <a:pt x="242" y="164"/>
                    <a:pt x="242" y="164"/>
                    <a:pt x="242" y="164"/>
                  </a:cubicBezTo>
                  <a:lnTo>
                    <a:pt x="132" y="91"/>
                  </a:ln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grpSp>
      <p:grpSp>
        <p:nvGrpSpPr>
          <p:cNvPr id="18" name="Group 17">
            <a:extLst>
              <a:ext uri="{FF2B5EF4-FFF2-40B4-BE49-F238E27FC236}">
                <a16:creationId xmlns:a16="http://schemas.microsoft.com/office/drawing/2014/main" xmlns="" id="{2490F9CD-D1CE-4451-AAEC-C31C72ACB059}"/>
              </a:ext>
            </a:extLst>
          </p:cNvPr>
          <p:cNvGrpSpPr/>
          <p:nvPr/>
        </p:nvGrpSpPr>
        <p:grpSpPr>
          <a:xfrm>
            <a:off x="560303" y="5073669"/>
            <a:ext cx="615950" cy="1008063"/>
            <a:chOff x="617538" y="3619500"/>
            <a:chExt cx="615950" cy="1008063"/>
          </a:xfrm>
          <a:solidFill>
            <a:srgbClr val="04465F"/>
          </a:solidFill>
        </p:grpSpPr>
        <p:sp>
          <p:nvSpPr>
            <p:cNvPr id="19" name="Freeform 83">
              <a:extLst>
                <a:ext uri="{FF2B5EF4-FFF2-40B4-BE49-F238E27FC236}">
                  <a16:creationId xmlns:a16="http://schemas.microsoft.com/office/drawing/2014/main" xmlns="" id="{7F643B71-A305-4489-AF23-3DDCAFCD281A}"/>
                </a:ext>
              </a:extLst>
            </p:cNvPr>
            <p:cNvSpPr>
              <a:spLocks noEditPoints="1"/>
            </p:cNvSpPr>
            <p:nvPr/>
          </p:nvSpPr>
          <p:spPr bwMode="auto">
            <a:xfrm>
              <a:off x="814388" y="3957638"/>
              <a:ext cx="419100" cy="669925"/>
            </a:xfrm>
            <a:custGeom>
              <a:avLst/>
              <a:gdLst>
                <a:gd name="T0" fmla="*/ 41 w 144"/>
                <a:gd name="T1" fmla="*/ 180 h 230"/>
                <a:gd name="T2" fmla="*/ 50 w 144"/>
                <a:gd name="T3" fmla="*/ 195 h 230"/>
                <a:gd name="T4" fmla="*/ 50 w 144"/>
                <a:gd name="T5" fmla="*/ 227 h 230"/>
                <a:gd name="T6" fmla="*/ 57 w 144"/>
                <a:gd name="T7" fmla="*/ 230 h 230"/>
                <a:gd name="T8" fmla="*/ 128 w 144"/>
                <a:gd name="T9" fmla="*/ 227 h 230"/>
                <a:gd name="T10" fmla="*/ 128 w 144"/>
                <a:gd name="T11" fmla="*/ 194 h 230"/>
                <a:gd name="T12" fmla="*/ 134 w 144"/>
                <a:gd name="T13" fmla="*/ 180 h 230"/>
                <a:gd name="T14" fmla="*/ 143 w 144"/>
                <a:gd name="T15" fmla="*/ 134 h 230"/>
                <a:gd name="T16" fmla="*/ 144 w 144"/>
                <a:gd name="T17" fmla="*/ 99 h 230"/>
                <a:gd name="T18" fmla="*/ 143 w 144"/>
                <a:gd name="T19" fmla="*/ 83 h 230"/>
                <a:gd name="T20" fmla="*/ 125 w 144"/>
                <a:gd name="T21" fmla="*/ 65 h 230"/>
                <a:gd name="T22" fmla="*/ 118 w 144"/>
                <a:gd name="T23" fmla="*/ 65 h 230"/>
                <a:gd name="T24" fmla="*/ 101 w 144"/>
                <a:gd name="T25" fmla="*/ 55 h 230"/>
                <a:gd name="T26" fmla="*/ 93 w 144"/>
                <a:gd name="T27" fmla="*/ 55 h 230"/>
                <a:gd name="T28" fmla="*/ 73 w 144"/>
                <a:gd name="T29" fmla="*/ 47 h 230"/>
                <a:gd name="T30" fmla="*/ 71 w 144"/>
                <a:gd name="T31" fmla="*/ 10 h 230"/>
                <a:gd name="T32" fmla="*/ 55 w 144"/>
                <a:gd name="T33" fmla="*/ 0 h 230"/>
                <a:gd name="T34" fmla="*/ 36 w 144"/>
                <a:gd name="T35" fmla="*/ 6 h 230"/>
                <a:gd name="T36" fmla="*/ 31 w 144"/>
                <a:gd name="T37" fmla="*/ 81 h 230"/>
                <a:gd name="T38" fmla="*/ 1 w 144"/>
                <a:gd name="T39" fmla="*/ 109 h 230"/>
                <a:gd name="T40" fmla="*/ 36 w 144"/>
                <a:gd name="T41" fmla="*/ 161 h 230"/>
                <a:gd name="T42" fmla="*/ 41 w 144"/>
                <a:gd name="T43" fmla="*/ 19 h 230"/>
                <a:gd name="T44" fmla="*/ 49 w 144"/>
                <a:gd name="T45" fmla="*/ 10 h 230"/>
                <a:gd name="T46" fmla="*/ 55 w 144"/>
                <a:gd name="T47" fmla="*/ 10 h 230"/>
                <a:gd name="T48" fmla="*/ 63 w 144"/>
                <a:gd name="T49" fmla="*/ 19 h 230"/>
                <a:gd name="T50" fmla="*/ 64 w 144"/>
                <a:gd name="T51" fmla="*/ 92 h 230"/>
                <a:gd name="T52" fmla="*/ 66 w 144"/>
                <a:gd name="T53" fmla="*/ 60 h 230"/>
                <a:gd name="T54" fmla="*/ 78 w 144"/>
                <a:gd name="T55" fmla="*/ 57 h 230"/>
                <a:gd name="T56" fmla="*/ 86 w 144"/>
                <a:gd name="T57" fmla="*/ 62 h 230"/>
                <a:gd name="T58" fmla="*/ 87 w 144"/>
                <a:gd name="T59" fmla="*/ 92 h 230"/>
                <a:gd name="T60" fmla="*/ 87 w 144"/>
                <a:gd name="T61" fmla="*/ 92 h 230"/>
                <a:gd name="T62" fmla="*/ 90 w 144"/>
                <a:gd name="T63" fmla="*/ 67 h 230"/>
                <a:gd name="T64" fmla="*/ 101 w 144"/>
                <a:gd name="T65" fmla="*/ 64 h 230"/>
                <a:gd name="T66" fmla="*/ 109 w 144"/>
                <a:gd name="T67" fmla="*/ 69 h 230"/>
                <a:gd name="T68" fmla="*/ 110 w 144"/>
                <a:gd name="T69" fmla="*/ 92 h 230"/>
                <a:gd name="T70" fmla="*/ 111 w 144"/>
                <a:gd name="T71" fmla="*/ 84 h 230"/>
                <a:gd name="T72" fmla="*/ 119 w 144"/>
                <a:gd name="T73" fmla="*/ 75 h 230"/>
                <a:gd name="T74" fmla="*/ 125 w 144"/>
                <a:gd name="T75" fmla="*/ 75 h 230"/>
                <a:gd name="T76" fmla="*/ 134 w 144"/>
                <a:gd name="T77" fmla="*/ 83 h 230"/>
                <a:gd name="T78" fmla="*/ 134 w 144"/>
                <a:gd name="T79" fmla="*/ 101 h 230"/>
                <a:gd name="T80" fmla="*/ 131 w 144"/>
                <a:gd name="T81" fmla="*/ 151 h 230"/>
                <a:gd name="T82" fmla="*/ 114 w 144"/>
                <a:gd name="T83" fmla="*/ 185 h 230"/>
                <a:gd name="T84" fmla="*/ 61 w 144"/>
                <a:gd name="T85" fmla="*/ 186 h 230"/>
                <a:gd name="T86" fmla="*/ 50 w 144"/>
                <a:gd name="T87" fmla="*/ 177 h 230"/>
                <a:gd name="T88" fmla="*/ 11 w 144"/>
                <a:gd name="T89" fmla="*/ 112 h 230"/>
                <a:gd name="T90" fmla="*/ 41 w 144"/>
                <a:gd name="T91" fmla="*/ 100 h 230"/>
                <a:gd name="T92" fmla="*/ 121 w 144"/>
                <a:gd name="T93" fmla="*/ 220 h 230"/>
                <a:gd name="T94" fmla="*/ 59 w 144"/>
                <a:gd name="T95" fmla="*/ 195 h 230"/>
                <a:gd name="T96" fmla="*/ 119 w 144"/>
                <a:gd name="T97" fmla="*/ 195 h 230"/>
                <a:gd name="T98" fmla="*/ 121 w 144"/>
                <a:gd name="T99" fmla="*/ 22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4" h="230">
                  <a:moveTo>
                    <a:pt x="36" y="161"/>
                  </a:moveTo>
                  <a:cubicBezTo>
                    <a:pt x="41" y="180"/>
                    <a:pt x="41" y="180"/>
                    <a:pt x="41" y="180"/>
                  </a:cubicBezTo>
                  <a:cubicBezTo>
                    <a:pt x="42" y="185"/>
                    <a:pt x="46" y="190"/>
                    <a:pt x="50" y="192"/>
                  </a:cubicBezTo>
                  <a:cubicBezTo>
                    <a:pt x="50" y="193"/>
                    <a:pt x="50" y="194"/>
                    <a:pt x="50" y="195"/>
                  </a:cubicBezTo>
                  <a:cubicBezTo>
                    <a:pt x="48" y="221"/>
                    <a:pt x="48" y="221"/>
                    <a:pt x="48" y="221"/>
                  </a:cubicBezTo>
                  <a:cubicBezTo>
                    <a:pt x="48" y="223"/>
                    <a:pt x="49" y="226"/>
                    <a:pt x="50" y="227"/>
                  </a:cubicBezTo>
                  <a:cubicBezTo>
                    <a:pt x="52" y="229"/>
                    <a:pt x="54" y="230"/>
                    <a:pt x="57" y="230"/>
                  </a:cubicBezTo>
                  <a:cubicBezTo>
                    <a:pt x="57" y="230"/>
                    <a:pt x="57" y="230"/>
                    <a:pt x="57" y="230"/>
                  </a:cubicBezTo>
                  <a:cubicBezTo>
                    <a:pt x="122" y="230"/>
                    <a:pt x="122" y="230"/>
                    <a:pt x="122" y="230"/>
                  </a:cubicBezTo>
                  <a:cubicBezTo>
                    <a:pt x="124" y="230"/>
                    <a:pt x="126" y="228"/>
                    <a:pt x="128" y="227"/>
                  </a:cubicBezTo>
                  <a:cubicBezTo>
                    <a:pt x="130" y="225"/>
                    <a:pt x="131" y="222"/>
                    <a:pt x="131" y="220"/>
                  </a:cubicBezTo>
                  <a:cubicBezTo>
                    <a:pt x="128" y="194"/>
                    <a:pt x="128" y="194"/>
                    <a:pt x="128" y="194"/>
                  </a:cubicBezTo>
                  <a:cubicBezTo>
                    <a:pt x="128" y="193"/>
                    <a:pt x="128" y="192"/>
                    <a:pt x="127" y="191"/>
                  </a:cubicBezTo>
                  <a:cubicBezTo>
                    <a:pt x="131" y="188"/>
                    <a:pt x="133" y="184"/>
                    <a:pt x="134" y="180"/>
                  </a:cubicBezTo>
                  <a:cubicBezTo>
                    <a:pt x="141" y="153"/>
                    <a:pt x="141" y="153"/>
                    <a:pt x="141" y="153"/>
                  </a:cubicBezTo>
                  <a:cubicBezTo>
                    <a:pt x="143" y="147"/>
                    <a:pt x="144" y="140"/>
                    <a:pt x="143" y="134"/>
                  </a:cubicBezTo>
                  <a:cubicBezTo>
                    <a:pt x="143" y="102"/>
                    <a:pt x="143" y="102"/>
                    <a:pt x="143" y="102"/>
                  </a:cubicBezTo>
                  <a:cubicBezTo>
                    <a:pt x="144" y="100"/>
                    <a:pt x="144" y="99"/>
                    <a:pt x="144" y="99"/>
                  </a:cubicBezTo>
                  <a:cubicBezTo>
                    <a:pt x="143" y="99"/>
                    <a:pt x="143" y="99"/>
                    <a:pt x="143" y="99"/>
                  </a:cubicBezTo>
                  <a:cubicBezTo>
                    <a:pt x="143" y="83"/>
                    <a:pt x="143" y="83"/>
                    <a:pt x="143" y="83"/>
                  </a:cubicBezTo>
                  <a:cubicBezTo>
                    <a:pt x="143" y="80"/>
                    <a:pt x="143" y="77"/>
                    <a:pt x="141" y="74"/>
                  </a:cubicBezTo>
                  <a:cubicBezTo>
                    <a:pt x="138" y="68"/>
                    <a:pt x="131" y="65"/>
                    <a:pt x="125" y="65"/>
                  </a:cubicBezTo>
                  <a:cubicBezTo>
                    <a:pt x="119" y="65"/>
                    <a:pt x="119" y="65"/>
                    <a:pt x="119" y="65"/>
                  </a:cubicBezTo>
                  <a:cubicBezTo>
                    <a:pt x="119" y="65"/>
                    <a:pt x="118" y="65"/>
                    <a:pt x="118" y="65"/>
                  </a:cubicBezTo>
                  <a:cubicBezTo>
                    <a:pt x="118" y="65"/>
                    <a:pt x="118" y="64"/>
                    <a:pt x="118" y="64"/>
                  </a:cubicBezTo>
                  <a:cubicBezTo>
                    <a:pt x="114" y="58"/>
                    <a:pt x="108" y="55"/>
                    <a:pt x="101" y="55"/>
                  </a:cubicBezTo>
                  <a:cubicBezTo>
                    <a:pt x="96" y="55"/>
                    <a:pt x="96" y="55"/>
                    <a:pt x="96" y="55"/>
                  </a:cubicBezTo>
                  <a:cubicBezTo>
                    <a:pt x="95" y="55"/>
                    <a:pt x="94" y="55"/>
                    <a:pt x="93" y="55"/>
                  </a:cubicBezTo>
                  <a:cubicBezTo>
                    <a:pt x="89" y="50"/>
                    <a:pt x="84" y="47"/>
                    <a:pt x="78" y="47"/>
                  </a:cubicBezTo>
                  <a:cubicBezTo>
                    <a:pt x="73" y="47"/>
                    <a:pt x="73" y="47"/>
                    <a:pt x="73" y="47"/>
                  </a:cubicBezTo>
                  <a:cubicBezTo>
                    <a:pt x="73" y="19"/>
                    <a:pt x="73" y="19"/>
                    <a:pt x="73" y="19"/>
                  </a:cubicBezTo>
                  <a:cubicBezTo>
                    <a:pt x="73" y="15"/>
                    <a:pt x="72" y="12"/>
                    <a:pt x="71" y="10"/>
                  </a:cubicBezTo>
                  <a:cubicBezTo>
                    <a:pt x="68" y="4"/>
                    <a:pt x="61" y="0"/>
                    <a:pt x="55" y="0"/>
                  </a:cubicBezTo>
                  <a:cubicBezTo>
                    <a:pt x="55" y="0"/>
                    <a:pt x="55" y="0"/>
                    <a:pt x="55" y="0"/>
                  </a:cubicBezTo>
                  <a:cubicBezTo>
                    <a:pt x="49" y="0"/>
                    <a:pt x="49" y="0"/>
                    <a:pt x="49" y="0"/>
                  </a:cubicBezTo>
                  <a:cubicBezTo>
                    <a:pt x="44" y="0"/>
                    <a:pt x="40" y="2"/>
                    <a:pt x="36" y="6"/>
                  </a:cubicBezTo>
                  <a:cubicBezTo>
                    <a:pt x="33" y="9"/>
                    <a:pt x="31" y="14"/>
                    <a:pt x="31" y="19"/>
                  </a:cubicBezTo>
                  <a:cubicBezTo>
                    <a:pt x="31" y="81"/>
                    <a:pt x="31" y="81"/>
                    <a:pt x="31" y="81"/>
                  </a:cubicBezTo>
                  <a:cubicBezTo>
                    <a:pt x="30" y="81"/>
                    <a:pt x="29" y="81"/>
                    <a:pt x="28" y="81"/>
                  </a:cubicBezTo>
                  <a:cubicBezTo>
                    <a:pt x="16" y="85"/>
                    <a:pt x="5" y="97"/>
                    <a:pt x="1" y="109"/>
                  </a:cubicBezTo>
                  <a:cubicBezTo>
                    <a:pt x="0" y="112"/>
                    <a:pt x="1" y="115"/>
                    <a:pt x="3" y="118"/>
                  </a:cubicBezTo>
                  <a:lnTo>
                    <a:pt x="36" y="161"/>
                  </a:lnTo>
                  <a:close/>
                  <a:moveTo>
                    <a:pt x="41" y="99"/>
                  </a:moveTo>
                  <a:cubicBezTo>
                    <a:pt x="41" y="19"/>
                    <a:pt x="41" y="19"/>
                    <a:pt x="41" y="19"/>
                  </a:cubicBezTo>
                  <a:cubicBezTo>
                    <a:pt x="41" y="17"/>
                    <a:pt x="42" y="14"/>
                    <a:pt x="43" y="13"/>
                  </a:cubicBezTo>
                  <a:cubicBezTo>
                    <a:pt x="45" y="11"/>
                    <a:pt x="47" y="10"/>
                    <a:pt x="49" y="10"/>
                  </a:cubicBezTo>
                  <a:cubicBezTo>
                    <a:pt x="55" y="10"/>
                    <a:pt x="55" y="10"/>
                    <a:pt x="55" y="10"/>
                  </a:cubicBezTo>
                  <a:cubicBezTo>
                    <a:pt x="55" y="10"/>
                    <a:pt x="55" y="10"/>
                    <a:pt x="55" y="10"/>
                  </a:cubicBezTo>
                  <a:cubicBezTo>
                    <a:pt x="58" y="10"/>
                    <a:pt x="61" y="12"/>
                    <a:pt x="62" y="14"/>
                  </a:cubicBezTo>
                  <a:cubicBezTo>
                    <a:pt x="63" y="16"/>
                    <a:pt x="63" y="17"/>
                    <a:pt x="63" y="19"/>
                  </a:cubicBezTo>
                  <a:cubicBezTo>
                    <a:pt x="63" y="92"/>
                    <a:pt x="63" y="92"/>
                    <a:pt x="63" y="92"/>
                  </a:cubicBezTo>
                  <a:cubicBezTo>
                    <a:pt x="64" y="92"/>
                    <a:pt x="64" y="92"/>
                    <a:pt x="64" y="92"/>
                  </a:cubicBezTo>
                  <a:cubicBezTo>
                    <a:pt x="64" y="66"/>
                    <a:pt x="64" y="66"/>
                    <a:pt x="64" y="66"/>
                  </a:cubicBezTo>
                  <a:cubicBezTo>
                    <a:pt x="64" y="64"/>
                    <a:pt x="65" y="62"/>
                    <a:pt x="66" y="60"/>
                  </a:cubicBezTo>
                  <a:cubicBezTo>
                    <a:pt x="68" y="58"/>
                    <a:pt x="70" y="57"/>
                    <a:pt x="73" y="57"/>
                  </a:cubicBezTo>
                  <a:cubicBezTo>
                    <a:pt x="78" y="57"/>
                    <a:pt x="78" y="57"/>
                    <a:pt x="78" y="57"/>
                  </a:cubicBezTo>
                  <a:cubicBezTo>
                    <a:pt x="78" y="57"/>
                    <a:pt x="78" y="57"/>
                    <a:pt x="78" y="57"/>
                  </a:cubicBezTo>
                  <a:cubicBezTo>
                    <a:pt x="81" y="57"/>
                    <a:pt x="84" y="59"/>
                    <a:pt x="86" y="62"/>
                  </a:cubicBezTo>
                  <a:cubicBezTo>
                    <a:pt x="86" y="63"/>
                    <a:pt x="87" y="65"/>
                    <a:pt x="87" y="66"/>
                  </a:cubicBezTo>
                  <a:cubicBezTo>
                    <a:pt x="87" y="92"/>
                    <a:pt x="87" y="92"/>
                    <a:pt x="87" y="92"/>
                  </a:cubicBezTo>
                  <a:cubicBezTo>
                    <a:pt x="87" y="92"/>
                    <a:pt x="87" y="92"/>
                    <a:pt x="87" y="92"/>
                  </a:cubicBezTo>
                  <a:cubicBezTo>
                    <a:pt x="87" y="92"/>
                    <a:pt x="87" y="92"/>
                    <a:pt x="87" y="92"/>
                  </a:cubicBezTo>
                  <a:cubicBezTo>
                    <a:pt x="87" y="73"/>
                    <a:pt x="87" y="73"/>
                    <a:pt x="87" y="73"/>
                  </a:cubicBezTo>
                  <a:cubicBezTo>
                    <a:pt x="87" y="71"/>
                    <a:pt x="88" y="69"/>
                    <a:pt x="90" y="67"/>
                  </a:cubicBezTo>
                  <a:cubicBezTo>
                    <a:pt x="91" y="65"/>
                    <a:pt x="94" y="65"/>
                    <a:pt x="96" y="65"/>
                  </a:cubicBezTo>
                  <a:cubicBezTo>
                    <a:pt x="101" y="64"/>
                    <a:pt x="101" y="64"/>
                    <a:pt x="101" y="64"/>
                  </a:cubicBezTo>
                  <a:cubicBezTo>
                    <a:pt x="101" y="64"/>
                    <a:pt x="101" y="64"/>
                    <a:pt x="101" y="64"/>
                  </a:cubicBezTo>
                  <a:cubicBezTo>
                    <a:pt x="104" y="64"/>
                    <a:pt x="107" y="66"/>
                    <a:pt x="109" y="69"/>
                  </a:cubicBezTo>
                  <a:cubicBezTo>
                    <a:pt x="110" y="70"/>
                    <a:pt x="110" y="72"/>
                    <a:pt x="110" y="73"/>
                  </a:cubicBezTo>
                  <a:cubicBezTo>
                    <a:pt x="110" y="92"/>
                    <a:pt x="110" y="92"/>
                    <a:pt x="110" y="92"/>
                  </a:cubicBezTo>
                  <a:cubicBezTo>
                    <a:pt x="111" y="92"/>
                    <a:pt x="111" y="92"/>
                    <a:pt x="111" y="92"/>
                  </a:cubicBezTo>
                  <a:cubicBezTo>
                    <a:pt x="111" y="84"/>
                    <a:pt x="111" y="84"/>
                    <a:pt x="111" y="84"/>
                  </a:cubicBezTo>
                  <a:cubicBezTo>
                    <a:pt x="111" y="81"/>
                    <a:pt x="112" y="79"/>
                    <a:pt x="113" y="77"/>
                  </a:cubicBezTo>
                  <a:cubicBezTo>
                    <a:pt x="115" y="76"/>
                    <a:pt x="117" y="75"/>
                    <a:pt x="119" y="75"/>
                  </a:cubicBezTo>
                  <a:cubicBezTo>
                    <a:pt x="125" y="75"/>
                    <a:pt x="125" y="75"/>
                    <a:pt x="125" y="75"/>
                  </a:cubicBezTo>
                  <a:cubicBezTo>
                    <a:pt x="125" y="75"/>
                    <a:pt x="125" y="75"/>
                    <a:pt x="125" y="75"/>
                  </a:cubicBezTo>
                  <a:cubicBezTo>
                    <a:pt x="128" y="75"/>
                    <a:pt x="131" y="76"/>
                    <a:pt x="132" y="79"/>
                  </a:cubicBezTo>
                  <a:cubicBezTo>
                    <a:pt x="133" y="80"/>
                    <a:pt x="134" y="82"/>
                    <a:pt x="134" y="83"/>
                  </a:cubicBezTo>
                  <a:cubicBezTo>
                    <a:pt x="134" y="99"/>
                    <a:pt x="134" y="99"/>
                    <a:pt x="134" y="99"/>
                  </a:cubicBezTo>
                  <a:cubicBezTo>
                    <a:pt x="134" y="100"/>
                    <a:pt x="134" y="100"/>
                    <a:pt x="134" y="101"/>
                  </a:cubicBezTo>
                  <a:cubicBezTo>
                    <a:pt x="134" y="134"/>
                    <a:pt x="134" y="134"/>
                    <a:pt x="134" y="134"/>
                  </a:cubicBezTo>
                  <a:cubicBezTo>
                    <a:pt x="134" y="140"/>
                    <a:pt x="133" y="145"/>
                    <a:pt x="131" y="151"/>
                  </a:cubicBezTo>
                  <a:cubicBezTo>
                    <a:pt x="125" y="177"/>
                    <a:pt x="125" y="177"/>
                    <a:pt x="125" y="177"/>
                  </a:cubicBezTo>
                  <a:cubicBezTo>
                    <a:pt x="124" y="182"/>
                    <a:pt x="119" y="185"/>
                    <a:pt x="114" y="185"/>
                  </a:cubicBezTo>
                  <a:cubicBezTo>
                    <a:pt x="88" y="186"/>
                    <a:pt x="88" y="186"/>
                    <a:pt x="88" y="186"/>
                  </a:cubicBezTo>
                  <a:cubicBezTo>
                    <a:pt x="61" y="186"/>
                    <a:pt x="61" y="186"/>
                    <a:pt x="61" y="186"/>
                  </a:cubicBezTo>
                  <a:cubicBezTo>
                    <a:pt x="61" y="186"/>
                    <a:pt x="61" y="186"/>
                    <a:pt x="61" y="186"/>
                  </a:cubicBezTo>
                  <a:cubicBezTo>
                    <a:pt x="56" y="186"/>
                    <a:pt x="52" y="182"/>
                    <a:pt x="50" y="177"/>
                  </a:cubicBezTo>
                  <a:cubicBezTo>
                    <a:pt x="45" y="156"/>
                    <a:pt x="45" y="156"/>
                    <a:pt x="45" y="156"/>
                  </a:cubicBezTo>
                  <a:cubicBezTo>
                    <a:pt x="11" y="112"/>
                    <a:pt x="11" y="112"/>
                    <a:pt x="11" y="112"/>
                  </a:cubicBezTo>
                  <a:cubicBezTo>
                    <a:pt x="14" y="103"/>
                    <a:pt x="23" y="94"/>
                    <a:pt x="31" y="91"/>
                  </a:cubicBezTo>
                  <a:cubicBezTo>
                    <a:pt x="41" y="100"/>
                    <a:pt x="41" y="100"/>
                    <a:pt x="41" y="100"/>
                  </a:cubicBezTo>
                  <a:cubicBezTo>
                    <a:pt x="41" y="100"/>
                    <a:pt x="41" y="99"/>
                    <a:pt x="41" y="99"/>
                  </a:cubicBezTo>
                  <a:close/>
                  <a:moveTo>
                    <a:pt x="121" y="220"/>
                  </a:moveTo>
                  <a:cubicBezTo>
                    <a:pt x="57" y="221"/>
                    <a:pt x="57" y="221"/>
                    <a:pt x="57" y="221"/>
                  </a:cubicBezTo>
                  <a:cubicBezTo>
                    <a:pt x="59" y="195"/>
                    <a:pt x="59" y="195"/>
                    <a:pt x="59" y="195"/>
                  </a:cubicBezTo>
                  <a:cubicBezTo>
                    <a:pt x="59" y="195"/>
                    <a:pt x="59" y="195"/>
                    <a:pt x="59" y="195"/>
                  </a:cubicBezTo>
                  <a:cubicBezTo>
                    <a:pt x="119" y="195"/>
                    <a:pt x="119" y="195"/>
                    <a:pt x="119" y="195"/>
                  </a:cubicBezTo>
                  <a:cubicBezTo>
                    <a:pt x="119" y="195"/>
                    <a:pt x="119" y="195"/>
                    <a:pt x="119" y="195"/>
                  </a:cubicBezTo>
                  <a:lnTo>
                    <a:pt x="121" y="2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4">
              <a:extLst>
                <a:ext uri="{FF2B5EF4-FFF2-40B4-BE49-F238E27FC236}">
                  <a16:creationId xmlns:a16="http://schemas.microsoft.com/office/drawing/2014/main" xmlns="" id="{477B9F6F-2D8C-4E91-95BE-D64F805AD476}"/>
                </a:ext>
              </a:extLst>
            </p:cNvPr>
            <p:cNvSpPr>
              <a:spLocks noEditPoints="1"/>
            </p:cNvSpPr>
            <p:nvPr/>
          </p:nvSpPr>
          <p:spPr bwMode="auto">
            <a:xfrm>
              <a:off x="617538" y="3619500"/>
              <a:ext cx="511175" cy="798513"/>
            </a:xfrm>
            <a:custGeom>
              <a:avLst/>
              <a:gdLst>
                <a:gd name="T0" fmla="*/ 50 w 176"/>
                <a:gd name="T1" fmla="*/ 223 h 274"/>
                <a:gd name="T2" fmla="*/ 57 w 176"/>
                <a:gd name="T3" fmla="*/ 208 h 274"/>
                <a:gd name="T4" fmla="*/ 26 w 176"/>
                <a:gd name="T5" fmla="*/ 208 h 274"/>
                <a:gd name="T6" fmla="*/ 19 w 176"/>
                <a:gd name="T7" fmla="*/ 200 h 274"/>
                <a:gd name="T8" fmla="*/ 19 w 176"/>
                <a:gd name="T9" fmla="*/ 29 h 274"/>
                <a:gd name="T10" fmla="*/ 26 w 176"/>
                <a:gd name="T11" fmla="*/ 21 h 274"/>
                <a:gd name="T12" fmla="*/ 150 w 176"/>
                <a:gd name="T13" fmla="*/ 21 h 274"/>
                <a:gd name="T14" fmla="*/ 158 w 176"/>
                <a:gd name="T15" fmla="*/ 29 h 274"/>
                <a:gd name="T16" fmla="*/ 158 w 176"/>
                <a:gd name="T17" fmla="*/ 147 h 274"/>
                <a:gd name="T18" fmla="*/ 167 w 176"/>
                <a:gd name="T19" fmla="*/ 154 h 274"/>
                <a:gd name="T20" fmla="*/ 170 w 176"/>
                <a:gd name="T21" fmla="*/ 154 h 274"/>
                <a:gd name="T22" fmla="*/ 176 w 176"/>
                <a:gd name="T23" fmla="*/ 154 h 274"/>
                <a:gd name="T24" fmla="*/ 176 w 176"/>
                <a:gd name="T25" fmla="*/ 26 h 274"/>
                <a:gd name="T26" fmla="*/ 152 w 176"/>
                <a:gd name="T27" fmla="*/ 0 h 274"/>
                <a:gd name="T28" fmla="*/ 24 w 176"/>
                <a:gd name="T29" fmla="*/ 0 h 274"/>
                <a:gd name="T30" fmla="*/ 0 w 176"/>
                <a:gd name="T31" fmla="*/ 26 h 274"/>
                <a:gd name="T32" fmla="*/ 0 w 176"/>
                <a:gd name="T33" fmla="*/ 247 h 274"/>
                <a:gd name="T34" fmla="*/ 24 w 176"/>
                <a:gd name="T35" fmla="*/ 274 h 274"/>
                <a:gd name="T36" fmla="*/ 82 w 176"/>
                <a:gd name="T37" fmla="*/ 274 h 274"/>
                <a:gd name="T38" fmla="*/ 52 w 176"/>
                <a:gd name="T39" fmla="*/ 234 h 274"/>
                <a:gd name="T40" fmla="*/ 50 w 176"/>
                <a:gd name="T41" fmla="*/ 223 h 274"/>
                <a:gd name="T42" fmla="*/ 55 w 176"/>
                <a:gd name="T43" fmla="*/ 242 h 274"/>
                <a:gd name="T44" fmla="*/ 50 w 176"/>
                <a:gd name="T45" fmla="*/ 247 h 274"/>
                <a:gd name="T46" fmla="*/ 25 w 176"/>
                <a:gd name="T47" fmla="*/ 247 h 274"/>
                <a:gd name="T48" fmla="*/ 20 w 176"/>
                <a:gd name="T49" fmla="*/ 242 h 274"/>
                <a:gd name="T50" fmla="*/ 25 w 176"/>
                <a:gd name="T51" fmla="*/ 236 h 274"/>
                <a:gd name="T52" fmla="*/ 50 w 176"/>
                <a:gd name="T53" fmla="*/ 236 h 274"/>
                <a:gd name="T54" fmla="*/ 55 w 176"/>
                <a:gd name="T55" fmla="*/ 242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6" h="274">
                  <a:moveTo>
                    <a:pt x="50" y="223"/>
                  </a:moveTo>
                  <a:cubicBezTo>
                    <a:pt x="51" y="218"/>
                    <a:pt x="54" y="213"/>
                    <a:pt x="57" y="208"/>
                  </a:cubicBezTo>
                  <a:cubicBezTo>
                    <a:pt x="26" y="208"/>
                    <a:pt x="26" y="208"/>
                    <a:pt x="26" y="208"/>
                  </a:cubicBezTo>
                  <a:cubicBezTo>
                    <a:pt x="22" y="208"/>
                    <a:pt x="19" y="205"/>
                    <a:pt x="19" y="200"/>
                  </a:cubicBezTo>
                  <a:cubicBezTo>
                    <a:pt x="19" y="29"/>
                    <a:pt x="19" y="29"/>
                    <a:pt x="19" y="29"/>
                  </a:cubicBezTo>
                  <a:cubicBezTo>
                    <a:pt x="19" y="24"/>
                    <a:pt x="22" y="21"/>
                    <a:pt x="26" y="21"/>
                  </a:cubicBezTo>
                  <a:cubicBezTo>
                    <a:pt x="150" y="21"/>
                    <a:pt x="150" y="21"/>
                    <a:pt x="150" y="21"/>
                  </a:cubicBezTo>
                  <a:cubicBezTo>
                    <a:pt x="154" y="21"/>
                    <a:pt x="158" y="24"/>
                    <a:pt x="158" y="29"/>
                  </a:cubicBezTo>
                  <a:cubicBezTo>
                    <a:pt x="158" y="147"/>
                    <a:pt x="158" y="147"/>
                    <a:pt x="158" y="147"/>
                  </a:cubicBezTo>
                  <a:cubicBezTo>
                    <a:pt x="161" y="148"/>
                    <a:pt x="164" y="151"/>
                    <a:pt x="167" y="154"/>
                  </a:cubicBezTo>
                  <a:cubicBezTo>
                    <a:pt x="168" y="154"/>
                    <a:pt x="169" y="154"/>
                    <a:pt x="170" y="154"/>
                  </a:cubicBezTo>
                  <a:cubicBezTo>
                    <a:pt x="176" y="154"/>
                    <a:pt x="176" y="154"/>
                    <a:pt x="176" y="154"/>
                  </a:cubicBezTo>
                  <a:cubicBezTo>
                    <a:pt x="176" y="26"/>
                    <a:pt x="176" y="26"/>
                    <a:pt x="176" y="26"/>
                  </a:cubicBezTo>
                  <a:cubicBezTo>
                    <a:pt x="176" y="12"/>
                    <a:pt x="165" y="0"/>
                    <a:pt x="152" y="0"/>
                  </a:cubicBezTo>
                  <a:cubicBezTo>
                    <a:pt x="24" y="0"/>
                    <a:pt x="24" y="0"/>
                    <a:pt x="24" y="0"/>
                  </a:cubicBezTo>
                  <a:cubicBezTo>
                    <a:pt x="11" y="0"/>
                    <a:pt x="0" y="12"/>
                    <a:pt x="0" y="26"/>
                  </a:cubicBezTo>
                  <a:cubicBezTo>
                    <a:pt x="0" y="247"/>
                    <a:pt x="0" y="247"/>
                    <a:pt x="0" y="247"/>
                  </a:cubicBezTo>
                  <a:cubicBezTo>
                    <a:pt x="0" y="262"/>
                    <a:pt x="11" y="274"/>
                    <a:pt x="24" y="274"/>
                  </a:cubicBezTo>
                  <a:cubicBezTo>
                    <a:pt x="82" y="274"/>
                    <a:pt x="82" y="274"/>
                    <a:pt x="82" y="274"/>
                  </a:cubicBezTo>
                  <a:cubicBezTo>
                    <a:pt x="52" y="234"/>
                    <a:pt x="52" y="234"/>
                    <a:pt x="52" y="234"/>
                  </a:cubicBezTo>
                  <a:cubicBezTo>
                    <a:pt x="49" y="231"/>
                    <a:pt x="48" y="227"/>
                    <a:pt x="50" y="223"/>
                  </a:cubicBezTo>
                  <a:close/>
                  <a:moveTo>
                    <a:pt x="55" y="242"/>
                  </a:moveTo>
                  <a:cubicBezTo>
                    <a:pt x="55" y="245"/>
                    <a:pt x="53" y="247"/>
                    <a:pt x="50" y="247"/>
                  </a:cubicBezTo>
                  <a:cubicBezTo>
                    <a:pt x="25" y="247"/>
                    <a:pt x="25" y="247"/>
                    <a:pt x="25" y="247"/>
                  </a:cubicBezTo>
                  <a:cubicBezTo>
                    <a:pt x="22" y="247"/>
                    <a:pt x="20" y="245"/>
                    <a:pt x="20" y="242"/>
                  </a:cubicBezTo>
                  <a:cubicBezTo>
                    <a:pt x="20" y="239"/>
                    <a:pt x="22" y="236"/>
                    <a:pt x="25" y="236"/>
                  </a:cubicBezTo>
                  <a:cubicBezTo>
                    <a:pt x="50" y="236"/>
                    <a:pt x="50" y="236"/>
                    <a:pt x="50" y="236"/>
                  </a:cubicBezTo>
                  <a:cubicBezTo>
                    <a:pt x="53" y="236"/>
                    <a:pt x="55" y="239"/>
                    <a:pt x="55" y="2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1" name="Group 20">
            <a:extLst>
              <a:ext uri="{FF2B5EF4-FFF2-40B4-BE49-F238E27FC236}">
                <a16:creationId xmlns:a16="http://schemas.microsoft.com/office/drawing/2014/main" xmlns="" id="{26C05296-0945-4CC0-B8D0-97FFEC3FDC8F}"/>
              </a:ext>
            </a:extLst>
          </p:cNvPr>
          <p:cNvGrpSpPr/>
          <p:nvPr/>
        </p:nvGrpSpPr>
        <p:grpSpPr>
          <a:xfrm>
            <a:off x="1373103" y="4397941"/>
            <a:ext cx="615950" cy="1008063"/>
            <a:chOff x="617538" y="3619500"/>
            <a:chExt cx="615950" cy="1008063"/>
          </a:xfrm>
          <a:solidFill>
            <a:srgbClr val="04465F"/>
          </a:solidFill>
        </p:grpSpPr>
        <p:sp>
          <p:nvSpPr>
            <p:cNvPr id="22" name="Freeform 83">
              <a:extLst>
                <a:ext uri="{FF2B5EF4-FFF2-40B4-BE49-F238E27FC236}">
                  <a16:creationId xmlns:a16="http://schemas.microsoft.com/office/drawing/2014/main" xmlns="" id="{32FFB413-EF63-4CD8-8894-A6807C48AC0B}"/>
                </a:ext>
              </a:extLst>
            </p:cNvPr>
            <p:cNvSpPr>
              <a:spLocks noEditPoints="1"/>
            </p:cNvSpPr>
            <p:nvPr/>
          </p:nvSpPr>
          <p:spPr bwMode="auto">
            <a:xfrm>
              <a:off x="814388" y="3957638"/>
              <a:ext cx="419100" cy="669925"/>
            </a:xfrm>
            <a:custGeom>
              <a:avLst/>
              <a:gdLst>
                <a:gd name="T0" fmla="*/ 41 w 144"/>
                <a:gd name="T1" fmla="*/ 180 h 230"/>
                <a:gd name="T2" fmla="*/ 50 w 144"/>
                <a:gd name="T3" fmla="*/ 195 h 230"/>
                <a:gd name="T4" fmla="*/ 50 w 144"/>
                <a:gd name="T5" fmla="*/ 227 h 230"/>
                <a:gd name="T6" fmla="*/ 57 w 144"/>
                <a:gd name="T7" fmla="*/ 230 h 230"/>
                <a:gd name="T8" fmla="*/ 128 w 144"/>
                <a:gd name="T9" fmla="*/ 227 h 230"/>
                <a:gd name="T10" fmla="*/ 128 w 144"/>
                <a:gd name="T11" fmla="*/ 194 h 230"/>
                <a:gd name="T12" fmla="*/ 134 w 144"/>
                <a:gd name="T13" fmla="*/ 180 h 230"/>
                <a:gd name="T14" fmla="*/ 143 w 144"/>
                <a:gd name="T15" fmla="*/ 134 h 230"/>
                <a:gd name="T16" fmla="*/ 144 w 144"/>
                <a:gd name="T17" fmla="*/ 99 h 230"/>
                <a:gd name="T18" fmla="*/ 143 w 144"/>
                <a:gd name="T19" fmla="*/ 83 h 230"/>
                <a:gd name="T20" fmla="*/ 125 w 144"/>
                <a:gd name="T21" fmla="*/ 65 h 230"/>
                <a:gd name="T22" fmla="*/ 118 w 144"/>
                <a:gd name="T23" fmla="*/ 65 h 230"/>
                <a:gd name="T24" fmla="*/ 101 w 144"/>
                <a:gd name="T25" fmla="*/ 55 h 230"/>
                <a:gd name="T26" fmla="*/ 93 w 144"/>
                <a:gd name="T27" fmla="*/ 55 h 230"/>
                <a:gd name="T28" fmla="*/ 73 w 144"/>
                <a:gd name="T29" fmla="*/ 47 h 230"/>
                <a:gd name="T30" fmla="*/ 71 w 144"/>
                <a:gd name="T31" fmla="*/ 10 h 230"/>
                <a:gd name="T32" fmla="*/ 55 w 144"/>
                <a:gd name="T33" fmla="*/ 0 h 230"/>
                <a:gd name="T34" fmla="*/ 36 w 144"/>
                <a:gd name="T35" fmla="*/ 6 h 230"/>
                <a:gd name="T36" fmla="*/ 31 w 144"/>
                <a:gd name="T37" fmla="*/ 81 h 230"/>
                <a:gd name="T38" fmla="*/ 1 w 144"/>
                <a:gd name="T39" fmla="*/ 109 h 230"/>
                <a:gd name="T40" fmla="*/ 36 w 144"/>
                <a:gd name="T41" fmla="*/ 161 h 230"/>
                <a:gd name="T42" fmla="*/ 41 w 144"/>
                <a:gd name="T43" fmla="*/ 19 h 230"/>
                <a:gd name="T44" fmla="*/ 49 w 144"/>
                <a:gd name="T45" fmla="*/ 10 h 230"/>
                <a:gd name="T46" fmla="*/ 55 w 144"/>
                <a:gd name="T47" fmla="*/ 10 h 230"/>
                <a:gd name="T48" fmla="*/ 63 w 144"/>
                <a:gd name="T49" fmla="*/ 19 h 230"/>
                <a:gd name="T50" fmla="*/ 64 w 144"/>
                <a:gd name="T51" fmla="*/ 92 h 230"/>
                <a:gd name="T52" fmla="*/ 66 w 144"/>
                <a:gd name="T53" fmla="*/ 60 h 230"/>
                <a:gd name="T54" fmla="*/ 78 w 144"/>
                <a:gd name="T55" fmla="*/ 57 h 230"/>
                <a:gd name="T56" fmla="*/ 86 w 144"/>
                <a:gd name="T57" fmla="*/ 62 h 230"/>
                <a:gd name="T58" fmla="*/ 87 w 144"/>
                <a:gd name="T59" fmla="*/ 92 h 230"/>
                <a:gd name="T60" fmla="*/ 87 w 144"/>
                <a:gd name="T61" fmla="*/ 92 h 230"/>
                <a:gd name="T62" fmla="*/ 90 w 144"/>
                <a:gd name="T63" fmla="*/ 67 h 230"/>
                <a:gd name="T64" fmla="*/ 101 w 144"/>
                <a:gd name="T65" fmla="*/ 64 h 230"/>
                <a:gd name="T66" fmla="*/ 109 w 144"/>
                <a:gd name="T67" fmla="*/ 69 h 230"/>
                <a:gd name="T68" fmla="*/ 110 w 144"/>
                <a:gd name="T69" fmla="*/ 92 h 230"/>
                <a:gd name="T70" fmla="*/ 111 w 144"/>
                <a:gd name="T71" fmla="*/ 84 h 230"/>
                <a:gd name="T72" fmla="*/ 119 w 144"/>
                <a:gd name="T73" fmla="*/ 75 h 230"/>
                <a:gd name="T74" fmla="*/ 125 w 144"/>
                <a:gd name="T75" fmla="*/ 75 h 230"/>
                <a:gd name="T76" fmla="*/ 134 w 144"/>
                <a:gd name="T77" fmla="*/ 83 h 230"/>
                <a:gd name="T78" fmla="*/ 134 w 144"/>
                <a:gd name="T79" fmla="*/ 101 h 230"/>
                <a:gd name="T80" fmla="*/ 131 w 144"/>
                <a:gd name="T81" fmla="*/ 151 h 230"/>
                <a:gd name="T82" fmla="*/ 114 w 144"/>
                <a:gd name="T83" fmla="*/ 185 h 230"/>
                <a:gd name="T84" fmla="*/ 61 w 144"/>
                <a:gd name="T85" fmla="*/ 186 h 230"/>
                <a:gd name="T86" fmla="*/ 50 w 144"/>
                <a:gd name="T87" fmla="*/ 177 h 230"/>
                <a:gd name="T88" fmla="*/ 11 w 144"/>
                <a:gd name="T89" fmla="*/ 112 h 230"/>
                <a:gd name="T90" fmla="*/ 41 w 144"/>
                <a:gd name="T91" fmla="*/ 100 h 230"/>
                <a:gd name="T92" fmla="*/ 121 w 144"/>
                <a:gd name="T93" fmla="*/ 220 h 230"/>
                <a:gd name="T94" fmla="*/ 59 w 144"/>
                <a:gd name="T95" fmla="*/ 195 h 230"/>
                <a:gd name="T96" fmla="*/ 119 w 144"/>
                <a:gd name="T97" fmla="*/ 195 h 230"/>
                <a:gd name="T98" fmla="*/ 121 w 144"/>
                <a:gd name="T99" fmla="*/ 22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4" h="230">
                  <a:moveTo>
                    <a:pt x="36" y="161"/>
                  </a:moveTo>
                  <a:cubicBezTo>
                    <a:pt x="41" y="180"/>
                    <a:pt x="41" y="180"/>
                    <a:pt x="41" y="180"/>
                  </a:cubicBezTo>
                  <a:cubicBezTo>
                    <a:pt x="42" y="185"/>
                    <a:pt x="46" y="190"/>
                    <a:pt x="50" y="192"/>
                  </a:cubicBezTo>
                  <a:cubicBezTo>
                    <a:pt x="50" y="193"/>
                    <a:pt x="50" y="194"/>
                    <a:pt x="50" y="195"/>
                  </a:cubicBezTo>
                  <a:cubicBezTo>
                    <a:pt x="48" y="221"/>
                    <a:pt x="48" y="221"/>
                    <a:pt x="48" y="221"/>
                  </a:cubicBezTo>
                  <a:cubicBezTo>
                    <a:pt x="48" y="223"/>
                    <a:pt x="49" y="226"/>
                    <a:pt x="50" y="227"/>
                  </a:cubicBezTo>
                  <a:cubicBezTo>
                    <a:pt x="52" y="229"/>
                    <a:pt x="54" y="230"/>
                    <a:pt x="57" y="230"/>
                  </a:cubicBezTo>
                  <a:cubicBezTo>
                    <a:pt x="57" y="230"/>
                    <a:pt x="57" y="230"/>
                    <a:pt x="57" y="230"/>
                  </a:cubicBezTo>
                  <a:cubicBezTo>
                    <a:pt x="122" y="230"/>
                    <a:pt x="122" y="230"/>
                    <a:pt x="122" y="230"/>
                  </a:cubicBezTo>
                  <a:cubicBezTo>
                    <a:pt x="124" y="230"/>
                    <a:pt x="126" y="228"/>
                    <a:pt x="128" y="227"/>
                  </a:cubicBezTo>
                  <a:cubicBezTo>
                    <a:pt x="130" y="225"/>
                    <a:pt x="131" y="222"/>
                    <a:pt x="131" y="220"/>
                  </a:cubicBezTo>
                  <a:cubicBezTo>
                    <a:pt x="128" y="194"/>
                    <a:pt x="128" y="194"/>
                    <a:pt x="128" y="194"/>
                  </a:cubicBezTo>
                  <a:cubicBezTo>
                    <a:pt x="128" y="193"/>
                    <a:pt x="128" y="192"/>
                    <a:pt x="127" y="191"/>
                  </a:cubicBezTo>
                  <a:cubicBezTo>
                    <a:pt x="131" y="188"/>
                    <a:pt x="133" y="184"/>
                    <a:pt x="134" y="180"/>
                  </a:cubicBezTo>
                  <a:cubicBezTo>
                    <a:pt x="141" y="153"/>
                    <a:pt x="141" y="153"/>
                    <a:pt x="141" y="153"/>
                  </a:cubicBezTo>
                  <a:cubicBezTo>
                    <a:pt x="143" y="147"/>
                    <a:pt x="144" y="140"/>
                    <a:pt x="143" y="134"/>
                  </a:cubicBezTo>
                  <a:cubicBezTo>
                    <a:pt x="143" y="102"/>
                    <a:pt x="143" y="102"/>
                    <a:pt x="143" y="102"/>
                  </a:cubicBezTo>
                  <a:cubicBezTo>
                    <a:pt x="144" y="100"/>
                    <a:pt x="144" y="99"/>
                    <a:pt x="144" y="99"/>
                  </a:cubicBezTo>
                  <a:cubicBezTo>
                    <a:pt x="143" y="99"/>
                    <a:pt x="143" y="99"/>
                    <a:pt x="143" y="99"/>
                  </a:cubicBezTo>
                  <a:cubicBezTo>
                    <a:pt x="143" y="83"/>
                    <a:pt x="143" y="83"/>
                    <a:pt x="143" y="83"/>
                  </a:cubicBezTo>
                  <a:cubicBezTo>
                    <a:pt x="143" y="80"/>
                    <a:pt x="143" y="77"/>
                    <a:pt x="141" y="74"/>
                  </a:cubicBezTo>
                  <a:cubicBezTo>
                    <a:pt x="138" y="68"/>
                    <a:pt x="131" y="65"/>
                    <a:pt x="125" y="65"/>
                  </a:cubicBezTo>
                  <a:cubicBezTo>
                    <a:pt x="119" y="65"/>
                    <a:pt x="119" y="65"/>
                    <a:pt x="119" y="65"/>
                  </a:cubicBezTo>
                  <a:cubicBezTo>
                    <a:pt x="119" y="65"/>
                    <a:pt x="118" y="65"/>
                    <a:pt x="118" y="65"/>
                  </a:cubicBezTo>
                  <a:cubicBezTo>
                    <a:pt x="118" y="65"/>
                    <a:pt x="118" y="64"/>
                    <a:pt x="118" y="64"/>
                  </a:cubicBezTo>
                  <a:cubicBezTo>
                    <a:pt x="114" y="58"/>
                    <a:pt x="108" y="55"/>
                    <a:pt x="101" y="55"/>
                  </a:cubicBezTo>
                  <a:cubicBezTo>
                    <a:pt x="96" y="55"/>
                    <a:pt x="96" y="55"/>
                    <a:pt x="96" y="55"/>
                  </a:cubicBezTo>
                  <a:cubicBezTo>
                    <a:pt x="95" y="55"/>
                    <a:pt x="94" y="55"/>
                    <a:pt x="93" y="55"/>
                  </a:cubicBezTo>
                  <a:cubicBezTo>
                    <a:pt x="89" y="50"/>
                    <a:pt x="84" y="47"/>
                    <a:pt x="78" y="47"/>
                  </a:cubicBezTo>
                  <a:cubicBezTo>
                    <a:pt x="73" y="47"/>
                    <a:pt x="73" y="47"/>
                    <a:pt x="73" y="47"/>
                  </a:cubicBezTo>
                  <a:cubicBezTo>
                    <a:pt x="73" y="19"/>
                    <a:pt x="73" y="19"/>
                    <a:pt x="73" y="19"/>
                  </a:cubicBezTo>
                  <a:cubicBezTo>
                    <a:pt x="73" y="15"/>
                    <a:pt x="72" y="12"/>
                    <a:pt x="71" y="10"/>
                  </a:cubicBezTo>
                  <a:cubicBezTo>
                    <a:pt x="68" y="4"/>
                    <a:pt x="61" y="0"/>
                    <a:pt x="55" y="0"/>
                  </a:cubicBezTo>
                  <a:cubicBezTo>
                    <a:pt x="55" y="0"/>
                    <a:pt x="55" y="0"/>
                    <a:pt x="55" y="0"/>
                  </a:cubicBezTo>
                  <a:cubicBezTo>
                    <a:pt x="49" y="0"/>
                    <a:pt x="49" y="0"/>
                    <a:pt x="49" y="0"/>
                  </a:cubicBezTo>
                  <a:cubicBezTo>
                    <a:pt x="44" y="0"/>
                    <a:pt x="40" y="2"/>
                    <a:pt x="36" y="6"/>
                  </a:cubicBezTo>
                  <a:cubicBezTo>
                    <a:pt x="33" y="9"/>
                    <a:pt x="31" y="14"/>
                    <a:pt x="31" y="19"/>
                  </a:cubicBezTo>
                  <a:cubicBezTo>
                    <a:pt x="31" y="81"/>
                    <a:pt x="31" y="81"/>
                    <a:pt x="31" y="81"/>
                  </a:cubicBezTo>
                  <a:cubicBezTo>
                    <a:pt x="30" y="81"/>
                    <a:pt x="29" y="81"/>
                    <a:pt x="28" y="81"/>
                  </a:cubicBezTo>
                  <a:cubicBezTo>
                    <a:pt x="16" y="85"/>
                    <a:pt x="5" y="97"/>
                    <a:pt x="1" y="109"/>
                  </a:cubicBezTo>
                  <a:cubicBezTo>
                    <a:pt x="0" y="112"/>
                    <a:pt x="1" y="115"/>
                    <a:pt x="3" y="118"/>
                  </a:cubicBezTo>
                  <a:lnTo>
                    <a:pt x="36" y="161"/>
                  </a:lnTo>
                  <a:close/>
                  <a:moveTo>
                    <a:pt x="41" y="99"/>
                  </a:moveTo>
                  <a:cubicBezTo>
                    <a:pt x="41" y="19"/>
                    <a:pt x="41" y="19"/>
                    <a:pt x="41" y="19"/>
                  </a:cubicBezTo>
                  <a:cubicBezTo>
                    <a:pt x="41" y="17"/>
                    <a:pt x="42" y="14"/>
                    <a:pt x="43" y="13"/>
                  </a:cubicBezTo>
                  <a:cubicBezTo>
                    <a:pt x="45" y="11"/>
                    <a:pt x="47" y="10"/>
                    <a:pt x="49" y="10"/>
                  </a:cubicBezTo>
                  <a:cubicBezTo>
                    <a:pt x="55" y="10"/>
                    <a:pt x="55" y="10"/>
                    <a:pt x="55" y="10"/>
                  </a:cubicBezTo>
                  <a:cubicBezTo>
                    <a:pt x="55" y="10"/>
                    <a:pt x="55" y="10"/>
                    <a:pt x="55" y="10"/>
                  </a:cubicBezTo>
                  <a:cubicBezTo>
                    <a:pt x="58" y="10"/>
                    <a:pt x="61" y="12"/>
                    <a:pt x="62" y="14"/>
                  </a:cubicBezTo>
                  <a:cubicBezTo>
                    <a:pt x="63" y="16"/>
                    <a:pt x="63" y="17"/>
                    <a:pt x="63" y="19"/>
                  </a:cubicBezTo>
                  <a:cubicBezTo>
                    <a:pt x="63" y="92"/>
                    <a:pt x="63" y="92"/>
                    <a:pt x="63" y="92"/>
                  </a:cubicBezTo>
                  <a:cubicBezTo>
                    <a:pt x="64" y="92"/>
                    <a:pt x="64" y="92"/>
                    <a:pt x="64" y="92"/>
                  </a:cubicBezTo>
                  <a:cubicBezTo>
                    <a:pt x="64" y="66"/>
                    <a:pt x="64" y="66"/>
                    <a:pt x="64" y="66"/>
                  </a:cubicBezTo>
                  <a:cubicBezTo>
                    <a:pt x="64" y="64"/>
                    <a:pt x="65" y="62"/>
                    <a:pt x="66" y="60"/>
                  </a:cubicBezTo>
                  <a:cubicBezTo>
                    <a:pt x="68" y="58"/>
                    <a:pt x="70" y="57"/>
                    <a:pt x="73" y="57"/>
                  </a:cubicBezTo>
                  <a:cubicBezTo>
                    <a:pt x="78" y="57"/>
                    <a:pt x="78" y="57"/>
                    <a:pt x="78" y="57"/>
                  </a:cubicBezTo>
                  <a:cubicBezTo>
                    <a:pt x="78" y="57"/>
                    <a:pt x="78" y="57"/>
                    <a:pt x="78" y="57"/>
                  </a:cubicBezTo>
                  <a:cubicBezTo>
                    <a:pt x="81" y="57"/>
                    <a:pt x="84" y="59"/>
                    <a:pt x="86" y="62"/>
                  </a:cubicBezTo>
                  <a:cubicBezTo>
                    <a:pt x="86" y="63"/>
                    <a:pt x="87" y="65"/>
                    <a:pt x="87" y="66"/>
                  </a:cubicBezTo>
                  <a:cubicBezTo>
                    <a:pt x="87" y="92"/>
                    <a:pt x="87" y="92"/>
                    <a:pt x="87" y="92"/>
                  </a:cubicBezTo>
                  <a:cubicBezTo>
                    <a:pt x="87" y="92"/>
                    <a:pt x="87" y="92"/>
                    <a:pt x="87" y="92"/>
                  </a:cubicBezTo>
                  <a:cubicBezTo>
                    <a:pt x="87" y="92"/>
                    <a:pt x="87" y="92"/>
                    <a:pt x="87" y="92"/>
                  </a:cubicBezTo>
                  <a:cubicBezTo>
                    <a:pt x="87" y="73"/>
                    <a:pt x="87" y="73"/>
                    <a:pt x="87" y="73"/>
                  </a:cubicBezTo>
                  <a:cubicBezTo>
                    <a:pt x="87" y="71"/>
                    <a:pt x="88" y="69"/>
                    <a:pt x="90" y="67"/>
                  </a:cubicBezTo>
                  <a:cubicBezTo>
                    <a:pt x="91" y="65"/>
                    <a:pt x="94" y="65"/>
                    <a:pt x="96" y="65"/>
                  </a:cubicBezTo>
                  <a:cubicBezTo>
                    <a:pt x="101" y="64"/>
                    <a:pt x="101" y="64"/>
                    <a:pt x="101" y="64"/>
                  </a:cubicBezTo>
                  <a:cubicBezTo>
                    <a:pt x="101" y="64"/>
                    <a:pt x="101" y="64"/>
                    <a:pt x="101" y="64"/>
                  </a:cubicBezTo>
                  <a:cubicBezTo>
                    <a:pt x="104" y="64"/>
                    <a:pt x="107" y="66"/>
                    <a:pt x="109" y="69"/>
                  </a:cubicBezTo>
                  <a:cubicBezTo>
                    <a:pt x="110" y="70"/>
                    <a:pt x="110" y="72"/>
                    <a:pt x="110" y="73"/>
                  </a:cubicBezTo>
                  <a:cubicBezTo>
                    <a:pt x="110" y="92"/>
                    <a:pt x="110" y="92"/>
                    <a:pt x="110" y="92"/>
                  </a:cubicBezTo>
                  <a:cubicBezTo>
                    <a:pt x="111" y="92"/>
                    <a:pt x="111" y="92"/>
                    <a:pt x="111" y="92"/>
                  </a:cubicBezTo>
                  <a:cubicBezTo>
                    <a:pt x="111" y="84"/>
                    <a:pt x="111" y="84"/>
                    <a:pt x="111" y="84"/>
                  </a:cubicBezTo>
                  <a:cubicBezTo>
                    <a:pt x="111" y="81"/>
                    <a:pt x="112" y="79"/>
                    <a:pt x="113" y="77"/>
                  </a:cubicBezTo>
                  <a:cubicBezTo>
                    <a:pt x="115" y="76"/>
                    <a:pt x="117" y="75"/>
                    <a:pt x="119" y="75"/>
                  </a:cubicBezTo>
                  <a:cubicBezTo>
                    <a:pt x="125" y="75"/>
                    <a:pt x="125" y="75"/>
                    <a:pt x="125" y="75"/>
                  </a:cubicBezTo>
                  <a:cubicBezTo>
                    <a:pt x="125" y="75"/>
                    <a:pt x="125" y="75"/>
                    <a:pt x="125" y="75"/>
                  </a:cubicBezTo>
                  <a:cubicBezTo>
                    <a:pt x="128" y="75"/>
                    <a:pt x="131" y="76"/>
                    <a:pt x="132" y="79"/>
                  </a:cubicBezTo>
                  <a:cubicBezTo>
                    <a:pt x="133" y="80"/>
                    <a:pt x="134" y="82"/>
                    <a:pt x="134" y="83"/>
                  </a:cubicBezTo>
                  <a:cubicBezTo>
                    <a:pt x="134" y="99"/>
                    <a:pt x="134" y="99"/>
                    <a:pt x="134" y="99"/>
                  </a:cubicBezTo>
                  <a:cubicBezTo>
                    <a:pt x="134" y="100"/>
                    <a:pt x="134" y="100"/>
                    <a:pt x="134" y="101"/>
                  </a:cubicBezTo>
                  <a:cubicBezTo>
                    <a:pt x="134" y="134"/>
                    <a:pt x="134" y="134"/>
                    <a:pt x="134" y="134"/>
                  </a:cubicBezTo>
                  <a:cubicBezTo>
                    <a:pt x="134" y="140"/>
                    <a:pt x="133" y="145"/>
                    <a:pt x="131" y="151"/>
                  </a:cubicBezTo>
                  <a:cubicBezTo>
                    <a:pt x="125" y="177"/>
                    <a:pt x="125" y="177"/>
                    <a:pt x="125" y="177"/>
                  </a:cubicBezTo>
                  <a:cubicBezTo>
                    <a:pt x="124" y="182"/>
                    <a:pt x="119" y="185"/>
                    <a:pt x="114" y="185"/>
                  </a:cubicBezTo>
                  <a:cubicBezTo>
                    <a:pt x="88" y="186"/>
                    <a:pt x="88" y="186"/>
                    <a:pt x="88" y="186"/>
                  </a:cubicBezTo>
                  <a:cubicBezTo>
                    <a:pt x="61" y="186"/>
                    <a:pt x="61" y="186"/>
                    <a:pt x="61" y="186"/>
                  </a:cubicBezTo>
                  <a:cubicBezTo>
                    <a:pt x="61" y="186"/>
                    <a:pt x="61" y="186"/>
                    <a:pt x="61" y="186"/>
                  </a:cubicBezTo>
                  <a:cubicBezTo>
                    <a:pt x="56" y="186"/>
                    <a:pt x="52" y="182"/>
                    <a:pt x="50" y="177"/>
                  </a:cubicBezTo>
                  <a:cubicBezTo>
                    <a:pt x="45" y="156"/>
                    <a:pt x="45" y="156"/>
                    <a:pt x="45" y="156"/>
                  </a:cubicBezTo>
                  <a:cubicBezTo>
                    <a:pt x="11" y="112"/>
                    <a:pt x="11" y="112"/>
                    <a:pt x="11" y="112"/>
                  </a:cubicBezTo>
                  <a:cubicBezTo>
                    <a:pt x="14" y="103"/>
                    <a:pt x="23" y="94"/>
                    <a:pt x="31" y="91"/>
                  </a:cubicBezTo>
                  <a:cubicBezTo>
                    <a:pt x="41" y="100"/>
                    <a:pt x="41" y="100"/>
                    <a:pt x="41" y="100"/>
                  </a:cubicBezTo>
                  <a:cubicBezTo>
                    <a:pt x="41" y="100"/>
                    <a:pt x="41" y="99"/>
                    <a:pt x="41" y="99"/>
                  </a:cubicBezTo>
                  <a:close/>
                  <a:moveTo>
                    <a:pt x="121" y="220"/>
                  </a:moveTo>
                  <a:cubicBezTo>
                    <a:pt x="57" y="221"/>
                    <a:pt x="57" y="221"/>
                    <a:pt x="57" y="221"/>
                  </a:cubicBezTo>
                  <a:cubicBezTo>
                    <a:pt x="59" y="195"/>
                    <a:pt x="59" y="195"/>
                    <a:pt x="59" y="195"/>
                  </a:cubicBezTo>
                  <a:cubicBezTo>
                    <a:pt x="59" y="195"/>
                    <a:pt x="59" y="195"/>
                    <a:pt x="59" y="195"/>
                  </a:cubicBezTo>
                  <a:cubicBezTo>
                    <a:pt x="119" y="195"/>
                    <a:pt x="119" y="195"/>
                    <a:pt x="119" y="195"/>
                  </a:cubicBezTo>
                  <a:cubicBezTo>
                    <a:pt x="119" y="195"/>
                    <a:pt x="119" y="195"/>
                    <a:pt x="119" y="195"/>
                  </a:cubicBezTo>
                  <a:lnTo>
                    <a:pt x="121" y="2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84">
              <a:extLst>
                <a:ext uri="{FF2B5EF4-FFF2-40B4-BE49-F238E27FC236}">
                  <a16:creationId xmlns:a16="http://schemas.microsoft.com/office/drawing/2014/main" xmlns="" id="{D1C1E6E7-A04F-4D0C-BF32-629DDAF61277}"/>
                </a:ext>
              </a:extLst>
            </p:cNvPr>
            <p:cNvSpPr>
              <a:spLocks noEditPoints="1"/>
            </p:cNvSpPr>
            <p:nvPr/>
          </p:nvSpPr>
          <p:spPr bwMode="auto">
            <a:xfrm>
              <a:off x="617538" y="3619500"/>
              <a:ext cx="511175" cy="798513"/>
            </a:xfrm>
            <a:custGeom>
              <a:avLst/>
              <a:gdLst>
                <a:gd name="T0" fmla="*/ 50 w 176"/>
                <a:gd name="T1" fmla="*/ 223 h 274"/>
                <a:gd name="T2" fmla="*/ 57 w 176"/>
                <a:gd name="T3" fmla="*/ 208 h 274"/>
                <a:gd name="T4" fmla="*/ 26 w 176"/>
                <a:gd name="T5" fmla="*/ 208 h 274"/>
                <a:gd name="T6" fmla="*/ 19 w 176"/>
                <a:gd name="T7" fmla="*/ 200 h 274"/>
                <a:gd name="T8" fmla="*/ 19 w 176"/>
                <a:gd name="T9" fmla="*/ 29 h 274"/>
                <a:gd name="T10" fmla="*/ 26 w 176"/>
                <a:gd name="T11" fmla="*/ 21 h 274"/>
                <a:gd name="T12" fmla="*/ 150 w 176"/>
                <a:gd name="T13" fmla="*/ 21 h 274"/>
                <a:gd name="T14" fmla="*/ 158 w 176"/>
                <a:gd name="T15" fmla="*/ 29 h 274"/>
                <a:gd name="T16" fmla="*/ 158 w 176"/>
                <a:gd name="T17" fmla="*/ 147 h 274"/>
                <a:gd name="T18" fmla="*/ 167 w 176"/>
                <a:gd name="T19" fmla="*/ 154 h 274"/>
                <a:gd name="T20" fmla="*/ 170 w 176"/>
                <a:gd name="T21" fmla="*/ 154 h 274"/>
                <a:gd name="T22" fmla="*/ 176 w 176"/>
                <a:gd name="T23" fmla="*/ 154 h 274"/>
                <a:gd name="T24" fmla="*/ 176 w 176"/>
                <a:gd name="T25" fmla="*/ 26 h 274"/>
                <a:gd name="T26" fmla="*/ 152 w 176"/>
                <a:gd name="T27" fmla="*/ 0 h 274"/>
                <a:gd name="T28" fmla="*/ 24 w 176"/>
                <a:gd name="T29" fmla="*/ 0 h 274"/>
                <a:gd name="T30" fmla="*/ 0 w 176"/>
                <a:gd name="T31" fmla="*/ 26 h 274"/>
                <a:gd name="T32" fmla="*/ 0 w 176"/>
                <a:gd name="T33" fmla="*/ 247 h 274"/>
                <a:gd name="T34" fmla="*/ 24 w 176"/>
                <a:gd name="T35" fmla="*/ 274 h 274"/>
                <a:gd name="T36" fmla="*/ 82 w 176"/>
                <a:gd name="T37" fmla="*/ 274 h 274"/>
                <a:gd name="T38" fmla="*/ 52 w 176"/>
                <a:gd name="T39" fmla="*/ 234 h 274"/>
                <a:gd name="T40" fmla="*/ 50 w 176"/>
                <a:gd name="T41" fmla="*/ 223 h 274"/>
                <a:gd name="T42" fmla="*/ 55 w 176"/>
                <a:gd name="T43" fmla="*/ 242 h 274"/>
                <a:gd name="T44" fmla="*/ 50 w 176"/>
                <a:gd name="T45" fmla="*/ 247 h 274"/>
                <a:gd name="T46" fmla="*/ 25 w 176"/>
                <a:gd name="T47" fmla="*/ 247 h 274"/>
                <a:gd name="T48" fmla="*/ 20 w 176"/>
                <a:gd name="T49" fmla="*/ 242 h 274"/>
                <a:gd name="T50" fmla="*/ 25 w 176"/>
                <a:gd name="T51" fmla="*/ 236 h 274"/>
                <a:gd name="T52" fmla="*/ 50 w 176"/>
                <a:gd name="T53" fmla="*/ 236 h 274"/>
                <a:gd name="T54" fmla="*/ 55 w 176"/>
                <a:gd name="T55" fmla="*/ 242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6" h="274">
                  <a:moveTo>
                    <a:pt x="50" y="223"/>
                  </a:moveTo>
                  <a:cubicBezTo>
                    <a:pt x="51" y="218"/>
                    <a:pt x="54" y="213"/>
                    <a:pt x="57" y="208"/>
                  </a:cubicBezTo>
                  <a:cubicBezTo>
                    <a:pt x="26" y="208"/>
                    <a:pt x="26" y="208"/>
                    <a:pt x="26" y="208"/>
                  </a:cubicBezTo>
                  <a:cubicBezTo>
                    <a:pt x="22" y="208"/>
                    <a:pt x="19" y="205"/>
                    <a:pt x="19" y="200"/>
                  </a:cubicBezTo>
                  <a:cubicBezTo>
                    <a:pt x="19" y="29"/>
                    <a:pt x="19" y="29"/>
                    <a:pt x="19" y="29"/>
                  </a:cubicBezTo>
                  <a:cubicBezTo>
                    <a:pt x="19" y="24"/>
                    <a:pt x="22" y="21"/>
                    <a:pt x="26" y="21"/>
                  </a:cubicBezTo>
                  <a:cubicBezTo>
                    <a:pt x="150" y="21"/>
                    <a:pt x="150" y="21"/>
                    <a:pt x="150" y="21"/>
                  </a:cubicBezTo>
                  <a:cubicBezTo>
                    <a:pt x="154" y="21"/>
                    <a:pt x="158" y="24"/>
                    <a:pt x="158" y="29"/>
                  </a:cubicBezTo>
                  <a:cubicBezTo>
                    <a:pt x="158" y="147"/>
                    <a:pt x="158" y="147"/>
                    <a:pt x="158" y="147"/>
                  </a:cubicBezTo>
                  <a:cubicBezTo>
                    <a:pt x="161" y="148"/>
                    <a:pt x="164" y="151"/>
                    <a:pt x="167" y="154"/>
                  </a:cubicBezTo>
                  <a:cubicBezTo>
                    <a:pt x="168" y="154"/>
                    <a:pt x="169" y="154"/>
                    <a:pt x="170" y="154"/>
                  </a:cubicBezTo>
                  <a:cubicBezTo>
                    <a:pt x="176" y="154"/>
                    <a:pt x="176" y="154"/>
                    <a:pt x="176" y="154"/>
                  </a:cubicBezTo>
                  <a:cubicBezTo>
                    <a:pt x="176" y="26"/>
                    <a:pt x="176" y="26"/>
                    <a:pt x="176" y="26"/>
                  </a:cubicBezTo>
                  <a:cubicBezTo>
                    <a:pt x="176" y="12"/>
                    <a:pt x="165" y="0"/>
                    <a:pt x="152" y="0"/>
                  </a:cubicBezTo>
                  <a:cubicBezTo>
                    <a:pt x="24" y="0"/>
                    <a:pt x="24" y="0"/>
                    <a:pt x="24" y="0"/>
                  </a:cubicBezTo>
                  <a:cubicBezTo>
                    <a:pt x="11" y="0"/>
                    <a:pt x="0" y="12"/>
                    <a:pt x="0" y="26"/>
                  </a:cubicBezTo>
                  <a:cubicBezTo>
                    <a:pt x="0" y="247"/>
                    <a:pt x="0" y="247"/>
                    <a:pt x="0" y="247"/>
                  </a:cubicBezTo>
                  <a:cubicBezTo>
                    <a:pt x="0" y="262"/>
                    <a:pt x="11" y="274"/>
                    <a:pt x="24" y="274"/>
                  </a:cubicBezTo>
                  <a:cubicBezTo>
                    <a:pt x="82" y="274"/>
                    <a:pt x="82" y="274"/>
                    <a:pt x="82" y="274"/>
                  </a:cubicBezTo>
                  <a:cubicBezTo>
                    <a:pt x="52" y="234"/>
                    <a:pt x="52" y="234"/>
                    <a:pt x="52" y="234"/>
                  </a:cubicBezTo>
                  <a:cubicBezTo>
                    <a:pt x="49" y="231"/>
                    <a:pt x="48" y="227"/>
                    <a:pt x="50" y="223"/>
                  </a:cubicBezTo>
                  <a:close/>
                  <a:moveTo>
                    <a:pt x="55" y="242"/>
                  </a:moveTo>
                  <a:cubicBezTo>
                    <a:pt x="55" y="245"/>
                    <a:pt x="53" y="247"/>
                    <a:pt x="50" y="247"/>
                  </a:cubicBezTo>
                  <a:cubicBezTo>
                    <a:pt x="25" y="247"/>
                    <a:pt x="25" y="247"/>
                    <a:pt x="25" y="247"/>
                  </a:cubicBezTo>
                  <a:cubicBezTo>
                    <a:pt x="22" y="247"/>
                    <a:pt x="20" y="245"/>
                    <a:pt x="20" y="242"/>
                  </a:cubicBezTo>
                  <a:cubicBezTo>
                    <a:pt x="20" y="239"/>
                    <a:pt x="22" y="236"/>
                    <a:pt x="25" y="236"/>
                  </a:cubicBezTo>
                  <a:cubicBezTo>
                    <a:pt x="50" y="236"/>
                    <a:pt x="50" y="236"/>
                    <a:pt x="50" y="236"/>
                  </a:cubicBezTo>
                  <a:cubicBezTo>
                    <a:pt x="53" y="236"/>
                    <a:pt x="55" y="239"/>
                    <a:pt x="55" y="2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5" name="Group 24">
            <a:extLst>
              <a:ext uri="{FF2B5EF4-FFF2-40B4-BE49-F238E27FC236}">
                <a16:creationId xmlns:a16="http://schemas.microsoft.com/office/drawing/2014/main" xmlns="" id="{A65D2B8F-4794-45FC-AEA2-48FEE13690CC}"/>
              </a:ext>
            </a:extLst>
          </p:cNvPr>
          <p:cNvGrpSpPr/>
          <p:nvPr/>
        </p:nvGrpSpPr>
        <p:grpSpPr>
          <a:xfrm>
            <a:off x="2392327" y="4844695"/>
            <a:ext cx="615950" cy="1008063"/>
            <a:chOff x="617538" y="3619500"/>
            <a:chExt cx="615950" cy="1008063"/>
          </a:xfrm>
          <a:solidFill>
            <a:srgbClr val="04465F"/>
          </a:solidFill>
        </p:grpSpPr>
        <p:sp>
          <p:nvSpPr>
            <p:cNvPr id="26" name="Freeform 83">
              <a:extLst>
                <a:ext uri="{FF2B5EF4-FFF2-40B4-BE49-F238E27FC236}">
                  <a16:creationId xmlns:a16="http://schemas.microsoft.com/office/drawing/2014/main" xmlns="" id="{0795FF0D-CADF-4234-A419-75DDFB876A62}"/>
                </a:ext>
              </a:extLst>
            </p:cNvPr>
            <p:cNvSpPr>
              <a:spLocks noEditPoints="1"/>
            </p:cNvSpPr>
            <p:nvPr/>
          </p:nvSpPr>
          <p:spPr bwMode="auto">
            <a:xfrm>
              <a:off x="814388" y="3957638"/>
              <a:ext cx="419100" cy="669925"/>
            </a:xfrm>
            <a:custGeom>
              <a:avLst/>
              <a:gdLst>
                <a:gd name="T0" fmla="*/ 41 w 144"/>
                <a:gd name="T1" fmla="*/ 180 h 230"/>
                <a:gd name="T2" fmla="*/ 50 w 144"/>
                <a:gd name="T3" fmla="*/ 195 h 230"/>
                <a:gd name="T4" fmla="*/ 50 w 144"/>
                <a:gd name="T5" fmla="*/ 227 h 230"/>
                <a:gd name="T6" fmla="*/ 57 w 144"/>
                <a:gd name="T7" fmla="*/ 230 h 230"/>
                <a:gd name="T8" fmla="*/ 128 w 144"/>
                <a:gd name="T9" fmla="*/ 227 h 230"/>
                <a:gd name="T10" fmla="*/ 128 w 144"/>
                <a:gd name="T11" fmla="*/ 194 h 230"/>
                <a:gd name="T12" fmla="*/ 134 w 144"/>
                <a:gd name="T13" fmla="*/ 180 h 230"/>
                <a:gd name="T14" fmla="*/ 143 w 144"/>
                <a:gd name="T15" fmla="*/ 134 h 230"/>
                <a:gd name="T16" fmla="*/ 144 w 144"/>
                <a:gd name="T17" fmla="*/ 99 h 230"/>
                <a:gd name="T18" fmla="*/ 143 w 144"/>
                <a:gd name="T19" fmla="*/ 83 h 230"/>
                <a:gd name="T20" fmla="*/ 125 w 144"/>
                <a:gd name="T21" fmla="*/ 65 h 230"/>
                <a:gd name="T22" fmla="*/ 118 w 144"/>
                <a:gd name="T23" fmla="*/ 65 h 230"/>
                <a:gd name="T24" fmla="*/ 101 w 144"/>
                <a:gd name="T25" fmla="*/ 55 h 230"/>
                <a:gd name="T26" fmla="*/ 93 w 144"/>
                <a:gd name="T27" fmla="*/ 55 h 230"/>
                <a:gd name="T28" fmla="*/ 73 w 144"/>
                <a:gd name="T29" fmla="*/ 47 h 230"/>
                <a:gd name="T30" fmla="*/ 71 w 144"/>
                <a:gd name="T31" fmla="*/ 10 h 230"/>
                <a:gd name="T32" fmla="*/ 55 w 144"/>
                <a:gd name="T33" fmla="*/ 0 h 230"/>
                <a:gd name="T34" fmla="*/ 36 w 144"/>
                <a:gd name="T35" fmla="*/ 6 h 230"/>
                <a:gd name="T36" fmla="*/ 31 w 144"/>
                <a:gd name="T37" fmla="*/ 81 h 230"/>
                <a:gd name="T38" fmla="*/ 1 w 144"/>
                <a:gd name="T39" fmla="*/ 109 h 230"/>
                <a:gd name="T40" fmla="*/ 36 w 144"/>
                <a:gd name="T41" fmla="*/ 161 h 230"/>
                <a:gd name="T42" fmla="*/ 41 w 144"/>
                <a:gd name="T43" fmla="*/ 19 h 230"/>
                <a:gd name="T44" fmla="*/ 49 w 144"/>
                <a:gd name="T45" fmla="*/ 10 h 230"/>
                <a:gd name="T46" fmla="*/ 55 w 144"/>
                <a:gd name="T47" fmla="*/ 10 h 230"/>
                <a:gd name="T48" fmla="*/ 63 w 144"/>
                <a:gd name="T49" fmla="*/ 19 h 230"/>
                <a:gd name="T50" fmla="*/ 64 w 144"/>
                <a:gd name="T51" fmla="*/ 92 h 230"/>
                <a:gd name="T52" fmla="*/ 66 w 144"/>
                <a:gd name="T53" fmla="*/ 60 h 230"/>
                <a:gd name="T54" fmla="*/ 78 w 144"/>
                <a:gd name="T55" fmla="*/ 57 h 230"/>
                <a:gd name="T56" fmla="*/ 86 w 144"/>
                <a:gd name="T57" fmla="*/ 62 h 230"/>
                <a:gd name="T58" fmla="*/ 87 w 144"/>
                <a:gd name="T59" fmla="*/ 92 h 230"/>
                <a:gd name="T60" fmla="*/ 87 w 144"/>
                <a:gd name="T61" fmla="*/ 92 h 230"/>
                <a:gd name="T62" fmla="*/ 90 w 144"/>
                <a:gd name="T63" fmla="*/ 67 h 230"/>
                <a:gd name="T64" fmla="*/ 101 w 144"/>
                <a:gd name="T65" fmla="*/ 64 h 230"/>
                <a:gd name="T66" fmla="*/ 109 w 144"/>
                <a:gd name="T67" fmla="*/ 69 h 230"/>
                <a:gd name="T68" fmla="*/ 110 w 144"/>
                <a:gd name="T69" fmla="*/ 92 h 230"/>
                <a:gd name="T70" fmla="*/ 111 w 144"/>
                <a:gd name="T71" fmla="*/ 84 h 230"/>
                <a:gd name="T72" fmla="*/ 119 w 144"/>
                <a:gd name="T73" fmla="*/ 75 h 230"/>
                <a:gd name="T74" fmla="*/ 125 w 144"/>
                <a:gd name="T75" fmla="*/ 75 h 230"/>
                <a:gd name="T76" fmla="*/ 134 w 144"/>
                <a:gd name="T77" fmla="*/ 83 h 230"/>
                <a:gd name="T78" fmla="*/ 134 w 144"/>
                <a:gd name="T79" fmla="*/ 101 h 230"/>
                <a:gd name="T80" fmla="*/ 131 w 144"/>
                <a:gd name="T81" fmla="*/ 151 h 230"/>
                <a:gd name="T82" fmla="*/ 114 w 144"/>
                <a:gd name="T83" fmla="*/ 185 h 230"/>
                <a:gd name="T84" fmla="*/ 61 w 144"/>
                <a:gd name="T85" fmla="*/ 186 h 230"/>
                <a:gd name="T86" fmla="*/ 50 w 144"/>
                <a:gd name="T87" fmla="*/ 177 h 230"/>
                <a:gd name="T88" fmla="*/ 11 w 144"/>
                <a:gd name="T89" fmla="*/ 112 h 230"/>
                <a:gd name="T90" fmla="*/ 41 w 144"/>
                <a:gd name="T91" fmla="*/ 100 h 230"/>
                <a:gd name="T92" fmla="*/ 121 w 144"/>
                <a:gd name="T93" fmla="*/ 220 h 230"/>
                <a:gd name="T94" fmla="*/ 59 w 144"/>
                <a:gd name="T95" fmla="*/ 195 h 230"/>
                <a:gd name="T96" fmla="*/ 119 w 144"/>
                <a:gd name="T97" fmla="*/ 195 h 230"/>
                <a:gd name="T98" fmla="*/ 121 w 144"/>
                <a:gd name="T99" fmla="*/ 22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4" h="230">
                  <a:moveTo>
                    <a:pt x="36" y="161"/>
                  </a:moveTo>
                  <a:cubicBezTo>
                    <a:pt x="41" y="180"/>
                    <a:pt x="41" y="180"/>
                    <a:pt x="41" y="180"/>
                  </a:cubicBezTo>
                  <a:cubicBezTo>
                    <a:pt x="42" y="185"/>
                    <a:pt x="46" y="190"/>
                    <a:pt x="50" y="192"/>
                  </a:cubicBezTo>
                  <a:cubicBezTo>
                    <a:pt x="50" y="193"/>
                    <a:pt x="50" y="194"/>
                    <a:pt x="50" y="195"/>
                  </a:cubicBezTo>
                  <a:cubicBezTo>
                    <a:pt x="48" y="221"/>
                    <a:pt x="48" y="221"/>
                    <a:pt x="48" y="221"/>
                  </a:cubicBezTo>
                  <a:cubicBezTo>
                    <a:pt x="48" y="223"/>
                    <a:pt x="49" y="226"/>
                    <a:pt x="50" y="227"/>
                  </a:cubicBezTo>
                  <a:cubicBezTo>
                    <a:pt x="52" y="229"/>
                    <a:pt x="54" y="230"/>
                    <a:pt x="57" y="230"/>
                  </a:cubicBezTo>
                  <a:cubicBezTo>
                    <a:pt x="57" y="230"/>
                    <a:pt x="57" y="230"/>
                    <a:pt x="57" y="230"/>
                  </a:cubicBezTo>
                  <a:cubicBezTo>
                    <a:pt x="122" y="230"/>
                    <a:pt x="122" y="230"/>
                    <a:pt x="122" y="230"/>
                  </a:cubicBezTo>
                  <a:cubicBezTo>
                    <a:pt x="124" y="230"/>
                    <a:pt x="126" y="228"/>
                    <a:pt x="128" y="227"/>
                  </a:cubicBezTo>
                  <a:cubicBezTo>
                    <a:pt x="130" y="225"/>
                    <a:pt x="131" y="222"/>
                    <a:pt x="131" y="220"/>
                  </a:cubicBezTo>
                  <a:cubicBezTo>
                    <a:pt x="128" y="194"/>
                    <a:pt x="128" y="194"/>
                    <a:pt x="128" y="194"/>
                  </a:cubicBezTo>
                  <a:cubicBezTo>
                    <a:pt x="128" y="193"/>
                    <a:pt x="128" y="192"/>
                    <a:pt x="127" y="191"/>
                  </a:cubicBezTo>
                  <a:cubicBezTo>
                    <a:pt x="131" y="188"/>
                    <a:pt x="133" y="184"/>
                    <a:pt x="134" y="180"/>
                  </a:cubicBezTo>
                  <a:cubicBezTo>
                    <a:pt x="141" y="153"/>
                    <a:pt x="141" y="153"/>
                    <a:pt x="141" y="153"/>
                  </a:cubicBezTo>
                  <a:cubicBezTo>
                    <a:pt x="143" y="147"/>
                    <a:pt x="144" y="140"/>
                    <a:pt x="143" y="134"/>
                  </a:cubicBezTo>
                  <a:cubicBezTo>
                    <a:pt x="143" y="102"/>
                    <a:pt x="143" y="102"/>
                    <a:pt x="143" y="102"/>
                  </a:cubicBezTo>
                  <a:cubicBezTo>
                    <a:pt x="144" y="100"/>
                    <a:pt x="144" y="99"/>
                    <a:pt x="144" y="99"/>
                  </a:cubicBezTo>
                  <a:cubicBezTo>
                    <a:pt x="143" y="99"/>
                    <a:pt x="143" y="99"/>
                    <a:pt x="143" y="99"/>
                  </a:cubicBezTo>
                  <a:cubicBezTo>
                    <a:pt x="143" y="83"/>
                    <a:pt x="143" y="83"/>
                    <a:pt x="143" y="83"/>
                  </a:cubicBezTo>
                  <a:cubicBezTo>
                    <a:pt x="143" y="80"/>
                    <a:pt x="143" y="77"/>
                    <a:pt x="141" y="74"/>
                  </a:cubicBezTo>
                  <a:cubicBezTo>
                    <a:pt x="138" y="68"/>
                    <a:pt x="131" y="65"/>
                    <a:pt x="125" y="65"/>
                  </a:cubicBezTo>
                  <a:cubicBezTo>
                    <a:pt x="119" y="65"/>
                    <a:pt x="119" y="65"/>
                    <a:pt x="119" y="65"/>
                  </a:cubicBezTo>
                  <a:cubicBezTo>
                    <a:pt x="119" y="65"/>
                    <a:pt x="118" y="65"/>
                    <a:pt x="118" y="65"/>
                  </a:cubicBezTo>
                  <a:cubicBezTo>
                    <a:pt x="118" y="65"/>
                    <a:pt x="118" y="64"/>
                    <a:pt x="118" y="64"/>
                  </a:cubicBezTo>
                  <a:cubicBezTo>
                    <a:pt x="114" y="58"/>
                    <a:pt x="108" y="55"/>
                    <a:pt x="101" y="55"/>
                  </a:cubicBezTo>
                  <a:cubicBezTo>
                    <a:pt x="96" y="55"/>
                    <a:pt x="96" y="55"/>
                    <a:pt x="96" y="55"/>
                  </a:cubicBezTo>
                  <a:cubicBezTo>
                    <a:pt x="95" y="55"/>
                    <a:pt x="94" y="55"/>
                    <a:pt x="93" y="55"/>
                  </a:cubicBezTo>
                  <a:cubicBezTo>
                    <a:pt x="89" y="50"/>
                    <a:pt x="84" y="47"/>
                    <a:pt x="78" y="47"/>
                  </a:cubicBezTo>
                  <a:cubicBezTo>
                    <a:pt x="73" y="47"/>
                    <a:pt x="73" y="47"/>
                    <a:pt x="73" y="47"/>
                  </a:cubicBezTo>
                  <a:cubicBezTo>
                    <a:pt x="73" y="19"/>
                    <a:pt x="73" y="19"/>
                    <a:pt x="73" y="19"/>
                  </a:cubicBezTo>
                  <a:cubicBezTo>
                    <a:pt x="73" y="15"/>
                    <a:pt x="72" y="12"/>
                    <a:pt x="71" y="10"/>
                  </a:cubicBezTo>
                  <a:cubicBezTo>
                    <a:pt x="68" y="4"/>
                    <a:pt x="61" y="0"/>
                    <a:pt x="55" y="0"/>
                  </a:cubicBezTo>
                  <a:cubicBezTo>
                    <a:pt x="55" y="0"/>
                    <a:pt x="55" y="0"/>
                    <a:pt x="55" y="0"/>
                  </a:cubicBezTo>
                  <a:cubicBezTo>
                    <a:pt x="49" y="0"/>
                    <a:pt x="49" y="0"/>
                    <a:pt x="49" y="0"/>
                  </a:cubicBezTo>
                  <a:cubicBezTo>
                    <a:pt x="44" y="0"/>
                    <a:pt x="40" y="2"/>
                    <a:pt x="36" y="6"/>
                  </a:cubicBezTo>
                  <a:cubicBezTo>
                    <a:pt x="33" y="9"/>
                    <a:pt x="31" y="14"/>
                    <a:pt x="31" y="19"/>
                  </a:cubicBezTo>
                  <a:cubicBezTo>
                    <a:pt x="31" y="81"/>
                    <a:pt x="31" y="81"/>
                    <a:pt x="31" y="81"/>
                  </a:cubicBezTo>
                  <a:cubicBezTo>
                    <a:pt x="30" y="81"/>
                    <a:pt x="29" y="81"/>
                    <a:pt x="28" y="81"/>
                  </a:cubicBezTo>
                  <a:cubicBezTo>
                    <a:pt x="16" y="85"/>
                    <a:pt x="5" y="97"/>
                    <a:pt x="1" y="109"/>
                  </a:cubicBezTo>
                  <a:cubicBezTo>
                    <a:pt x="0" y="112"/>
                    <a:pt x="1" y="115"/>
                    <a:pt x="3" y="118"/>
                  </a:cubicBezTo>
                  <a:lnTo>
                    <a:pt x="36" y="161"/>
                  </a:lnTo>
                  <a:close/>
                  <a:moveTo>
                    <a:pt x="41" y="99"/>
                  </a:moveTo>
                  <a:cubicBezTo>
                    <a:pt x="41" y="19"/>
                    <a:pt x="41" y="19"/>
                    <a:pt x="41" y="19"/>
                  </a:cubicBezTo>
                  <a:cubicBezTo>
                    <a:pt x="41" y="17"/>
                    <a:pt x="42" y="14"/>
                    <a:pt x="43" y="13"/>
                  </a:cubicBezTo>
                  <a:cubicBezTo>
                    <a:pt x="45" y="11"/>
                    <a:pt x="47" y="10"/>
                    <a:pt x="49" y="10"/>
                  </a:cubicBezTo>
                  <a:cubicBezTo>
                    <a:pt x="55" y="10"/>
                    <a:pt x="55" y="10"/>
                    <a:pt x="55" y="10"/>
                  </a:cubicBezTo>
                  <a:cubicBezTo>
                    <a:pt x="55" y="10"/>
                    <a:pt x="55" y="10"/>
                    <a:pt x="55" y="10"/>
                  </a:cubicBezTo>
                  <a:cubicBezTo>
                    <a:pt x="58" y="10"/>
                    <a:pt x="61" y="12"/>
                    <a:pt x="62" y="14"/>
                  </a:cubicBezTo>
                  <a:cubicBezTo>
                    <a:pt x="63" y="16"/>
                    <a:pt x="63" y="17"/>
                    <a:pt x="63" y="19"/>
                  </a:cubicBezTo>
                  <a:cubicBezTo>
                    <a:pt x="63" y="92"/>
                    <a:pt x="63" y="92"/>
                    <a:pt x="63" y="92"/>
                  </a:cubicBezTo>
                  <a:cubicBezTo>
                    <a:pt x="64" y="92"/>
                    <a:pt x="64" y="92"/>
                    <a:pt x="64" y="92"/>
                  </a:cubicBezTo>
                  <a:cubicBezTo>
                    <a:pt x="64" y="66"/>
                    <a:pt x="64" y="66"/>
                    <a:pt x="64" y="66"/>
                  </a:cubicBezTo>
                  <a:cubicBezTo>
                    <a:pt x="64" y="64"/>
                    <a:pt x="65" y="62"/>
                    <a:pt x="66" y="60"/>
                  </a:cubicBezTo>
                  <a:cubicBezTo>
                    <a:pt x="68" y="58"/>
                    <a:pt x="70" y="57"/>
                    <a:pt x="73" y="57"/>
                  </a:cubicBezTo>
                  <a:cubicBezTo>
                    <a:pt x="78" y="57"/>
                    <a:pt x="78" y="57"/>
                    <a:pt x="78" y="57"/>
                  </a:cubicBezTo>
                  <a:cubicBezTo>
                    <a:pt x="78" y="57"/>
                    <a:pt x="78" y="57"/>
                    <a:pt x="78" y="57"/>
                  </a:cubicBezTo>
                  <a:cubicBezTo>
                    <a:pt x="81" y="57"/>
                    <a:pt x="84" y="59"/>
                    <a:pt x="86" y="62"/>
                  </a:cubicBezTo>
                  <a:cubicBezTo>
                    <a:pt x="86" y="63"/>
                    <a:pt x="87" y="65"/>
                    <a:pt x="87" y="66"/>
                  </a:cubicBezTo>
                  <a:cubicBezTo>
                    <a:pt x="87" y="92"/>
                    <a:pt x="87" y="92"/>
                    <a:pt x="87" y="92"/>
                  </a:cubicBezTo>
                  <a:cubicBezTo>
                    <a:pt x="87" y="92"/>
                    <a:pt x="87" y="92"/>
                    <a:pt x="87" y="92"/>
                  </a:cubicBezTo>
                  <a:cubicBezTo>
                    <a:pt x="87" y="92"/>
                    <a:pt x="87" y="92"/>
                    <a:pt x="87" y="92"/>
                  </a:cubicBezTo>
                  <a:cubicBezTo>
                    <a:pt x="87" y="73"/>
                    <a:pt x="87" y="73"/>
                    <a:pt x="87" y="73"/>
                  </a:cubicBezTo>
                  <a:cubicBezTo>
                    <a:pt x="87" y="71"/>
                    <a:pt x="88" y="69"/>
                    <a:pt x="90" y="67"/>
                  </a:cubicBezTo>
                  <a:cubicBezTo>
                    <a:pt x="91" y="65"/>
                    <a:pt x="94" y="65"/>
                    <a:pt x="96" y="65"/>
                  </a:cubicBezTo>
                  <a:cubicBezTo>
                    <a:pt x="101" y="64"/>
                    <a:pt x="101" y="64"/>
                    <a:pt x="101" y="64"/>
                  </a:cubicBezTo>
                  <a:cubicBezTo>
                    <a:pt x="101" y="64"/>
                    <a:pt x="101" y="64"/>
                    <a:pt x="101" y="64"/>
                  </a:cubicBezTo>
                  <a:cubicBezTo>
                    <a:pt x="104" y="64"/>
                    <a:pt x="107" y="66"/>
                    <a:pt x="109" y="69"/>
                  </a:cubicBezTo>
                  <a:cubicBezTo>
                    <a:pt x="110" y="70"/>
                    <a:pt x="110" y="72"/>
                    <a:pt x="110" y="73"/>
                  </a:cubicBezTo>
                  <a:cubicBezTo>
                    <a:pt x="110" y="92"/>
                    <a:pt x="110" y="92"/>
                    <a:pt x="110" y="92"/>
                  </a:cubicBezTo>
                  <a:cubicBezTo>
                    <a:pt x="111" y="92"/>
                    <a:pt x="111" y="92"/>
                    <a:pt x="111" y="92"/>
                  </a:cubicBezTo>
                  <a:cubicBezTo>
                    <a:pt x="111" y="84"/>
                    <a:pt x="111" y="84"/>
                    <a:pt x="111" y="84"/>
                  </a:cubicBezTo>
                  <a:cubicBezTo>
                    <a:pt x="111" y="81"/>
                    <a:pt x="112" y="79"/>
                    <a:pt x="113" y="77"/>
                  </a:cubicBezTo>
                  <a:cubicBezTo>
                    <a:pt x="115" y="76"/>
                    <a:pt x="117" y="75"/>
                    <a:pt x="119" y="75"/>
                  </a:cubicBezTo>
                  <a:cubicBezTo>
                    <a:pt x="125" y="75"/>
                    <a:pt x="125" y="75"/>
                    <a:pt x="125" y="75"/>
                  </a:cubicBezTo>
                  <a:cubicBezTo>
                    <a:pt x="125" y="75"/>
                    <a:pt x="125" y="75"/>
                    <a:pt x="125" y="75"/>
                  </a:cubicBezTo>
                  <a:cubicBezTo>
                    <a:pt x="128" y="75"/>
                    <a:pt x="131" y="76"/>
                    <a:pt x="132" y="79"/>
                  </a:cubicBezTo>
                  <a:cubicBezTo>
                    <a:pt x="133" y="80"/>
                    <a:pt x="134" y="82"/>
                    <a:pt x="134" y="83"/>
                  </a:cubicBezTo>
                  <a:cubicBezTo>
                    <a:pt x="134" y="99"/>
                    <a:pt x="134" y="99"/>
                    <a:pt x="134" y="99"/>
                  </a:cubicBezTo>
                  <a:cubicBezTo>
                    <a:pt x="134" y="100"/>
                    <a:pt x="134" y="100"/>
                    <a:pt x="134" y="101"/>
                  </a:cubicBezTo>
                  <a:cubicBezTo>
                    <a:pt x="134" y="134"/>
                    <a:pt x="134" y="134"/>
                    <a:pt x="134" y="134"/>
                  </a:cubicBezTo>
                  <a:cubicBezTo>
                    <a:pt x="134" y="140"/>
                    <a:pt x="133" y="145"/>
                    <a:pt x="131" y="151"/>
                  </a:cubicBezTo>
                  <a:cubicBezTo>
                    <a:pt x="125" y="177"/>
                    <a:pt x="125" y="177"/>
                    <a:pt x="125" y="177"/>
                  </a:cubicBezTo>
                  <a:cubicBezTo>
                    <a:pt x="124" y="182"/>
                    <a:pt x="119" y="185"/>
                    <a:pt x="114" y="185"/>
                  </a:cubicBezTo>
                  <a:cubicBezTo>
                    <a:pt x="88" y="186"/>
                    <a:pt x="88" y="186"/>
                    <a:pt x="88" y="186"/>
                  </a:cubicBezTo>
                  <a:cubicBezTo>
                    <a:pt x="61" y="186"/>
                    <a:pt x="61" y="186"/>
                    <a:pt x="61" y="186"/>
                  </a:cubicBezTo>
                  <a:cubicBezTo>
                    <a:pt x="61" y="186"/>
                    <a:pt x="61" y="186"/>
                    <a:pt x="61" y="186"/>
                  </a:cubicBezTo>
                  <a:cubicBezTo>
                    <a:pt x="56" y="186"/>
                    <a:pt x="52" y="182"/>
                    <a:pt x="50" y="177"/>
                  </a:cubicBezTo>
                  <a:cubicBezTo>
                    <a:pt x="45" y="156"/>
                    <a:pt x="45" y="156"/>
                    <a:pt x="45" y="156"/>
                  </a:cubicBezTo>
                  <a:cubicBezTo>
                    <a:pt x="11" y="112"/>
                    <a:pt x="11" y="112"/>
                    <a:pt x="11" y="112"/>
                  </a:cubicBezTo>
                  <a:cubicBezTo>
                    <a:pt x="14" y="103"/>
                    <a:pt x="23" y="94"/>
                    <a:pt x="31" y="91"/>
                  </a:cubicBezTo>
                  <a:cubicBezTo>
                    <a:pt x="41" y="100"/>
                    <a:pt x="41" y="100"/>
                    <a:pt x="41" y="100"/>
                  </a:cubicBezTo>
                  <a:cubicBezTo>
                    <a:pt x="41" y="100"/>
                    <a:pt x="41" y="99"/>
                    <a:pt x="41" y="99"/>
                  </a:cubicBezTo>
                  <a:close/>
                  <a:moveTo>
                    <a:pt x="121" y="220"/>
                  </a:moveTo>
                  <a:cubicBezTo>
                    <a:pt x="57" y="221"/>
                    <a:pt x="57" y="221"/>
                    <a:pt x="57" y="221"/>
                  </a:cubicBezTo>
                  <a:cubicBezTo>
                    <a:pt x="59" y="195"/>
                    <a:pt x="59" y="195"/>
                    <a:pt x="59" y="195"/>
                  </a:cubicBezTo>
                  <a:cubicBezTo>
                    <a:pt x="59" y="195"/>
                    <a:pt x="59" y="195"/>
                    <a:pt x="59" y="195"/>
                  </a:cubicBezTo>
                  <a:cubicBezTo>
                    <a:pt x="119" y="195"/>
                    <a:pt x="119" y="195"/>
                    <a:pt x="119" y="195"/>
                  </a:cubicBezTo>
                  <a:cubicBezTo>
                    <a:pt x="119" y="195"/>
                    <a:pt x="119" y="195"/>
                    <a:pt x="119" y="195"/>
                  </a:cubicBezTo>
                  <a:lnTo>
                    <a:pt x="121" y="2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xmlns="" id="{D3FBE069-8EF8-424D-92EA-DD45340D5D73}"/>
                </a:ext>
              </a:extLst>
            </p:cNvPr>
            <p:cNvSpPr>
              <a:spLocks noEditPoints="1"/>
            </p:cNvSpPr>
            <p:nvPr/>
          </p:nvSpPr>
          <p:spPr bwMode="auto">
            <a:xfrm>
              <a:off x="617538" y="3619500"/>
              <a:ext cx="511175" cy="798513"/>
            </a:xfrm>
            <a:custGeom>
              <a:avLst/>
              <a:gdLst>
                <a:gd name="T0" fmla="*/ 50 w 176"/>
                <a:gd name="T1" fmla="*/ 223 h 274"/>
                <a:gd name="T2" fmla="*/ 57 w 176"/>
                <a:gd name="T3" fmla="*/ 208 h 274"/>
                <a:gd name="T4" fmla="*/ 26 w 176"/>
                <a:gd name="T5" fmla="*/ 208 h 274"/>
                <a:gd name="T6" fmla="*/ 19 w 176"/>
                <a:gd name="T7" fmla="*/ 200 h 274"/>
                <a:gd name="T8" fmla="*/ 19 w 176"/>
                <a:gd name="T9" fmla="*/ 29 h 274"/>
                <a:gd name="T10" fmla="*/ 26 w 176"/>
                <a:gd name="T11" fmla="*/ 21 h 274"/>
                <a:gd name="T12" fmla="*/ 150 w 176"/>
                <a:gd name="T13" fmla="*/ 21 h 274"/>
                <a:gd name="T14" fmla="*/ 158 w 176"/>
                <a:gd name="T15" fmla="*/ 29 h 274"/>
                <a:gd name="T16" fmla="*/ 158 w 176"/>
                <a:gd name="T17" fmla="*/ 147 h 274"/>
                <a:gd name="T18" fmla="*/ 167 w 176"/>
                <a:gd name="T19" fmla="*/ 154 h 274"/>
                <a:gd name="T20" fmla="*/ 170 w 176"/>
                <a:gd name="T21" fmla="*/ 154 h 274"/>
                <a:gd name="T22" fmla="*/ 176 w 176"/>
                <a:gd name="T23" fmla="*/ 154 h 274"/>
                <a:gd name="T24" fmla="*/ 176 w 176"/>
                <a:gd name="T25" fmla="*/ 26 h 274"/>
                <a:gd name="T26" fmla="*/ 152 w 176"/>
                <a:gd name="T27" fmla="*/ 0 h 274"/>
                <a:gd name="T28" fmla="*/ 24 w 176"/>
                <a:gd name="T29" fmla="*/ 0 h 274"/>
                <a:gd name="T30" fmla="*/ 0 w 176"/>
                <a:gd name="T31" fmla="*/ 26 h 274"/>
                <a:gd name="T32" fmla="*/ 0 w 176"/>
                <a:gd name="T33" fmla="*/ 247 h 274"/>
                <a:gd name="T34" fmla="*/ 24 w 176"/>
                <a:gd name="T35" fmla="*/ 274 h 274"/>
                <a:gd name="T36" fmla="*/ 82 w 176"/>
                <a:gd name="T37" fmla="*/ 274 h 274"/>
                <a:gd name="T38" fmla="*/ 52 w 176"/>
                <a:gd name="T39" fmla="*/ 234 h 274"/>
                <a:gd name="T40" fmla="*/ 50 w 176"/>
                <a:gd name="T41" fmla="*/ 223 h 274"/>
                <a:gd name="T42" fmla="*/ 55 w 176"/>
                <a:gd name="T43" fmla="*/ 242 h 274"/>
                <a:gd name="T44" fmla="*/ 50 w 176"/>
                <a:gd name="T45" fmla="*/ 247 h 274"/>
                <a:gd name="T46" fmla="*/ 25 w 176"/>
                <a:gd name="T47" fmla="*/ 247 h 274"/>
                <a:gd name="T48" fmla="*/ 20 w 176"/>
                <a:gd name="T49" fmla="*/ 242 h 274"/>
                <a:gd name="T50" fmla="*/ 25 w 176"/>
                <a:gd name="T51" fmla="*/ 236 h 274"/>
                <a:gd name="T52" fmla="*/ 50 w 176"/>
                <a:gd name="T53" fmla="*/ 236 h 274"/>
                <a:gd name="T54" fmla="*/ 55 w 176"/>
                <a:gd name="T55" fmla="*/ 242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6" h="274">
                  <a:moveTo>
                    <a:pt x="50" y="223"/>
                  </a:moveTo>
                  <a:cubicBezTo>
                    <a:pt x="51" y="218"/>
                    <a:pt x="54" y="213"/>
                    <a:pt x="57" y="208"/>
                  </a:cubicBezTo>
                  <a:cubicBezTo>
                    <a:pt x="26" y="208"/>
                    <a:pt x="26" y="208"/>
                    <a:pt x="26" y="208"/>
                  </a:cubicBezTo>
                  <a:cubicBezTo>
                    <a:pt x="22" y="208"/>
                    <a:pt x="19" y="205"/>
                    <a:pt x="19" y="200"/>
                  </a:cubicBezTo>
                  <a:cubicBezTo>
                    <a:pt x="19" y="29"/>
                    <a:pt x="19" y="29"/>
                    <a:pt x="19" y="29"/>
                  </a:cubicBezTo>
                  <a:cubicBezTo>
                    <a:pt x="19" y="24"/>
                    <a:pt x="22" y="21"/>
                    <a:pt x="26" y="21"/>
                  </a:cubicBezTo>
                  <a:cubicBezTo>
                    <a:pt x="150" y="21"/>
                    <a:pt x="150" y="21"/>
                    <a:pt x="150" y="21"/>
                  </a:cubicBezTo>
                  <a:cubicBezTo>
                    <a:pt x="154" y="21"/>
                    <a:pt x="158" y="24"/>
                    <a:pt x="158" y="29"/>
                  </a:cubicBezTo>
                  <a:cubicBezTo>
                    <a:pt x="158" y="147"/>
                    <a:pt x="158" y="147"/>
                    <a:pt x="158" y="147"/>
                  </a:cubicBezTo>
                  <a:cubicBezTo>
                    <a:pt x="161" y="148"/>
                    <a:pt x="164" y="151"/>
                    <a:pt x="167" y="154"/>
                  </a:cubicBezTo>
                  <a:cubicBezTo>
                    <a:pt x="168" y="154"/>
                    <a:pt x="169" y="154"/>
                    <a:pt x="170" y="154"/>
                  </a:cubicBezTo>
                  <a:cubicBezTo>
                    <a:pt x="176" y="154"/>
                    <a:pt x="176" y="154"/>
                    <a:pt x="176" y="154"/>
                  </a:cubicBezTo>
                  <a:cubicBezTo>
                    <a:pt x="176" y="26"/>
                    <a:pt x="176" y="26"/>
                    <a:pt x="176" y="26"/>
                  </a:cubicBezTo>
                  <a:cubicBezTo>
                    <a:pt x="176" y="12"/>
                    <a:pt x="165" y="0"/>
                    <a:pt x="152" y="0"/>
                  </a:cubicBezTo>
                  <a:cubicBezTo>
                    <a:pt x="24" y="0"/>
                    <a:pt x="24" y="0"/>
                    <a:pt x="24" y="0"/>
                  </a:cubicBezTo>
                  <a:cubicBezTo>
                    <a:pt x="11" y="0"/>
                    <a:pt x="0" y="12"/>
                    <a:pt x="0" y="26"/>
                  </a:cubicBezTo>
                  <a:cubicBezTo>
                    <a:pt x="0" y="247"/>
                    <a:pt x="0" y="247"/>
                    <a:pt x="0" y="247"/>
                  </a:cubicBezTo>
                  <a:cubicBezTo>
                    <a:pt x="0" y="262"/>
                    <a:pt x="11" y="274"/>
                    <a:pt x="24" y="274"/>
                  </a:cubicBezTo>
                  <a:cubicBezTo>
                    <a:pt x="82" y="274"/>
                    <a:pt x="82" y="274"/>
                    <a:pt x="82" y="274"/>
                  </a:cubicBezTo>
                  <a:cubicBezTo>
                    <a:pt x="52" y="234"/>
                    <a:pt x="52" y="234"/>
                    <a:pt x="52" y="234"/>
                  </a:cubicBezTo>
                  <a:cubicBezTo>
                    <a:pt x="49" y="231"/>
                    <a:pt x="48" y="227"/>
                    <a:pt x="50" y="223"/>
                  </a:cubicBezTo>
                  <a:close/>
                  <a:moveTo>
                    <a:pt x="55" y="242"/>
                  </a:moveTo>
                  <a:cubicBezTo>
                    <a:pt x="55" y="245"/>
                    <a:pt x="53" y="247"/>
                    <a:pt x="50" y="247"/>
                  </a:cubicBezTo>
                  <a:cubicBezTo>
                    <a:pt x="25" y="247"/>
                    <a:pt x="25" y="247"/>
                    <a:pt x="25" y="247"/>
                  </a:cubicBezTo>
                  <a:cubicBezTo>
                    <a:pt x="22" y="247"/>
                    <a:pt x="20" y="245"/>
                    <a:pt x="20" y="242"/>
                  </a:cubicBezTo>
                  <a:cubicBezTo>
                    <a:pt x="20" y="239"/>
                    <a:pt x="22" y="236"/>
                    <a:pt x="25" y="236"/>
                  </a:cubicBezTo>
                  <a:cubicBezTo>
                    <a:pt x="50" y="236"/>
                    <a:pt x="50" y="236"/>
                    <a:pt x="50" y="236"/>
                  </a:cubicBezTo>
                  <a:cubicBezTo>
                    <a:pt x="53" y="236"/>
                    <a:pt x="55" y="239"/>
                    <a:pt x="55" y="2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9" name="Heart 8">
            <a:extLst>
              <a:ext uri="{FF2B5EF4-FFF2-40B4-BE49-F238E27FC236}">
                <a16:creationId xmlns:a16="http://schemas.microsoft.com/office/drawing/2014/main" xmlns="" id="{A1B89E49-3308-4C6F-A29C-9C538D07AE34}"/>
              </a:ext>
            </a:extLst>
          </p:cNvPr>
          <p:cNvSpPr/>
          <p:nvPr/>
        </p:nvSpPr>
        <p:spPr>
          <a:xfrm>
            <a:off x="1477234" y="4526529"/>
            <a:ext cx="249882" cy="199938"/>
          </a:xfrm>
          <a:prstGeom prst="heart">
            <a:avLst/>
          </a:prstGeom>
          <a:solidFill>
            <a:srgbClr val="F15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miley Face 9">
            <a:extLst>
              <a:ext uri="{FF2B5EF4-FFF2-40B4-BE49-F238E27FC236}">
                <a16:creationId xmlns:a16="http://schemas.microsoft.com/office/drawing/2014/main" xmlns="" id="{76F17CC7-3868-4FF6-B6C6-148D2E8FAB66}"/>
              </a:ext>
            </a:extLst>
          </p:cNvPr>
          <p:cNvSpPr/>
          <p:nvPr/>
        </p:nvSpPr>
        <p:spPr>
          <a:xfrm>
            <a:off x="2510118" y="4953964"/>
            <a:ext cx="231361" cy="212377"/>
          </a:xfrm>
          <a:prstGeom prst="smileyFace">
            <a:avLst/>
          </a:prstGeom>
          <a:solidFill>
            <a:srgbClr val="F15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146">
            <a:extLst>
              <a:ext uri="{FF2B5EF4-FFF2-40B4-BE49-F238E27FC236}">
                <a16:creationId xmlns:a16="http://schemas.microsoft.com/office/drawing/2014/main" xmlns="" id="{028892EF-FD68-4468-AA77-5E6993E44269}"/>
              </a:ext>
            </a:extLst>
          </p:cNvPr>
          <p:cNvSpPr>
            <a:spLocks noEditPoints="1"/>
          </p:cNvSpPr>
          <p:nvPr/>
        </p:nvSpPr>
        <p:spPr bwMode="auto">
          <a:xfrm>
            <a:off x="560303" y="1497564"/>
            <a:ext cx="1643867" cy="1217184"/>
          </a:xfrm>
          <a:custGeom>
            <a:avLst/>
            <a:gdLst>
              <a:gd name="T0" fmla="*/ 13 w 412"/>
              <a:gd name="T1" fmla="*/ 0 h 355"/>
              <a:gd name="T2" fmla="*/ 399 w 412"/>
              <a:gd name="T3" fmla="*/ 0 h 355"/>
              <a:gd name="T4" fmla="*/ 399 w 412"/>
              <a:gd name="T5" fmla="*/ 212 h 355"/>
              <a:gd name="T6" fmla="*/ 376 w 412"/>
              <a:gd name="T7" fmla="*/ 212 h 355"/>
              <a:gd name="T8" fmla="*/ 368 w 412"/>
              <a:gd name="T9" fmla="*/ 177 h 355"/>
              <a:gd name="T10" fmla="*/ 314 w 412"/>
              <a:gd name="T11" fmla="*/ 160 h 355"/>
              <a:gd name="T12" fmla="*/ 287 w 412"/>
              <a:gd name="T13" fmla="*/ 129 h 355"/>
              <a:gd name="T14" fmla="*/ 216 w 412"/>
              <a:gd name="T15" fmla="*/ 135 h 355"/>
              <a:gd name="T16" fmla="*/ 202 w 412"/>
              <a:gd name="T17" fmla="*/ 128 h 355"/>
              <a:gd name="T18" fmla="*/ 148 w 412"/>
              <a:gd name="T19" fmla="*/ 127 h 355"/>
              <a:gd name="T20" fmla="*/ 135 w 412"/>
              <a:gd name="T21" fmla="*/ 125 h 355"/>
              <a:gd name="T22" fmla="*/ 87 w 412"/>
              <a:gd name="T23" fmla="*/ 110 h 355"/>
              <a:gd name="T24" fmla="*/ 78 w 412"/>
              <a:gd name="T25" fmla="*/ 132 h 355"/>
              <a:gd name="T26" fmla="*/ 124 w 412"/>
              <a:gd name="T27" fmla="*/ 149 h 355"/>
              <a:gd name="T28" fmla="*/ 137 w 412"/>
              <a:gd name="T29" fmla="*/ 152 h 355"/>
              <a:gd name="T30" fmla="*/ 158 w 412"/>
              <a:gd name="T31" fmla="*/ 156 h 355"/>
              <a:gd name="T32" fmla="*/ 172 w 412"/>
              <a:gd name="T33" fmla="*/ 172 h 355"/>
              <a:gd name="T34" fmla="*/ 168 w 412"/>
              <a:gd name="T35" fmla="*/ 177 h 355"/>
              <a:gd name="T36" fmla="*/ 160 w 412"/>
              <a:gd name="T37" fmla="*/ 212 h 355"/>
              <a:gd name="T38" fmla="*/ 127 w 412"/>
              <a:gd name="T39" fmla="*/ 212 h 355"/>
              <a:gd name="T40" fmla="*/ 119 w 412"/>
              <a:gd name="T41" fmla="*/ 177 h 355"/>
              <a:gd name="T42" fmla="*/ 44 w 412"/>
              <a:gd name="T43" fmla="*/ 177 h 355"/>
              <a:gd name="T44" fmla="*/ 36 w 412"/>
              <a:gd name="T45" fmla="*/ 212 h 355"/>
              <a:gd name="T46" fmla="*/ 13 w 412"/>
              <a:gd name="T47" fmla="*/ 212 h 355"/>
              <a:gd name="T48" fmla="*/ 13 w 412"/>
              <a:gd name="T49" fmla="*/ 0 h 355"/>
              <a:gd name="T50" fmla="*/ 46 w 412"/>
              <a:gd name="T51" fmla="*/ 252 h 355"/>
              <a:gd name="T52" fmla="*/ 117 w 412"/>
              <a:gd name="T53" fmla="*/ 252 h 355"/>
              <a:gd name="T54" fmla="*/ 144 w 412"/>
              <a:gd name="T55" fmla="*/ 278 h 355"/>
              <a:gd name="T56" fmla="*/ 170 w 412"/>
              <a:gd name="T57" fmla="*/ 252 h 355"/>
              <a:gd name="T58" fmla="*/ 242 w 412"/>
              <a:gd name="T59" fmla="*/ 252 h 355"/>
              <a:gd name="T60" fmla="*/ 268 w 412"/>
              <a:gd name="T61" fmla="*/ 278 h 355"/>
              <a:gd name="T62" fmla="*/ 295 w 412"/>
              <a:gd name="T63" fmla="*/ 252 h 355"/>
              <a:gd name="T64" fmla="*/ 366 w 412"/>
              <a:gd name="T65" fmla="*/ 252 h 355"/>
              <a:gd name="T66" fmla="*/ 410 w 412"/>
              <a:gd name="T67" fmla="*/ 327 h 355"/>
              <a:gd name="T68" fmla="*/ 268 w 412"/>
              <a:gd name="T69" fmla="*/ 342 h 355"/>
              <a:gd name="T70" fmla="*/ 144 w 412"/>
              <a:gd name="T71" fmla="*/ 342 h 355"/>
              <a:gd name="T72" fmla="*/ 2 w 412"/>
              <a:gd name="T73" fmla="*/ 327 h 355"/>
              <a:gd name="T74" fmla="*/ 46 w 412"/>
              <a:gd name="T75" fmla="*/ 252 h 355"/>
              <a:gd name="T76" fmla="*/ 346 w 412"/>
              <a:gd name="T77" fmla="*/ 254 h 355"/>
              <a:gd name="T78" fmla="*/ 360 w 412"/>
              <a:gd name="T79" fmla="*/ 182 h 355"/>
              <a:gd name="T80" fmla="*/ 302 w 412"/>
              <a:gd name="T81" fmla="*/ 182 h 355"/>
              <a:gd name="T82" fmla="*/ 315 w 412"/>
              <a:gd name="T83" fmla="*/ 254 h 355"/>
              <a:gd name="T84" fmla="*/ 346 w 412"/>
              <a:gd name="T85" fmla="*/ 254 h 355"/>
              <a:gd name="T86" fmla="*/ 221 w 412"/>
              <a:gd name="T87" fmla="*/ 254 h 355"/>
              <a:gd name="T88" fmla="*/ 235 w 412"/>
              <a:gd name="T89" fmla="*/ 182 h 355"/>
              <a:gd name="T90" fmla="*/ 177 w 412"/>
              <a:gd name="T91" fmla="*/ 182 h 355"/>
              <a:gd name="T92" fmla="*/ 191 w 412"/>
              <a:gd name="T93" fmla="*/ 254 h 355"/>
              <a:gd name="T94" fmla="*/ 221 w 412"/>
              <a:gd name="T95" fmla="*/ 254 h 355"/>
              <a:gd name="T96" fmla="*/ 97 w 412"/>
              <a:gd name="T97" fmla="*/ 254 h 355"/>
              <a:gd name="T98" fmla="*/ 110 w 412"/>
              <a:gd name="T99" fmla="*/ 182 h 355"/>
              <a:gd name="T100" fmla="*/ 52 w 412"/>
              <a:gd name="T101" fmla="*/ 182 h 355"/>
              <a:gd name="T102" fmla="*/ 66 w 412"/>
              <a:gd name="T103" fmla="*/ 254 h 355"/>
              <a:gd name="T104" fmla="*/ 97 w 412"/>
              <a:gd name="T105" fmla="*/ 254 h 355"/>
              <a:gd name="T106" fmla="*/ 267 w 412"/>
              <a:gd name="T107" fmla="*/ 125 h 355"/>
              <a:gd name="T108" fmla="*/ 276 w 412"/>
              <a:gd name="T109" fmla="*/ 59 h 355"/>
              <a:gd name="T110" fmla="*/ 220 w 412"/>
              <a:gd name="T111" fmla="*/ 59 h 355"/>
              <a:gd name="T112" fmla="*/ 229 w 412"/>
              <a:gd name="T113" fmla="*/ 125 h 355"/>
              <a:gd name="T114" fmla="*/ 267 w 412"/>
              <a:gd name="T115" fmla="*/ 12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12" h="355">
                <a:moveTo>
                  <a:pt x="13" y="0"/>
                </a:moveTo>
                <a:cubicBezTo>
                  <a:pt x="399" y="0"/>
                  <a:pt x="399" y="0"/>
                  <a:pt x="399" y="0"/>
                </a:cubicBezTo>
                <a:cubicBezTo>
                  <a:pt x="399" y="212"/>
                  <a:pt x="399" y="212"/>
                  <a:pt x="399" y="212"/>
                </a:cubicBezTo>
                <a:cubicBezTo>
                  <a:pt x="376" y="212"/>
                  <a:pt x="376" y="212"/>
                  <a:pt x="376" y="212"/>
                </a:cubicBezTo>
                <a:cubicBezTo>
                  <a:pt x="377" y="200"/>
                  <a:pt x="375" y="188"/>
                  <a:pt x="368" y="177"/>
                </a:cubicBezTo>
                <a:cubicBezTo>
                  <a:pt x="357" y="159"/>
                  <a:pt x="333" y="153"/>
                  <a:pt x="314" y="160"/>
                </a:cubicBezTo>
                <a:cubicBezTo>
                  <a:pt x="309" y="147"/>
                  <a:pt x="300" y="135"/>
                  <a:pt x="287" y="129"/>
                </a:cubicBezTo>
                <a:cubicBezTo>
                  <a:pt x="267" y="152"/>
                  <a:pt x="238" y="154"/>
                  <a:pt x="216" y="135"/>
                </a:cubicBezTo>
                <a:cubicBezTo>
                  <a:pt x="210" y="130"/>
                  <a:pt x="209" y="129"/>
                  <a:pt x="202" y="128"/>
                </a:cubicBezTo>
                <a:cubicBezTo>
                  <a:pt x="148" y="127"/>
                  <a:pt x="148" y="127"/>
                  <a:pt x="148" y="127"/>
                </a:cubicBezTo>
                <a:cubicBezTo>
                  <a:pt x="144" y="127"/>
                  <a:pt x="139" y="126"/>
                  <a:pt x="135" y="125"/>
                </a:cubicBezTo>
                <a:cubicBezTo>
                  <a:pt x="87" y="110"/>
                  <a:pt x="87" y="110"/>
                  <a:pt x="87" y="110"/>
                </a:cubicBezTo>
                <a:cubicBezTo>
                  <a:pt x="72" y="104"/>
                  <a:pt x="65" y="127"/>
                  <a:pt x="78" y="132"/>
                </a:cubicBezTo>
                <a:cubicBezTo>
                  <a:pt x="124" y="149"/>
                  <a:pt x="124" y="149"/>
                  <a:pt x="124" y="149"/>
                </a:cubicBezTo>
                <a:cubicBezTo>
                  <a:pt x="130" y="151"/>
                  <a:pt x="130" y="151"/>
                  <a:pt x="137" y="152"/>
                </a:cubicBezTo>
                <a:cubicBezTo>
                  <a:pt x="158" y="156"/>
                  <a:pt x="158" y="156"/>
                  <a:pt x="158" y="156"/>
                </a:cubicBezTo>
                <a:cubicBezTo>
                  <a:pt x="170" y="158"/>
                  <a:pt x="172" y="163"/>
                  <a:pt x="172" y="172"/>
                </a:cubicBezTo>
                <a:cubicBezTo>
                  <a:pt x="171" y="174"/>
                  <a:pt x="170" y="175"/>
                  <a:pt x="168" y="177"/>
                </a:cubicBezTo>
                <a:cubicBezTo>
                  <a:pt x="162" y="188"/>
                  <a:pt x="160" y="200"/>
                  <a:pt x="160" y="212"/>
                </a:cubicBezTo>
                <a:cubicBezTo>
                  <a:pt x="127" y="212"/>
                  <a:pt x="127" y="212"/>
                  <a:pt x="127" y="212"/>
                </a:cubicBezTo>
                <a:cubicBezTo>
                  <a:pt x="128" y="200"/>
                  <a:pt x="125" y="188"/>
                  <a:pt x="119" y="177"/>
                </a:cubicBezTo>
                <a:cubicBezTo>
                  <a:pt x="103" y="151"/>
                  <a:pt x="60" y="151"/>
                  <a:pt x="44" y="177"/>
                </a:cubicBezTo>
                <a:cubicBezTo>
                  <a:pt x="37" y="188"/>
                  <a:pt x="35" y="200"/>
                  <a:pt x="36" y="212"/>
                </a:cubicBezTo>
                <a:cubicBezTo>
                  <a:pt x="13" y="212"/>
                  <a:pt x="13" y="212"/>
                  <a:pt x="13" y="212"/>
                </a:cubicBezTo>
                <a:lnTo>
                  <a:pt x="13" y="0"/>
                </a:lnTo>
                <a:close/>
                <a:moveTo>
                  <a:pt x="46" y="252"/>
                </a:moveTo>
                <a:cubicBezTo>
                  <a:pt x="66" y="276"/>
                  <a:pt x="96" y="276"/>
                  <a:pt x="117" y="252"/>
                </a:cubicBezTo>
                <a:cubicBezTo>
                  <a:pt x="128" y="257"/>
                  <a:pt x="137" y="267"/>
                  <a:pt x="144" y="278"/>
                </a:cubicBezTo>
                <a:cubicBezTo>
                  <a:pt x="151" y="267"/>
                  <a:pt x="160" y="257"/>
                  <a:pt x="170" y="252"/>
                </a:cubicBezTo>
                <a:cubicBezTo>
                  <a:pt x="191" y="276"/>
                  <a:pt x="221" y="276"/>
                  <a:pt x="242" y="252"/>
                </a:cubicBezTo>
                <a:cubicBezTo>
                  <a:pt x="252" y="257"/>
                  <a:pt x="261" y="267"/>
                  <a:pt x="268" y="278"/>
                </a:cubicBezTo>
                <a:cubicBezTo>
                  <a:pt x="275" y="267"/>
                  <a:pt x="284" y="257"/>
                  <a:pt x="295" y="252"/>
                </a:cubicBezTo>
                <a:cubicBezTo>
                  <a:pt x="316" y="276"/>
                  <a:pt x="346" y="276"/>
                  <a:pt x="366" y="252"/>
                </a:cubicBezTo>
                <a:cubicBezTo>
                  <a:pt x="393" y="264"/>
                  <a:pt x="408" y="306"/>
                  <a:pt x="410" y="327"/>
                </a:cubicBezTo>
                <a:cubicBezTo>
                  <a:pt x="412" y="351"/>
                  <a:pt x="310" y="355"/>
                  <a:pt x="268" y="342"/>
                </a:cubicBezTo>
                <a:cubicBezTo>
                  <a:pt x="238" y="352"/>
                  <a:pt x="174" y="352"/>
                  <a:pt x="144" y="342"/>
                </a:cubicBezTo>
                <a:cubicBezTo>
                  <a:pt x="102" y="355"/>
                  <a:pt x="0" y="351"/>
                  <a:pt x="2" y="327"/>
                </a:cubicBezTo>
                <a:cubicBezTo>
                  <a:pt x="4" y="306"/>
                  <a:pt x="20" y="264"/>
                  <a:pt x="46" y="252"/>
                </a:cubicBezTo>
                <a:close/>
                <a:moveTo>
                  <a:pt x="346" y="254"/>
                </a:moveTo>
                <a:cubicBezTo>
                  <a:pt x="362" y="241"/>
                  <a:pt x="375" y="208"/>
                  <a:pt x="360" y="182"/>
                </a:cubicBezTo>
                <a:cubicBezTo>
                  <a:pt x="347" y="161"/>
                  <a:pt x="314" y="161"/>
                  <a:pt x="302" y="182"/>
                </a:cubicBezTo>
                <a:cubicBezTo>
                  <a:pt x="286" y="208"/>
                  <a:pt x="300" y="241"/>
                  <a:pt x="315" y="254"/>
                </a:cubicBezTo>
                <a:cubicBezTo>
                  <a:pt x="322" y="259"/>
                  <a:pt x="339" y="259"/>
                  <a:pt x="346" y="254"/>
                </a:cubicBezTo>
                <a:close/>
                <a:moveTo>
                  <a:pt x="221" y="254"/>
                </a:moveTo>
                <a:cubicBezTo>
                  <a:pt x="237" y="241"/>
                  <a:pt x="251" y="208"/>
                  <a:pt x="235" y="182"/>
                </a:cubicBezTo>
                <a:cubicBezTo>
                  <a:pt x="223" y="161"/>
                  <a:pt x="189" y="161"/>
                  <a:pt x="177" y="182"/>
                </a:cubicBezTo>
                <a:cubicBezTo>
                  <a:pt x="161" y="208"/>
                  <a:pt x="175" y="241"/>
                  <a:pt x="191" y="254"/>
                </a:cubicBezTo>
                <a:cubicBezTo>
                  <a:pt x="198" y="259"/>
                  <a:pt x="214" y="259"/>
                  <a:pt x="221" y="254"/>
                </a:cubicBezTo>
                <a:close/>
                <a:moveTo>
                  <a:pt x="97" y="254"/>
                </a:moveTo>
                <a:cubicBezTo>
                  <a:pt x="112" y="241"/>
                  <a:pt x="126" y="208"/>
                  <a:pt x="110" y="182"/>
                </a:cubicBezTo>
                <a:cubicBezTo>
                  <a:pt x="98" y="161"/>
                  <a:pt x="65" y="161"/>
                  <a:pt x="52" y="182"/>
                </a:cubicBezTo>
                <a:cubicBezTo>
                  <a:pt x="37" y="208"/>
                  <a:pt x="50" y="241"/>
                  <a:pt x="66" y="254"/>
                </a:cubicBezTo>
                <a:cubicBezTo>
                  <a:pt x="73" y="259"/>
                  <a:pt x="90" y="259"/>
                  <a:pt x="97" y="254"/>
                </a:cubicBezTo>
                <a:close/>
                <a:moveTo>
                  <a:pt x="267" y="125"/>
                </a:moveTo>
                <a:cubicBezTo>
                  <a:pt x="280" y="111"/>
                  <a:pt x="290" y="82"/>
                  <a:pt x="276" y="59"/>
                </a:cubicBezTo>
                <a:cubicBezTo>
                  <a:pt x="264" y="39"/>
                  <a:pt x="232" y="39"/>
                  <a:pt x="220" y="59"/>
                </a:cubicBezTo>
                <a:cubicBezTo>
                  <a:pt x="206" y="82"/>
                  <a:pt x="216" y="111"/>
                  <a:pt x="229" y="125"/>
                </a:cubicBezTo>
                <a:cubicBezTo>
                  <a:pt x="239" y="136"/>
                  <a:pt x="257" y="136"/>
                  <a:pt x="267" y="125"/>
                </a:cubicBez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xmlns="" id="{FE2F37BB-225E-45A7-BF49-533DCE6C1678}"/>
              </a:ext>
            </a:extLst>
          </p:cNvPr>
          <p:cNvSpPr>
            <a:spLocks noEditPoints="1"/>
          </p:cNvSpPr>
          <p:nvPr/>
        </p:nvSpPr>
        <p:spPr bwMode="auto">
          <a:xfrm rot="1839456">
            <a:off x="1929974" y="2435787"/>
            <a:ext cx="140428" cy="217731"/>
          </a:xfrm>
          <a:custGeom>
            <a:avLst/>
            <a:gdLst>
              <a:gd name="T0" fmla="*/ 152 w 176"/>
              <a:gd name="T1" fmla="*/ 0 h 273"/>
              <a:gd name="T2" fmla="*/ 24 w 176"/>
              <a:gd name="T3" fmla="*/ 0 h 273"/>
              <a:gd name="T4" fmla="*/ 0 w 176"/>
              <a:gd name="T5" fmla="*/ 26 h 273"/>
              <a:gd name="T6" fmla="*/ 0 w 176"/>
              <a:gd name="T7" fmla="*/ 247 h 273"/>
              <a:gd name="T8" fmla="*/ 24 w 176"/>
              <a:gd name="T9" fmla="*/ 273 h 273"/>
              <a:gd name="T10" fmla="*/ 152 w 176"/>
              <a:gd name="T11" fmla="*/ 273 h 273"/>
              <a:gd name="T12" fmla="*/ 176 w 176"/>
              <a:gd name="T13" fmla="*/ 247 h 273"/>
              <a:gd name="T14" fmla="*/ 176 w 176"/>
              <a:gd name="T15" fmla="*/ 26 h 273"/>
              <a:gd name="T16" fmla="*/ 152 w 176"/>
              <a:gd name="T17" fmla="*/ 0 h 273"/>
              <a:gd name="T18" fmla="*/ 49 w 176"/>
              <a:gd name="T19" fmla="*/ 247 h 273"/>
              <a:gd name="T20" fmla="*/ 25 w 176"/>
              <a:gd name="T21" fmla="*/ 247 h 273"/>
              <a:gd name="T22" fmla="*/ 19 w 176"/>
              <a:gd name="T23" fmla="*/ 241 h 273"/>
              <a:gd name="T24" fmla="*/ 25 w 176"/>
              <a:gd name="T25" fmla="*/ 236 h 273"/>
              <a:gd name="T26" fmla="*/ 49 w 176"/>
              <a:gd name="T27" fmla="*/ 236 h 273"/>
              <a:gd name="T28" fmla="*/ 55 w 176"/>
              <a:gd name="T29" fmla="*/ 241 h 273"/>
              <a:gd name="T30" fmla="*/ 49 w 176"/>
              <a:gd name="T31" fmla="*/ 247 h 273"/>
              <a:gd name="T32" fmla="*/ 88 w 176"/>
              <a:gd name="T33" fmla="*/ 258 h 273"/>
              <a:gd name="T34" fmla="*/ 71 w 176"/>
              <a:gd name="T35" fmla="*/ 241 h 273"/>
              <a:gd name="T36" fmla="*/ 88 w 176"/>
              <a:gd name="T37" fmla="*/ 225 h 273"/>
              <a:gd name="T38" fmla="*/ 104 w 176"/>
              <a:gd name="T39" fmla="*/ 241 h 273"/>
              <a:gd name="T40" fmla="*/ 88 w 176"/>
              <a:gd name="T41" fmla="*/ 258 h 273"/>
              <a:gd name="T42" fmla="*/ 150 w 176"/>
              <a:gd name="T43" fmla="*/ 247 h 273"/>
              <a:gd name="T44" fmla="*/ 125 w 176"/>
              <a:gd name="T45" fmla="*/ 247 h 273"/>
              <a:gd name="T46" fmla="*/ 120 w 176"/>
              <a:gd name="T47" fmla="*/ 241 h 273"/>
              <a:gd name="T48" fmla="*/ 125 w 176"/>
              <a:gd name="T49" fmla="*/ 236 h 273"/>
              <a:gd name="T50" fmla="*/ 150 w 176"/>
              <a:gd name="T51" fmla="*/ 236 h 273"/>
              <a:gd name="T52" fmla="*/ 155 w 176"/>
              <a:gd name="T53" fmla="*/ 241 h 273"/>
              <a:gd name="T54" fmla="*/ 150 w 176"/>
              <a:gd name="T55" fmla="*/ 247 h 273"/>
              <a:gd name="T56" fmla="*/ 157 w 176"/>
              <a:gd name="T57" fmla="*/ 200 h 273"/>
              <a:gd name="T58" fmla="*/ 150 w 176"/>
              <a:gd name="T59" fmla="*/ 208 h 273"/>
              <a:gd name="T60" fmla="*/ 26 w 176"/>
              <a:gd name="T61" fmla="*/ 208 h 273"/>
              <a:gd name="T62" fmla="*/ 18 w 176"/>
              <a:gd name="T63" fmla="*/ 200 h 273"/>
              <a:gd name="T64" fmla="*/ 18 w 176"/>
              <a:gd name="T65" fmla="*/ 28 h 273"/>
              <a:gd name="T66" fmla="*/ 26 w 176"/>
              <a:gd name="T67" fmla="*/ 21 h 273"/>
              <a:gd name="T68" fmla="*/ 150 w 176"/>
              <a:gd name="T69" fmla="*/ 21 h 273"/>
              <a:gd name="T70" fmla="*/ 157 w 176"/>
              <a:gd name="T71" fmla="*/ 28 h 273"/>
              <a:gd name="T72" fmla="*/ 157 w 176"/>
              <a:gd name="T73" fmla="*/ 20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273">
                <a:moveTo>
                  <a:pt x="152" y="0"/>
                </a:moveTo>
                <a:cubicBezTo>
                  <a:pt x="24" y="0"/>
                  <a:pt x="24" y="0"/>
                  <a:pt x="24" y="0"/>
                </a:cubicBezTo>
                <a:cubicBezTo>
                  <a:pt x="10" y="0"/>
                  <a:pt x="0" y="12"/>
                  <a:pt x="0" y="26"/>
                </a:cubicBezTo>
                <a:cubicBezTo>
                  <a:pt x="0" y="247"/>
                  <a:pt x="0" y="247"/>
                  <a:pt x="0" y="247"/>
                </a:cubicBezTo>
                <a:cubicBezTo>
                  <a:pt x="0" y="262"/>
                  <a:pt x="10" y="273"/>
                  <a:pt x="24" y="273"/>
                </a:cubicBezTo>
                <a:cubicBezTo>
                  <a:pt x="152" y="273"/>
                  <a:pt x="152" y="273"/>
                  <a:pt x="152" y="273"/>
                </a:cubicBezTo>
                <a:cubicBezTo>
                  <a:pt x="165" y="273"/>
                  <a:pt x="176" y="262"/>
                  <a:pt x="176" y="247"/>
                </a:cubicBezTo>
                <a:cubicBezTo>
                  <a:pt x="176" y="26"/>
                  <a:pt x="176" y="26"/>
                  <a:pt x="176" y="26"/>
                </a:cubicBezTo>
                <a:cubicBezTo>
                  <a:pt x="176" y="12"/>
                  <a:pt x="165" y="0"/>
                  <a:pt x="152" y="0"/>
                </a:cubicBezTo>
                <a:close/>
                <a:moveTo>
                  <a:pt x="49" y="247"/>
                </a:moveTo>
                <a:cubicBezTo>
                  <a:pt x="25" y="247"/>
                  <a:pt x="25" y="247"/>
                  <a:pt x="25" y="247"/>
                </a:cubicBezTo>
                <a:cubicBezTo>
                  <a:pt x="22" y="247"/>
                  <a:pt x="19" y="244"/>
                  <a:pt x="19" y="241"/>
                </a:cubicBezTo>
                <a:cubicBezTo>
                  <a:pt x="19" y="238"/>
                  <a:pt x="22" y="236"/>
                  <a:pt x="25" y="236"/>
                </a:cubicBezTo>
                <a:cubicBezTo>
                  <a:pt x="49" y="236"/>
                  <a:pt x="49" y="236"/>
                  <a:pt x="49" y="236"/>
                </a:cubicBezTo>
                <a:cubicBezTo>
                  <a:pt x="52" y="236"/>
                  <a:pt x="55" y="238"/>
                  <a:pt x="55" y="241"/>
                </a:cubicBezTo>
                <a:cubicBezTo>
                  <a:pt x="55" y="244"/>
                  <a:pt x="52" y="247"/>
                  <a:pt x="49" y="247"/>
                </a:cubicBezTo>
                <a:close/>
                <a:moveTo>
                  <a:pt x="88" y="258"/>
                </a:moveTo>
                <a:cubicBezTo>
                  <a:pt x="79" y="258"/>
                  <a:pt x="71" y="250"/>
                  <a:pt x="71" y="241"/>
                </a:cubicBezTo>
                <a:cubicBezTo>
                  <a:pt x="71" y="232"/>
                  <a:pt x="79" y="225"/>
                  <a:pt x="88" y="225"/>
                </a:cubicBezTo>
                <a:cubicBezTo>
                  <a:pt x="97" y="225"/>
                  <a:pt x="104" y="232"/>
                  <a:pt x="104" y="241"/>
                </a:cubicBezTo>
                <a:cubicBezTo>
                  <a:pt x="104" y="250"/>
                  <a:pt x="97" y="258"/>
                  <a:pt x="88" y="258"/>
                </a:cubicBezTo>
                <a:close/>
                <a:moveTo>
                  <a:pt x="150" y="247"/>
                </a:moveTo>
                <a:cubicBezTo>
                  <a:pt x="125" y="247"/>
                  <a:pt x="125" y="247"/>
                  <a:pt x="125" y="247"/>
                </a:cubicBezTo>
                <a:cubicBezTo>
                  <a:pt x="122" y="247"/>
                  <a:pt x="120" y="244"/>
                  <a:pt x="120" y="241"/>
                </a:cubicBezTo>
                <a:cubicBezTo>
                  <a:pt x="120" y="238"/>
                  <a:pt x="122" y="236"/>
                  <a:pt x="125" y="236"/>
                </a:cubicBezTo>
                <a:cubicBezTo>
                  <a:pt x="150" y="236"/>
                  <a:pt x="150" y="236"/>
                  <a:pt x="150" y="236"/>
                </a:cubicBezTo>
                <a:cubicBezTo>
                  <a:pt x="153" y="236"/>
                  <a:pt x="155" y="238"/>
                  <a:pt x="155" y="241"/>
                </a:cubicBezTo>
                <a:cubicBezTo>
                  <a:pt x="155" y="244"/>
                  <a:pt x="153" y="247"/>
                  <a:pt x="150" y="247"/>
                </a:cubicBezTo>
                <a:close/>
                <a:moveTo>
                  <a:pt x="157" y="200"/>
                </a:moveTo>
                <a:cubicBezTo>
                  <a:pt x="157" y="204"/>
                  <a:pt x="154" y="208"/>
                  <a:pt x="150" y="208"/>
                </a:cubicBezTo>
                <a:cubicBezTo>
                  <a:pt x="26" y="208"/>
                  <a:pt x="26" y="208"/>
                  <a:pt x="26" y="208"/>
                </a:cubicBezTo>
                <a:cubicBezTo>
                  <a:pt x="22" y="208"/>
                  <a:pt x="18" y="204"/>
                  <a:pt x="18" y="200"/>
                </a:cubicBezTo>
                <a:cubicBezTo>
                  <a:pt x="18" y="28"/>
                  <a:pt x="18" y="28"/>
                  <a:pt x="18" y="28"/>
                </a:cubicBezTo>
                <a:cubicBezTo>
                  <a:pt x="18" y="24"/>
                  <a:pt x="22" y="21"/>
                  <a:pt x="26" y="21"/>
                </a:cubicBezTo>
                <a:cubicBezTo>
                  <a:pt x="150" y="21"/>
                  <a:pt x="150" y="21"/>
                  <a:pt x="150" y="21"/>
                </a:cubicBezTo>
                <a:cubicBezTo>
                  <a:pt x="154" y="21"/>
                  <a:pt x="157" y="24"/>
                  <a:pt x="157" y="28"/>
                </a:cubicBezTo>
                <a:lnTo>
                  <a:pt x="157" y="200"/>
                </a:lnTo>
                <a:close/>
              </a:path>
            </a:pathLst>
          </a:custGeom>
          <a:solidFill>
            <a:srgbClr val="F15D5A"/>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Freeform 78">
            <a:extLst>
              <a:ext uri="{FF2B5EF4-FFF2-40B4-BE49-F238E27FC236}">
                <a16:creationId xmlns:a16="http://schemas.microsoft.com/office/drawing/2014/main" xmlns="" id="{6BC5F6B0-3EE9-45AD-A3E0-40867DAC1697}"/>
              </a:ext>
            </a:extLst>
          </p:cNvPr>
          <p:cNvSpPr>
            <a:spLocks noEditPoints="1"/>
          </p:cNvSpPr>
          <p:nvPr/>
        </p:nvSpPr>
        <p:spPr bwMode="auto">
          <a:xfrm>
            <a:off x="1336806" y="2459747"/>
            <a:ext cx="140428" cy="217731"/>
          </a:xfrm>
          <a:custGeom>
            <a:avLst/>
            <a:gdLst>
              <a:gd name="T0" fmla="*/ 152 w 176"/>
              <a:gd name="T1" fmla="*/ 0 h 273"/>
              <a:gd name="T2" fmla="*/ 24 w 176"/>
              <a:gd name="T3" fmla="*/ 0 h 273"/>
              <a:gd name="T4" fmla="*/ 0 w 176"/>
              <a:gd name="T5" fmla="*/ 26 h 273"/>
              <a:gd name="T6" fmla="*/ 0 w 176"/>
              <a:gd name="T7" fmla="*/ 247 h 273"/>
              <a:gd name="T8" fmla="*/ 24 w 176"/>
              <a:gd name="T9" fmla="*/ 273 h 273"/>
              <a:gd name="T10" fmla="*/ 152 w 176"/>
              <a:gd name="T11" fmla="*/ 273 h 273"/>
              <a:gd name="T12" fmla="*/ 176 w 176"/>
              <a:gd name="T13" fmla="*/ 247 h 273"/>
              <a:gd name="T14" fmla="*/ 176 w 176"/>
              <a:gd name="T15" fmla="*/ 26 h 273"/>
              <a:gd name="T16" fmla="*/ 152 w 176"/>
              <a:gd name="T17" fmla="*/ 0 h 273"/>
              <a:gd name="T18" fmla="*/ 49 w 176"/>
              <a:gd name="T19" fmla="*/ 247 h 273"/>
              <a:gd name="T20" fmla="*/ 25 w 176"/>
              <a:gd name="T21" fmla="*/ 247 h 273"/>
              <a:gd name="T22" fmla="*/ 19 w 176"/>
              <a:gd name="T23" fmla="*/ 241 h 273"/>
              <a:gd name="T24" fmla="*/ 25 w 176"/>
              <a:gd name="T25" fmla="*/ 236 h 273"/>
              <a:gd name="T26" fmla="*/ 49 w 176"/>
              <a:gd name="T27" fmla="*/ 236 h 273"/>
              <a:gd name="T28" fmla="*/ 55 w 176"/>
              <a:gd name="T29" fmla="*/ 241 h 273"/>
              <a:gd name="T30" fmla="*/ 49 w 176"/>
              <a:gd name="T31" fmla="*/ 247 h 273"/>
              <a:gd name="T32" fmla="*/ 88 w 176"/>
              <a:gd name="T33" fmla="*/ 258 h 273"/>
              <a:gd name="T34" fmla="*/ 71 w 176"/>
              <a:gd name="T35" fmla="*/ 241 h 273"/>
              <a:gd name="T36" fmla="*/ 88 w 176"/>
              <a:gd name="T37" fmla="*/ 225 h 273"/>
              <a:gd name="T38" fmla="*/ 104 w 176"/>
              <a:gd name="T39" fmla="*/ 241 h 273"/>
              <a:gd name="T40" fmla="*/ 88 w 176"/>
              <a:gd name="T41" fmla="*/ 258 h 273"/>
              <a:gd name="T42" fmla="*/ 150 w 176"/>
              <a:gd name="T43" fmla="*/ 247 h 273"/>
              <a:gd name="T44" fmla="*/ 125 w 176"/>
              <a:gd name="T45" fmla="*/ 247 h 273"/>
              <a:gd name="T46" fmla="*/ 120 w 176"/>
              <a:gd name="T47" fmla="*/ 241 h 273"/>
              <a:gd name="T48" fmla="*/ 125 w 176"/>
              <a:gd name="T49" fmla="*/ 236 h 273"/>
              <a:gd name="T50" fmla="*/ 150 w 176"/>
              <a:gd name="T51" fmla="*/ 236 h 273"/>
              <a:gd name="T52" fmla="*/ 155 w 176"/>
              <a:gd name="T53" fmla="*/ 241 h 273"/>
              <a:gd name="T54" fmla="*/ 150 w 176"/>
              <a:gd name="T55" fmla="*/ 247 h 273"/>
              <a:gd name="T56" fmla="*/ 157 w 176"/>
              <a:gd name="T57" fmla="*/ 200 h 273"/>
              <a:gd name="T58" fmla="*/ 150 w 176"/>
              <a:gd name="T59" fmla="*/ 208 h 273"/>
              <a:gd name="T60" fmla="*/ 26 w 176"/>
              <a:gd name="T61" fmla="*/ 208 h 273"/>
              <a:gd name="T62" fmla="*/ 18 w 176"/>
              <a:gd name="T63" fmla="*/ 200 h 273"/>
              <a:gd name="T64" fmla="*/ 18 w 176"/>
              <a:gd name="T65" fmla="*/ 28 h 273"/>
              <a:gd name="T66" fmla="*/ 26 w 176"/>
              <a:gd name="T67" fmla="*/ 21 h 273"/>
              <a:gd name="T68" fmla="*/ 150 w 176"/>
              <a:gd name="T69" fmla="*/ 21 h 273"/>
              <a:gd name="T70" fmla="*/ 157 w 176"/>
              <a:gd name="T71" fmla="*/ 28 h 273"/>
              <a:gd name="T72" fmla="*/ 157 w 176"/>
              <a:gd name="T73" fmla="*/ 20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273">
                <a:moveTo>
                  <a:pt x="152" y="0"/>
                </a:moveTo>
                <a:cubicBezTo>
                  <a:pt x="24" y="0"/>
                  <a:pt x="24" y="0"/>
                  <a:pt x="24" y="0"/>
                </a:cubicBezTo>
                <a:cubicBezTo>
                  <a:pt x="10" y="0"/>
                  <a:pt x="0" y="12"/>
                  <a:pt x="0" y="26"/>
                </a:cubicBezTo>
                <a:cubicBezTo>
                  <a:pt x="0" y="247"/>
                  <a:pt x="0" y="247"/>
                  <a:pt x="0" y="247"/>
                </a:cubicBezTo>
                <a:cubicBezTo>
                  <a:pt x="0" y="262"/>
                  <a:pt x="10" y="273"/>
                  <a:pt x="24" y="273"/>
                </a:cubicBezTo>
                <a:cubicBezTo>
                  <a:pt x="152" y="273"/>
                  <a:pt x="152" y="273"/>
                  <a:pt x="152" y="273"/>
                </a:cubicBezTo>
                <a:cubicBezTo>
                  <a:pt x="165" y="273"/>
                  <a:pt x="176" y="262"/>
                  <a:pt x="176" y="247"/>
                </a:cubicBezTo>
                <a:cubicBezTo>
                  <a:pt x="176" y="26"/>
                  <a:pt x="176" y="26"/>
                  <a:pt x="176" y="26"/>
                </a:cubicBezTo>
                <a:cubicBezTo>
                  <a:pt x="176" y="12"/>
                  <a:pt x="165" y="0"/>
                  <a:pt x="152" y="0"/>
                </a:cubicBezTo>
                <a:close/>
                <a:moveTo>
                  <a:pt x="49" y="247"/>
                </a:moveTo>
                <a:cubicBezTo>
                  <a:pt x="25" y="247"/>
                  <a:pt x="25" y="247"/>
                  <a:pt x="25" y="247"/>
                </a:cubicBezTo>
                <a:cubicBezTo>
                  <a:pt x="22" y="247"/>
                  <a:pt x="19" y="244"/>
                  <a:pt x="19" y="241"/>
                </a:cubicBezTo>
                <a:cubicBezTo>
                  <a:pt x="19" y="238"/>
                  <a:pt x="22" y="236"/>
                  <a:pt x="25" y="236"/>
                </a:cubicBezTo>
                <a:cubicBezTo>
                  <a:pt x="49" y="236"/>
                  <a:pt x="49" y="236"/>
                  <a:pt x="49" y="236"/>
                </a:cubicBezTo>
                <a:cubicBezTo>
                  <a:pt x="52" y="236"/>
                  <a:pt x="55" y="238"/>
                  <a:pt x="55" y="241"/>
                </a:cubicBezTo>
                <a:cubicBezTo>
                  <a:pt x="55" y="244"/>
                  <a:pt x="52" y="247"/>
                  <a:pt x="49" y="247"/>
                </a:cubicBezTo>
                <a:close/>
                <a:moveTo>
                  <a:pt x="88" y="258"/>
                </a:moveTo>
                <a:cubicBezTo>
                  <a:pt x="79" y="258"/>
                  <a:pt x="71" y="250"/>
                  <a:pt x="71" y="241"/>
                </a:cubicBezTo>
                <a:cubicBezTo>
                  <a:pt x="71" y="232"/>
                  <a:pt x="79" y="225"/>
                  <a:pt x="88" y="225"/>
                </a:cubicBezTo>
                <a:cubicBezTo>
                  <a:pt x="97" y="225"/>
                  <a:pt x="104" y="232"/>
                  <a:pt x="104" y="241"/>
                </a:cubicBezTo>
                <a:cubicBezTo>
                  <a:pt x="104" y="250"/>
                  <a:pt x="97" y="258"/>
                  <a:pt x="88" y="258"/>
                </a:cubicBezTo>
                <a:close/>
                <a:moveTo>
                  <a:pt x="150" y="247"/>
                </a:moveTo>
                <a:cubicBezTo>
                  <a:pt x="125" y="247"/>
                  <a:pt x="125" y="247"/>
                  <a:pt x="125" y="247"/>
                </a:cubicBezTo>
                <a:cubicBezTo>
                  <a:pt x="122" y="247"/>
                  <a:pt x="120" y="244"/>
                  <a:pt x="120" y="241"/>
                </a:cubicBezTo>
                <a:cubicBezTo>
                  <a:pt x="120" y="238"/>
                  <a:pt x="122" y="236"/>
                  <a:pt x="125" y="236"/>
                </a:cubicBezTo>
                <a:cubicBezTo>
                  <a:pt x="150" y="236"/>
                  <a:pt x="150" y="236"/>
                  <a:pt x="150" y="236"/>
                </a:cubicBezTo>
                <a:cubicBezTo>
                  <a:pt x="153" y="236"/>
                  <a:pt x="155" y="238"/>
                  <a:pt x="155" y="241"/>
                </a:cubicBezTo>
                <a:cubicBezTo>
                  <a:pt x="155" y="244"/>
                  <a:pt x="153" y="247"/>
                  <a:pt x="150" y="247"/>
                </a:cubicBezTo>
                <a:close/>
                <a:moveTo>
                  <a:pt x="157" y="200"/>
                </a:moveTo>
                <a:cubicBezTo>
                  <a:pt x="157" y="204"/>
                  <a:pt x="154" y="208"/>
                  <a:pt x="150" y="208"/>
                </a:cubicBezTo>
                <a:cubicBezTo>
                  <a:pt x="26" y="208"/>
                  <a:pt x="26" y="208"/>
                  <a:pt x="26" y="208"/>
                </a:cubicBezTo>
                <a:cubicBezTo>
                  <a:pt x="22" y="208"/>
                  <a:pt x="18" y="204"/>
                  <a:pt x="18" y="200"/>
                </a:cubicBezTo>
                <a:cubicBezTo>
                  <a:pt x="18" y="28"/>
                  <a:pt x="18" y="28"/>
                  <a:pt x="18" y="28"/>
                </a:cubicBezTo>
                <a:cubicBezTo>
                  <a:pt x="18" y="24"/>
                  <a:pt x="22" y="21"/>
                  <a:pt x="26" y="21"/>
                </a:cubicBezTo>
                <a:cubicBezTo>
                  <a:pt x="150" y="21"/>
                  <a:pt x="150" y="21"/>
                  <a:pt x="150" y="21"/>
                </a:cubicBezTo>
                <a:cubicBezTo>
                  <a:pt x="154" y="21"/>
                  <a:pt x="157" y="24"/>
                  <a:pt x="157" y="28"/>
                </a:cubicBezTo>
                <a:lnTo>
                  <a:pt x="157" y="200"/>
                </a:lnTo>
                <a:close/>
              </a:path>
            </a:pathLst>
          </a:custGeom>
          <a:solidFill>
            <a:srgbClr val="F15D5A"/>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Freeform 78">
            <a:extLst>
              <a:ext uri="{FF2B5EF4-FFF2-40B4-BE49-F238E27FC236}">
                <a16:creationId xmlns:a16="http://schemas.microsoft.com/office/drawing/2014/main" xmlns="" id="{FE1D01C9-8823-483A-AC2A-68448EF12DB4}"/>
              </a:ext>
            </a:extLst>
          </p:cNvPr>
          <p:cNvSpPr>
            <a:spLocks noEditPoints="1"/>
          </p:cNvSpPr>
          <p:nvPr/>
        </p:nvSpPr>
        <p:spPr bwMode="auto">
          <a:xfrm rot="19441020">
            <a:off x="711229" y="2451963"/>
            <a:ext cx="140428" cy="217731"/>
          </a:xfrm>
          <a:custGeom>
            <a:avLst/>
            <a:gdLst>
              <a:gd name="T0" fmla="*/ 152 w 176"/>
              <a:gd name="T1" fmla="*/ 0 h 273"/>
              <a:gd name="T2" fmla="*/ 24 w 176"/>
              <a:gd name="T3" fmla="*/ 0 h 273"/>
              <a:gd name="T4" fmla="*/ 0 w 176"/>
              <a:gd name="T5" fmla="*/ 26 h 273"/>
              <a:gd name="T6" fmla="*/ 0 w 176"/>
              <a:gd name="T7" fmla="*/ 247 h 273"/>
              <a:gd name="T8" fmla="*/ 24 w 176"/>
              <a:gd name="T9" fmla="*/ 273 h 273"/>
              <a:gd name="T10" fmla="*/ 152 w 176"/>
              <a:gd name="T11" fmla="*/ 273 h 273"/>
              <a:gd name="T12" fmla="*/ 176 w 176"/>
              <a:gd name="T13" fmla="*/ 247 h 273"/>
              <a:gd name="T14" fmla="*/ 176 w 176"/>
              <a:gd name="T15" fmla="*/ 26 h 273"/>
              <a:gd name="T16" fmla="*/ 152 w 176"/>
              <a:gd name="T17" fmla="*/ 0 h 273"/>
              <a:gd name="T18" fmla="*/ 49 w 176"/>
              <a:gd name="T19" fmla="*/ 247 h 273"/>
              <a:gd name="T20" fmla="*/ 25 w 176"/>
              <a:gd name="T21" fmla="*/ 247 h 273"/>
              <a:gd name="T22" fmla="*/ 19 w 176"/>
              <a:gd name="T23" fmla="*/ 241 h 273"/>
              <a:gd name="T24" fmla="*/ 25 w 176"/>
              <a:gd name="T25" fmla="*/ 236 h 273"/>
              <a:gd name="T26" fmla="*/ 49 w 176"/>
              <a:gd name="T27" fmla="*/ 236 h 273"/>
              <a:gd name="T28" fmla="*/ 55 w 176"/>
              <a:gd name="T29" fmla="*/ 241 h 273"/>
              <a:gd name="T30" fmla="*/ 49 w 176"/>
              <a:gd name="T31" fmla="*/ 247 h 273"/>
              <a:gd name="T32" fmla="*/ 88 w 176"/>
              <a:gd name="T33" fmla="*/ 258 h 273"/>
              <a:gd name="T34" fmla="*/ 71 w 176"/>
              <a:gd name="T35" fmla="*/ 241 h 273"/>
              <a:gd name="T36" fmla="*/ 88 w 176"/>
              <a:gd name="T37" fmla="*/ 225 h 273"/>
              <a:gd name="T38" fmla="*/ 104 w 176"/>
              <a:gd name="T39" fmla="*/ 241 h 273"/>
              <a:gd name="T40" fmla="*/ 88 w 176"/>
              <a:gd name="T41" fmla="*/ 258 h 273"/>
              <a:gd name="T42" fmla="*/ 150 w 176"/>
              <a:gd name="T43" fmla="*/ 247 h 273"/>
              <a:gd name="T44" fmla="*/ 125 w 176"/>
              <a:gd name="T45" fmla="*/ 247 h 273"/>
              <a:gd name="T46" fmla="*/ 120 w 176"/>
              <a:gd name="T47" fmla="*/ 241 h 273"/>
              <a:gd name="T48" fmla="*/ 125 w 176"/>
              <a:gd name="T49" fmla="*/ 236 h 273"/>
              <a:gd name="T50" fmla="*/ 150 w 176"/>
              <a:gd name="T51" fmla="*/ 236 h 273"/>
              <a:gd name="T52" fmla="*/ 155 w 176"/>
              <a:gd name="T53" fmla="*/ 241 h 273"/>
              <a:gd name="T54" fmla="*/ 150 w 176"/>
              <a:gd name="T55" fmla="*/ 247 h 273"/>
              <a:gd name="T56" fmla="*/ 157 w 176"/>
              <a:gd name="T57" fmla="*/ 200 h 273"/>
              <a:gd name="T58" fmla="*/ 150 w 176"/>
              <a:gd name="T59" fmla="*/ 208 h 273"/>
              <a:gd name="T60" fmla="*/ 26 w 176"/>
              <a:gd name="T61" fmla="*/ 208 h 273"/>
              <a:gd name="T62" fmla="*/ 18 w 176"/>
              <a:gd name="T63" fmla="*/ 200 h 273"/>
              <a:gd name="T64" fmla="*/ 18 w 176"/>
              <a:gd name="T65" fmla="*/ 28 h 273"/>
              <a:gd name="T66" fmla="*/ 26 w 176"/>
              <a:gd name="T67" fmla="*/ 21 h 273"/>
              <a:gd name="T68" fmla="*/ 150 w 176"/>
              <a:gd name="T69" fmla="*/ 21 h 273"/>
              <a:gd name="T70" fmla="*/ 157 w 176"/>
              <a:gd name="T71" fmla="*/ 28 h 273"/>
              <a:gd name="T72" fmla="*/ 157 w 176"/>
              <a:gd name="T73" fmla="*/ 20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273">
                <a:moveTo>
                  <a:pt x="152" y="0"/>
                </a:moveTo>
                <a:cubicBezTo>
                  <a:pt x="24" y="0"/>
                  <a:pt x="24" y="0"/>
                  <a:pt x="24" y="0"/>
                </a:cubicBezTo>
                <a:cubicBezTo>
                  <a:pt x="10" y="0"/>
                  <a:pt x="0" y="12"/>
                  <a:pt x="0" y="26"/>
                </a:cubicBezTo>
                <a:cubicBezTo>
                  <a:pt x="0" y="247"/>
                  <a:pt x="0" y="247"/>
                  <a:pt x="0" y="247"/>
                </a:cubicBezTo>
                <a:cubicBezTo>
                  <a:pt x="0" y="262"/>
                  <a:pt x="10" y="273"/>
                  <a:pt x="24" y="273"/>
                </a:cubicBezTo>
                <a:cubicBezTo>
                  <a:pt x="152" y="273"/>
                  <a:pt x="152" y="273"/>
                  <a:pt x="152" y="273"/>
                </a:cubicBezTo>
                <a:cubicBezTo>
                  <a:pt x="165" y="273"/>
                  <a:pt x="176" y="262"/>
                  <a:pt x="176" y="247"/>
                </a:cubicBezTo>
                <a:cubicBezTo>
                  <a:pt x="176" y="26"/>
                  <a:pt x="176" y="26"/>
                  <a:pt x="176" y="26"/>
                </a:cubicBezTo>
                <a:cubicBezTo>
                  <a:pt x="176" y="12"/>
                  <a:pt x="165" y="0"/>
                  <a:pt x="152" y="0"/>
                </a:cubicBezTo>
                <a:close/>
                <a:moveTo>
                  <a:pt x="49" y="247"/>
                </a:moveTo>
                <a:cubicBezTo>
                  <a:pt x="25" y="247"/>
                  <a:pt x="25" y="247"/>
                  <a:pt x="25" y="247"/>
                </a:cubicBezTo>
                <a:cubicBezTo>
                  <a:pt x="22" y="247"/>
                  <a:pt x="19" y="244"/>
                  <a:pt x="19" y="241"/>
                </a:cubicBezTo>
                <a:cubicBezTo>
                  <a:pt x="19" y="238"/>
                  <a:pt x="22" y="236"/>
                  <a:pt x="25" y="236"/>
                </a:cubicBezTo>
                <a:cubicBezTo>
                  <a:pt x="49" y="236"/>
                  <a:pt x="49" y="236"/>
                  <a:pt x="49" y="236"/>
                </a:cubicBezTo>
                <a:cubicBezTo>
                  <a:pt x="52" y="236"/>
                  <a:pt x="55" y="238"/>
                  <a:pt x="55" y="241"/>
                </a:cubicBezTo>
                <a:cubicBezTo>
                  <a:pt x="55" y="244"/>
                  <a:pt x="52" y="247"/>
                  <a:pt x="49" y="247"/>
                </a:cubicBezTo>
                <a:close/>
                <a:moveTo>
                  <a:pt x="88" y="258"/>
                </a:moveTo>
                <a:cubicBezTo>
                  <a:pt x="79" y="258"/>
                  <a:pt x="71" y="250"/>
                  <a:pt x="71" y="241"/>
                </a:cubicBezTo>
                <a:cubicBezTo>
                  <a:pt x="71" y="232"/>
                  <a:pt x="79" y="225"/>
                  <a:pt x="88" y="225"/>
                </a:cubicBezTo>
                <a:cubicBezTo>
                  <a:pt x="97" y="225"/>
                  <a:pt x="104" y="232"/>
                  <a:pt x="104" y="241"/>
                </a:cubicBezTo>
                <a:cubicBezTo>
                  <a:pt x="104" y="250"/>
                  <a:pt x="97" y="258"/>
                  <a:pt x="88" y="258"/>
                </a:cubicBezTo>
                <a:close/>
                <a:moveTo>
                  <a:pt x="150" y="247"/>
                </a:moveTo>
                <a:cubicBezTo>
                  <a:pt x="125" y="247"/>
                  <a:pt x="125" y="247"/>
                  <a:pt x="125" y="247"/>
                </a:cubicBezTo>
                <a:cubicBezTo>
                  <a:pt x="122" y="247"/>
                  <a:pt x="120" y="244"/>
                  <a:pt x="120" y="241"/>
                </a:cubicBezTo>
                <a:cubicBezTo>
                  <a:pt x="120" y="238"/>
                  <a:pt x="122" y="236"/>
                  <a:pt x="125" y="236"/>
                </a:cubicBezTo>
                <a:cubicBezTo>
                  <a:pt x="150" y="236"/>
                  <a:pt x="150" y="236"/>
                  <a:pt x="150" y="236"/>
                </a:cubicBezTo>
                <a:cubicBezTo>
                  <a:pt x="153" y="236"/>
                  <a:pt x="155" y="238"/>
                  <a:pt x="155" y="241"/>
                </a:cubicBezTo>
                <a:cubicBezTo>
                  <a:pt x="155" y="244"/>
                  <a:pt x="153" y="247"/>
                  <a:pt x="150" y="247"/>
                </a:cubicBezTo>
                <a:close/>
                <a:moveTo>
                  <a:pt x="157" y="200"/>
                </a:moveTo>
                <a:cubicBezTo>
                  <a:pt x="157" y="204"/>
                  <a:pt x="154" y="208"/>
                  <a:pt x="150" y="208"/>
                </a:cubicBezTo>
                <a:cubicBezTo>
                  <a:pt x="26" y="208"/>
                  <a:pt x="26" y="208"/>
                  <a:pt x="26" y="208"/>
                </a:cubicBezTo>
                <a:cubicBezTo>
                  <a:pt x="22" y="208"/>
                  <a:pt x="18" y="204"/>
                  <a:pt x="18" y="200"/>
                </a:cubicBezTo>
                <a:cubicBezTo>
                  <a:pt x="18" y="28"/>
                  <a:pt x="18" y="28"/>
                  <a:pt x="18" y="28"/>
                </a:cubicBezTo>
                <a:cubicBezTo>
                  <a:pt x="18" y="24"/>
                  <a:pt x="22" y="21"/>
                  <a:pt x="26" y="21"/>
                </a:cubicBezTo>
                <a:cubicBezTo>
                  <a:pt x="150" y="21"/>
                  <a:pt x="150" y="21"/>
                  <a:pt x="150" y="21"/>
                </a:cubicBezTo>
                <a:cubicBezTo>
                  <a:pt x="154" y="21"/>
                  <a:pt x="157" y="24"/>
                  <a:pt x="157" y="28"/>
                </a:cubicBezTo>
                <a:lnTo>
                  <a:pt x="157" y="200"/>
                </a:lnTo>
                <a:close/>
              </a:path>
            </a:pathLst>
          </a:custGeom>
          <a:solidFill>
            <a:srgbClr val="F15D5A"/>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8" name="Lightning Bolt 7">
            <a:extLst>
              <a:ext uri="{FF2B5EF4-FFF2-40B4-BE49-F238E27FC236}">
                <a16:creationId xmlns:a16="http://schemas.microsoft.com/office/drawing/2014/main" xmlns="" id="{F4C0EC99-DBB4-40A6-A9B9-EA89140A54F8}"/>
              </a:ext>
            </a:extLst>
          </p:cNvPr>
          <p:cNvSpPr/>
          <p:nvPr/>
        </p:nvSpPr>
        <p:spPr>
          <a:xfrm>
            <a:off x="1254231" y="1392788"/>
            <a:ext cx="165149" cy="209550"/>
          </a:xfrm>
          <a:prstGeom prst="lightningBolt">
            <a:avLst/>
          </a:prstGeom>
          <a:solidFill>
            <a:srgbClr val="F15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Lightning Bolt 35">
            <a:extLst>
              <a:ext uri="{FF2B5EF4-FFF2-40B4-BE49-F238E27FC236}">
                <a16:creationId xmlns:a16="http://schemas.microsoft.com/office/drawing/2014/main" xmlns="" id="{494C16FB-A6D5-4B9A-91A4-EE2C6FEEF938}"/>
              </a:ext>
            </a:extLst>
          </p:cNvPr>
          <p:cNvSpPr/>
          <p:nvPr/>
        </p:nvSpPr>
        <p:spPr>
          <a:xfrm rot="3600000">
            <a:off x="1640340" y="1383177"/>
            <a:ext cx="165149" cy="209550"/>
          </a:xfrm>
          <a:prstGeom prst="lightningBolt">
            <a:avLst/>
          </a:prstGeom>
          <a:solidFill>
            <a:srgbClr val="F15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tial Circle 10">
            <a:extLst>
              <a:ext uri="{FF2B5EF4-FFF2-40B4-BE49-F238E27FC236}">
                <a16:creationId xmlns:a16="http://schemas.microsoft.com/office/drawing/2014/main" xmlns="" id="{AD821FD4-6FFD-4BB7-8345-FA25C911D867}"/>
              </a:ext>
            </a:extLst>
          </p:cNvPr>
          <p:cNvSpPr/>
          <p:nvPr/>
        </p:nvSpPr>
        <p:spPr>
          <a:xfrm rot="2700000">
            <a:off x="637273" y="5183510"/>
            <a:ext cx="248035" cy="236332"/>
          </a:xfrm>
          <a:prstGeom prst="pie">
            <a:avLst/>
          </a:prstGeom>
          <a:solidFill>
            <a:srgbClr val="F15D5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1181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7368024"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a:t>Solution: </a:t>
            </a:r>
            <a:r>
              <a:rPr lang="en-US" dirty="0">
                <a:solidFill>
                  <a:srgbClr val="F4BC53"/>
                </a:solidFill>
              </a:rPr>
              <a:t>Present Education</a:t>
            </a:r>
          </a:p>
        </p:txBody>
      </p:sp>
      <p:sp>
        <p:nvSpPr>
          <p:cNvPr id="28" name="Content Placeholder 2">
            <a:extLst>
              <a:ext uri="{FF2B5EF4-FFF2-40B4-BE49-F238E27FC236}">
                <a16:creationId xmlns:a16="http://schemas.microsoft.com/office/drawing/2014/main" xmlns="" id="{CA4541C4-B83D-4AE7-9FDD-D33FB3170993}"/>
              </a:ext>
            </a:extLst>
          </p:cNvPr>
          <p:cNvSpPr>
            <a:spLocks noGrp="1"/>
          </p:cNvSpPr>
          <p:nvPr>
            <p:ph idx="1"/>
          </p:nvPr>
        </p:nvSpPr>
        <p:spPr>
          <a:xfrm>
            <a:off x="842998" y="1395714"/>
            <a:ext cx="8068698" cy="826874"/>
          </a:xfrm>
        </p:spPr>
        <p:txBody>
          <a:bodyPr>
            <a:noAutofit/>
          </a:bodyPr>
          <a:lstStyle/>
          <a:p>
            <a:pPr marL="0" indent="0">
              <a:buNone/>
            </a:pPr>
            <a:r>
              <a:rPr lang="en-US" sz="2800" b="1" dirty="0">
                <a:solidFill>
                  <a:srgbClr val="F4BC53"/>
                </a:solidFill>
              </a:rPr>
              <a:t>A platform that</a:t>
            </a:r>
            <a:r>
              <a:rPr lang="mr-IN" sz="2800" b="1" dirty="0">
                <a:solidFill>
                  <a:srgbClr val="F4BC53"/>
                </a:solidFill>
              </a:rPr>
              <a:t>…</a:t>
            </a:r>
            <a:endParaRPr lang="en-US" sz="2800" dirty="0"/>
          </a:p>
        </p:txBody>
      </p:sp>
      <p:sp>
        <p:nvSpPr>
          <p:cNvPr id="8" name="Content Placeholder 2">
            <a:extLst>
              <a:ext uri="{FF2B5EF4-FFF2-40B4-BE49-F238E27FC236}">
                <a16:creationId xmlns:a16="http://schemas.microsoft.com/office/drawing/2014/main" xmlns="" id="{CA4541C4-B83D-4AE7-9FDD-D33FB3170993}"/>
              </a:ext>
            </a:extLst>
          </p:cNvPr>
          <p:cNvSpPr txBox="1">
            <a:spLocks/>
          </p:cNvSpPr>
          <p:nvPr/>
        </p:nvSpPr>
        <p:spPr>
          <a:xfrm>
            <a:off x="4074781" y="3698443"/>
            <a:ext cx="7670740" cy="8268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mr-IN" sz="2000" dirty="0"/>
              <a:t>…</a:t>
            </a:r>
            <a:r>
              <a:rPr lang="en-US" sz="2000" dirty="0">
                <a:solidFill>
                  <a:srgbClr val="F4BC53"/>
                </a:solidFill>
              </a:rPr>
              <a:t>allows teachers to use the ed-tech apps</a:t>
            </a:r>
            <a:r>
              <a:rPr lang="en-US" sz="2000" dirty="0"/>
              <a:t> </a:t>
            </a:r>
            <a:r>
              <a:rPr lang="en-US" sz="2000" dirty="0">
                <a:solidFill>
                  <a:srgbClr val="F4BC53"/>
                </a:solidFill>
              </a:rPr>
              <a:t>they need </a:t>
            </a:r>
            <a:r>
              <a:rPr lang="en-US" sz="2000" dirty="0"/>
              <a:t>without having to worry about policing their students</a:t>
            </a:r>
          </a:p>
        </p:txBody>
      </p:sp>
      <p:sp>
        <p:nvSpPr>
          <p:cNvPr id="9" name="Content Placeholder 2">
            <a:extLst>
              <a:ext uri="{FF2B5EF4-FFF2-40B4-BE49-F238E27FC236}">
                <a16:creationId xmlns:a16="http://schemas.microsoft.com/office/drawing/2014/main" xmlns="" id="{CA4541C4-B83D-4AE7-9FDD-D33FB3170993}"/>
              </a:ext>
            </a:extLst>
          </p:cNvPr>
          <p:cNvSpPr txBox="1">
            <a:spLocks/>
          </p:cNvSpPr>
          <p:nvPr/>
        </p:nvSpPr>
        <p:spPr>
          <a:xfrm>
            <a:off x="5311228" y="5004840"/>
            <a:ext cx="6656655" cy="8268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mr-IN" sz="2000" dirty="0"/>
              <a:t>…</a:t>
            </a:r>
            <a:r>
              <a:rPr lang="en-US" sz="2000" dirty="0">
                <a:solidFill>
                  <a:srgbClr val="F4BC53"/>
                </a:solidFill>
              </a:rPr>
              <a:t>keeps students engaged </a:t>
            </a:r>
            <a:r>
              <a:rPr lang="en-US" sz="2000" dirty="0"/>
              <a:t>by allowing them to learn using their own devices</a:t>
            </a:r>
          </a:p>
        </p:txBody>
      </p:sp>
      <p:sp>
        <p:nvSpPr>
          <p:cNvPr id="10" name="Content Placeholder 2">
            <a:extLst>
              <a:ext uri="{FF2B5EF4-FFF2-40B4-BE49-F238E27FC236}">
                <a16:creationId xmlns:a16="http://schemas.microsoft.com/office/drawing/2014/main" xmlns="" id="{CA4541C4-B83D-4AE7-9FDD-D33FB3170993}"/>
              </a:ext>
            </a:extLst>
          </p:cNvPr>
          <p:cNvSpPr txBox="1">
            <a:spLocks/>
          </p:cNvSpPr>
          <p:nvPr/>
        </p:nvSpPr>
        <p:spPr>
          <a:xfrm>
            <a:off x="2861717" y="2392045"/>
            <a:ext cx="8068698" cy="8268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mr-IN" sz="2000" dirty="0"/>
              <a:t>…</a:t>
            </a:r>
            <a:r>
              <a:rPr lang="en-US" sz="2000" dirty="0">
                <a:solidFill>
                  <a:srgbClr val="F4BC53"/>
                </a:solidFill>
              </a:rPr>
              <a:t>disables phone distractions </a:t>
            </a:r>
            <a:r>
              <a:rPr lang="en-US" sz="2000" dirty="0"/>
              <a:t>like texts, games, and social media when students are in class or on campus</a:t>
            </a:r>
          </a:p>
        </p:txBody>
      </p:sp>
      <p:sp>
        <p:nvSpPr>
          <p:cNvPr id="12" name="Freeform 106">
            <a:extLst>
              <a:ext uri="{FF2B5EF4-FFF2-40B4-BE49-F238E27FC236}">
                <a16:creationId xmlns:a16="http://schemas.microsoft.com/office/drawing/2014/main" xmlns="" id="{4AE03032-E754-4293-97F1-12BB53BE264E}"/>
              </a:ext>
            </a:extLst>
          </p:cNvPr>
          <p:cNvSpPr>
            <a:spLocks noEditPoints="1"/>
          </p:cNvSpPr>
          <p:nvPr/>
        </p:nvSpPr>
        <p:spPr bwMode="auto">
          <a:xfrm>
            <a:off x="2579715" y="3698443"/>
            <a:ext cx="998256" cy="544762"/>
          </a:xfrm>
          <a:custGeom>
            <a:avLst/>
            <a:gdLst>
              <a:gd name="T0" fmla="*/ 457 w 457"/>
              <a:gd name="T1" fmla="*/ 227 h 248"/>
              <a:gd name="T2" fmla="*/ 141 w 457"/>
              <a:gd name="T3" fmla="*/ 248 h 248"/>
              <a:gd name="T4" fmla="*/ 349 w 457"/>
              <a:gd name="T5" fmla="*/ 43 h 248"/>
              <a:gd name="T6" fmla="*/ 263 w 457"/>
              <a:gd name="T7" fmla="*/ 43 h 248"/>
              <a:gd name="T8" fmla="*/ 201 w 457"/>
              <a:gd name="T9" fmla="*/ 220 h 248"/>
              <a:gd name="T10" fmla="*/ 188 w 457"/>
              <a:gd name="T11" fmla="*/ 206 h 248"/>
              <a:gd name="T12" fmla="*/ 174 w 457"/>
              <a:gd name="T13" fmla="*/ 220 h 248"/>
              <a:gd name="T14" fmla="*/ 166 w 457"/>
              <a:gd name="T15" fmla="*/ 208 h 248"/>
              <a:gd name="T16" fmla="*/ 212 w 457"/>
              <a:gd name="T17" fmla="*/ 160 h 248"/>
              <a:gd name="T18" fmla="*/ 266 w 457"/>
              <a:gd name="T19" fmla="*/ 111 h 248"/>
              <a:gd name="T20" fmla="*/ 339 w 457"/>
              <a:gd name="T21" fmla="*/ 111 h 248"/>
              <a:gd name="T22" fmla="*/ 392 w 457"/>
              <a:gd name="T23" fmla="*/ 142 h 248"/>
              <a:gd name="T24" fmla="*/ 420 w 457"/>
              <a:gd name="T25" fmla="*/ 196 h 248"/>
              <a:gd name="T26" fmla="*/ 378 w 457"/>
              <a:gd name="T27" fmla="*/ 220 h 248"/>
              <a:gd name="T28" fmla="*/ 370 w 457"/>
              <a:gd name="T29" fmla="*/ 213 h 248"/>
              <a:gd name="T30" fmla="*/ 360 w 457"/>
              <a:gd name="T31" fmla="*/ 141 h 248"/>
              <a:gd name="T32" fmla="*/ 238 w 457"/>
              <a:gd name="T33" fmla="*/ 155 h 248"/>
              <a:gd name="T34" fmla="*/ 244 w 457"/>
              <a:gd name="T35" fmla="*/ 220 h 248"/>
              <a:gd name="T36" fmla="*/ 256 w 457"/>
              <a:gd name="T37" fmla="*/ 220 h 248"/>
              <a:gd name="T38" fmla="*/ 364 w 457"/>
              <a:gd name="T39" fmla="*/ 213 h 248"/>
              <a:gd name="T40" fmla="*/ 360 w 457"/>
              <a:gd name="T41" fmla="*/ 147 h 248"/>
              <a:gd name="T42" fmla="*/ 245 w 457"/>
              <a:gd name="T43" fmla="*/ 154 h 248"/>
              <a:gd name="T44" fmla="*/ 256 w 457"/>
              <a:gd name="T45" fmla="*/ 220 h 248"/>
              <a:gd name="T46" fmla="*/ 163 w 457"/>
              <a:gd name="T47" fmla="*/ 174 h 248"/>
              <a:gd name="T48" fmla="*/ 172 w 457"/>
              <a:gd name="T49" fmla="*/ 123 h 248"/>
              <a:gd name="T50" fmla="*/ 82 w 457"/>
              <a:gd name="T51" fmla="*/ 117 h 248"/>
              <a:gd name="T52" fmla="*/ 79 w 457"/>
              <a:gd name="T53" fmla="*/ 168 h 248"/>
              <a:gd name="T54" fmla="*/ 158 w 457"/>
              <a:gd name="T55" fmla="*/ 36 h 248"/>
              <a:gd name="T56" fmla="*/ 91 w 457"/>
              <a:gd name="T57" fmla="*/ 36 h 248"/>
              <a:gd name="T58" fmla="*/ 191 w 457"/>
              <a:gd name="T59" fmla="*/ 113 h 248"/>
              <a:gd name="T60" fmla="*/ 209 w 457"/>
              <a:gd name="T61" fmla="*/ 146 h 248"/>
              <a:gd name="T62" fmla="*/ 208 w 457"/>
              <a:gd name="T63" fmla="*/ 146 h 248"/>
              <a:gd name="T64" fmla="*/ 208 w 457"/>
              <a:gd name="T65" fmla="*/ 146 h 248"/>
              <a:gd name="T66" fmla="*/ 208 w 457"/>
              <a:gd name="T67" fmla="*/ 147 h 248"/>
              <a:gd name="T68" fmla="*/ 208 w 457"/>
              <a:gd name="T69" fmla="*/ 147 h 248"/>
              <a:gd name="T70" fmla="*/ 208 w 457"/>
              <a:gd name="T71" fmla="*/ 147 h 248"/>
              <a:gd name="T72" fmla="*/ 208 w 457"/>
              <a:gd name="T73" fmla="*/ 147 h 248"/>
              <a:gd name="T74" fmla="*/ 208 w 457"/>
              <a:gd name="T75" fmla="*/ 147 h 248"/>
              <a:gd name="T76" fmla="*/ 208 w 457"/>
              <a:gd name="T77" fmla="*/ 148 h 248"/>
              <a:gd name="T78" fmla="*/ 208 w 457"/>
              <a:gd name="T79" fmla="*/ 148 h 248"/>
              <a:gd name="T80" fmla="*/ 208 w 457"/>
              <a:gd name="T81" fmla="*/ 148 h 248"/>
              <a:gd name="T82" fmla="*/ 208 w 457"/>
              <a:gd name="T83" fmla="*/ 148 h 248"/>
              <a:gd name="T84" fmla="*/ 181 w 457"/>
              <a:gd name="T85" fmla="*/ 174 h 248"/>
              <a:gd name="T86" fmla="*/ 174 w 457"/>
              <a:gd name="T87" fmla="*/ 169 h 248"/>
              <a:gd name="T88" fmla="*/ 166 w 457"/>
              <a:gd name="T89" fmla="*/ 112 h 248"/>
              <a:gd name="T90" fmla="*/ 71 w 457"/>
              <a:gd name="T91" fmla="*/ 123 h 248"/>
              <a:gd name="T92" fmla="*/ 76 w 457"/>
              <a:gd name="T93" fmla="*/ 174 h 248"/>
              <a:gd name="T94" fmla="*/ 45 w 457"/>
              <a:gd name="T95" fmla="*/ 174 h 248"/>
              <a:gd name="T96" fmla="*/ 56 w 457"/>
              <a:gd name="T97" fmla="*/ 115 h 248"/>
              <a:gd name="T98" fmla="*/ 56 w 457"/>
              <a:gd name="T99" fmla="*/ 115 h 248"/>
              <a:gd name="T100" fmla="*/ 99 w 457"/>
              <a:gd name="T101" fmla="*/ 89 h 248"/>
              <a:gd name="T102" fmla="*/ 155 w 457"/>
              <a:gd name="T103" fmla="*/ 89 h 248"/>
              <a:gd name="T104" fmla="*/ 191 w 457"/>
              <a:gd name="T105" fmla="*/ 113 h 248"/>
              <a:gd name="T106" fmla="*/ 179 w 457"/>
              <a:gd name="T107" fmla="*/ 179 h 248"/>
              <a:gd name="T108" fmla="*/ 0 w 457"/>
              <a:gd name="T109" fmla="*/ 196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57" h="248">
                <a:moveTo>
                  <a:pt x="141" y="227"/>
                </a:moveTo>
                <a:cubicBezTo>
                  <a:pt x="457" y="227"/>
                  <a:pt x="457" y="227"/>
                  <a:pt x="457" y="227"/>
                </a:cubicBezTo>
                <a:cubicBezTo>
                  <a:pt x="457" y="248"/>
                  <a:pt x="457" y="248"/>
                  <a:pt x="457" y="248"/>
                </a:cubicBezTo>
                <a:cubicBezTo>
                  <a:pt x="141" y="248"/>
                  <a:pt x="141" y="248"/>
                  <a:pt x="141" y="248"/>
                </a:cubicBezTo>
                <a:cubicBezTo>
                  <a:pt x="141" y="227"/>
                  <a:pt x="141" y="227"/>
                  <a:pt x="141" y="227"/>
                </a:cubicBezTo>
                <a:close/>
                <a:moveTo>
                  <a:pt x="349" y="43"/>
                </a:moveTo>
                <a:cubicBezTo>
                  <a:pt x="349" y="20"/>
                  <a:pt x="332" y="0"/>
                  <a:pt x="306" y="0"/>
                </a:cubicBezTo>
                <a:cubicBezTo>
                  <a:pt x="278" y="0"/>
                  <a:pt x="264" y="20"/>
                  <a:pt x="263" y="43"/>
                </a:cubicBezTo>
                <a:cubicBezTo>
                  <a:pt x="263" y="135"/>
                  <a:pt x="350" y="134"/>
                  <a:pt x="349" y="43"/>
                </a:cubicBezTo>
                <a:close/>
                <a:moveTo>
                  <a:pt x="201" y="220"/>
                </a:moveTo>
                <a:cubicBezTo>
                  <a:pt x="202" y="219"/>
                  <a:pt x="201" y="218"/>
                  <a:pt x="201" y="216"/>
                </a:cubicBezTo>
                <a:cubicBezTo>
                  <a:pt x="201" y="211"/>
                  <a:pt x="195" y="206"/>
                  <a:pt x="188" y="206"/>
                </a:cubicBezTo>
                <a:cubicBezTo>
                  <a:pt x="180" y="206"/>
                  <a:pt x="174" y="211"/>
                  <a:pt x="174" y="216"/>
                </a:cubicBezTo>
                <a:cubicBezTo>
                  <a:pt x="174" y="218"/>
                  <a:pt x="174" y="219"/>
                  <a:pt x="174" y="220"/>
                </a:cubicBezTo>
                <a:cubicBezTo>
                  <a:pt x="170" y="220"/>
                  <a:pt x="170" y="220"/>
                  <a:pt x="170" y="220"/>
                </a:cubicBezTo>
                <a:cubicBezTo>
                  <a:pt x="167" y="217"/>
                  <a:pt x="166" y="212"/>
                  <a:pt x="166" y="208"/>
                </a:cubicBezTo>
                <a:cubicBezTo>
                  <a:pt x="166" y="198"/>
                  <a:pt x="173" y="190"/>
                  <a:pt x="184" y="187"/>
                </a:cubicBezTo>
                <a:cubicBezTo>
                  <a:pt x="197" y="183"/>
                  <a:pt x="206" y="172"/>
                  <a:pt x="212" y="160"/>
                </a:cubicBezTo>
                <a:cubicBezTo>
                  <a:pt x="216" y="152"/>
                  <a:pt x="218" y="145"/>
                  <a:pt x="223" y="137"/>
                </a:cubicBezTo>
                <a:cubicBezTo>
                  <a:pt x="233" y="123"/>
                  <a:pt x="249" y="111"/>
                  <a:pt x="266" y="111"/>
                </a:cubicBezTo>
                <a:cubicBezTo>
                  <a:pt x="274" y="111"/>
                  <a:pt x="274" y="111"/>
                  <a:pt x="274" y="111"/>
                </a:cubicBezTo>
                <a:cubicBezTo>
                  <a:pt x="292" y="129"/>
                  <a:pt x="320" y="129"/>
                  <a:pt x="339" y="111"/>
                </a:cubicBezTo>
                <a:cubicBezTo>
                  <a:pt x="346" y="111"/>
                  <a:pt x="346" y="111"/>
                  <a:pt x="346" y="111"/>
                </a:cubicBezTo>
                <a:cubicBezTo>
                  <a:pt x="366" y="111"/>
                  <a:pt x="383" y="126"/>
                  <a:pt x="392" y="142"/>
                </a:cubicBezTo>
                <a:cubicBezTo>
                  <a:pt x="392" y="143"/>
                  <a:pt x="393" y="143"/>
                  <a:pt x="393" y="144"/>
                </a:cubicBezTo>
                <a:cubicBezTo>
                  <a:pt x="398" y="153"/>
                  <a:pt x="413" y="181"/>
                  <a:pt x="420" y="196"/>
                </a:cubicBezTo>
                <a:cubicBezTo>
                  <a:pt x="426" y="211"/>
                  <a:pt x="424" y="220"/>
                  <a:pt x="407" y="220"/>
                </a:cubicBezTo>
                <a:cubicBezTo>
                  <a:pt x="378" y="220"/>
                  <a:pt x="378" y="220"/>
                  <a:pt x="378" y="220"/>
                </a:cubicBezTo>
                <a:cubicBezTo>
                  <a:pt x="368" y="220"/>
                  <a:pt x="368" y="220"/>
                  <a:pt x="368" y="220"/>
                </a:cubicBezTo>
                <a:cubicBezTo>
                  <a:pt x="369" y="218"/>
                  <a:pt x="370" y="216"/>
                  <a:pt x="370" y="213"/>
                </a:cubicBezTo>
                <a:cubicBezTo>
                  <a:pt x="374" y="155"/>
                  <a:pt x="374" y="155"/>
                  <a:pt x="374" y="155"/>
                </a:cubicBezTo>
                <a:cubicBezTo>
                  <a:pt x="375" y="147"/>
                  <a:pt x="368" y="141"/>
                  <a:pt x="360" y="141"/>
                </a:cubicBezTo>
                <a:cubicBezTo>
                  <a:pt x="252" y="141"/>
                  <a:pt x="252" y="141"/>
                  <a:pt x="252" y="141"/>
                </a:cubicBezTo>
                <a:cubicBezTo>
                  <a:pt x="245" y="141"/>
                  <a:pt x="238" y="147"/>
                  <a:pt x="238" y="155"/>
                </a:cubicBezTo>
                <a:cubicBezTo>
                  <a:pt x="242" y="213"/>
                  <a:pt x="242" y="213"/>
                  <a:pt x="242" y="213"/>
                </a:cubicBezTo>
                <a:cubicBezTo>
                  <a:pt x="242" y="216"/>
                  <a:pt x="243" y="218"/>
                  <a:pt x="244" y="220"/>
                </a:cubicBezTo>
                <a:cubicBezTo>
                  <a:pt x="230" y="220"/>
                  <a:pt x="216" y="220"/>
                  <a:pt x="201" y="220"/>
                </a:cubicBezTo>
                <a:close/>
                <a:moveTo>
                  <a:pt x="256" y="220"/>
                </a:moveTo>
                <a:cubicBezTo>
                  <a:pt x="356" y="220"/>
                  <a:pt x="356" y="220"/>
                  <a:pt x="356" y="220"/>
                </a:cubicBezTo>
                <a:cubicBezTo>
                  <a:pt x="360" y="220"/>
                  <a:pt x="364" y="217"/>
                  <a:pt x="364" y="213"/>
                </a:cubicBezTo>
                <a:cubicBezTo>
                  <a:pt x="368" y="154"/>
                  <a:pt x="368" y="154"/>
                  <a:pt x="368" y="154"/>
                </a:cubicBezTo>
                <a:cubicBezTo>
                  <a:pt x="368" y="150"/>
                  <a:pt x="364" y="147"/>
                  <a:pt x="360" y="147"/>
                </a:cubicBezTo>
                <a:cubicBezTo>
                  <a:pt x="252" y="147"/>
                  <a:pt x="252" y="147"/>
                  <a:pt x="252" y="147"/>
                </a:cubicBezTo>
                <a:cubicBezTo>
                  <a:pt x="248" y="147"/>
                  <a:pt x="244" y="150"/>
                  <a:pt x="245" y="154"/>
                </a:cubicBezTo>
                <a:cubicBezTo>
                  <a:pt x="248" y="213"/>
                  <a:pt x="248" y="213"/>
                  <a:pt x="248" y="213"/>
                </a:cubicBezTo>
                <a:cubicBezTo>
                  <a:pt x="249" y="217"/>
                  <a:pt x="252" y="220"/>
                  <a:pt x="256" y="220"/>
                </a:cubicBezTo>
                <a:close/>
                <a:moveTo>
                  <a:pt x="85" y="174"/>
                </a:moveTo>
                <a:cubicBezTo>
                  <a:pt x="163" y="174"/>
                  <a:pt x="163" y="174"/>
                  <a:pt x="163" y="174"/>
                </a:cubicBezTo>
                <a:cubicBezTo>
                  <a:pt x="167" y="174"/>
                  <a:pt x="169" y="172"/>
                  <a:pt x="169" y="168"/>
                </a:cubicBezTo>
                <a:cubicBezTo>
                  <a:pt x="172" y="123"/>
                  <a:pt x="172" y="123"/>
                  <a:pt x="172" y="123"/>
                </a:cubicBezTo>
                <a:cubicBezTo>
                  <a:pt x="172" y="120"/>
                  <a:pt x="170" y="117"/>
                  <a:pt x="166" y="117"/>
                </a:cubicBezTo>
                <a:cubicBezTo>
                  <a:pt x="82" y="117"/>
                  <a:pt x="82" y="117"/>
                  <a:pt x="82" y="117"/>
                </a:cubicBezTo>
                <a:cubicBezTo>
                  <a:pt x="79" y="117"/>
                  <a:pt x="76" y="120"/>
                  <a:pt x="76" y="123"/>
                </a:cubicBezTo>
                <a:cubicBezTo>
                  <a:pt x="79" y="168"/>
                  <a:pt x="79" y="168"/>
                  <a:pt x="79" y="168"/>
                </a:cubicBezTo>
                <a:cubicBezTo>
                  <a:pt x="79" y="172"/>
                  <a:pt x="82" y="174"/>
                  <a:pt x="85" y="174"/>
                </a:cubicBezTo>
                <a:close/>
                <a:moveTo>
                  <a:pt x="158" y="36"/>
                </a:moveTo>
                <a:cubicBezTo>
                  <a:pt x="157" y="17"/>
                  <a:pt x="145" y="2"/>
                  <a:pt x="124" y="2"/>
                </a:cubicBezTo>
                <a:cubicBezTo>
                  <a:pt x="102" y="2"/>
                  <a:pt x="91" y="17"/>
                  <a:pt x="91" y="36"/>
                </a:cubicBezTo>
                <a:cubicBezTo>
                  <a:pt x="91" y="107"/>
                  <a:pt x="158" y="106"/>
                  <a:pt x="158" y="36"/>
                </a:cubicBezTo>
                <a:close/>
                <a:moveTo>
                  <a:pt x="191" y="113"/>
                </a:moveTo>
                <a:cubicBezTo>
                  <a:pt x="194" y="118"/>
                  <a:pt x="202" y="133"/>
                  <a:pt x="209" y="146"/>
                </a:cubicBezTo>
                <a:cubicBezTo>
                  <a:pt x="209" y="146"/>
                  <a:pt x="209" y="146"/>
                  <a:pt x="209" y="146"/>
                </a:cubicBezTo>
                <a:cubicBezTo>
                  <a:pt x="209" y="146"/>
                  <a:pt x="209" y="146"/>
                  <a:pt x="209" y="146"/>
                </a:cubicBezTo>
                <a:cubicBezTo>
                  <a:pt x="208" y="146"/>
                  <a:pt x="208" y="146"/>
                  <a:pt x="208" y="146"/>
                </a:cubicBezTo>
                <a:cubicBezTo>
                  <a:pt x="208" y="146"/>
                  <a:pt x="208" y="146"/>
                  <a:pt x="208" y="146"/>
                </a:cubicBezTo>
                <a:cubicBezTo>
                  <a:pt x="208" y="146"/>
                  <a:pt x="208" y="146"/>
                  <a:pt x="208" y="146"/>
                </a:cubicBezTo>
                <a:cubicBezTo>
                  <a:pt x="208" y="146"/>
                  <a:pt x="208" y="146"/>
                  <a:pt x="208" y="146"/>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7"/>
                  <a:pt x="208" y="147"/>
                  <a:pt x="208" y="147"/>
                </a:cubicBezTo>
                <a:cubicBezTo>
                  <a:pt x="208" y="148"/>
                  <a:pt x="208" y="148"/>
                  <a:pt x="208" y="148"/>
                </a:cubicBezTo>
                <a:cubicBezTo>
                  <a:pt x="208" y="148"/>
                  <a:pt x="208" y="148"/>
                  <a:pt x="208" y="148"/>
                </a:cubicBezTo>
                <a:cubicBezTo>
                  <a:pt x="208" y="148"/>
                  <a:pt x="208" y="148"/>
                  <a:pt x="208" y="148"/>
                </a:cubicBezTo>
                <a:cubicBezTo>
                  <a:pt x="208" y="148"/>
                  <a:pt x="208" y="148"/>
                  <a:pt x="208" y="148"/>
                </a:cubicBezTo>
                <a:cubicBezTo>
                  <a:pt x="208" y="148"/>
                  <a:pt x="208" y="148"/>
                  <a:pt x="208" y="148"/>
                </a:cubicBezTo>
                <a:cubicBezTo>
                  <a:pt x="208" y="148"/>
                  <a:pt x="208" y="148"/>
                  <a:pt x="208" y="148"/>
                </a:cubicBezTo>
                <a:cubicBezTo>
                  <a:pt x="208" y="148"/>
                  <a:pt x="208" y="148"/>
                  <a:pt x="208" y="148"/>
                </a:cubicBezTo>
                <a:cubicBezTo>
                  <a:pt x="203" y="158"/>
                  <a:pt x="199" y="168"/>
                  <a:pt x="190" y="174"/>
                </a:cubicBezTo>
                <a:cubicBezTo>
                  <a:pt x="181" y="174"/>
                  <a:pt x="181" y="174"/>
                  <a:pt x="181" y="174"/>
                </a:cubicBezTo>
                <a:cubicBezTo>
                  <a:pt x="172" y="174"/>
                  <a:pt x="172" y="174"/>
                  <a:pt x="172" y="174"/>
                </a:cubicBezTo>
                <a:cubicBezTo>
                  <a:pt x="173" y="173"/>
                  <a:pt x="174" y="171"/>
                  <a:pt x="174" y="169"/>
                </a:cubicBezTo>
                <a:cubicBezTo>
                  <a:pt x="177" y="123"/>
                  <a:pt x="177" y="123"/>
                  <a:pt x="177" y="123"/>
                </a:cubicBezTo>
                <a:cubicBezTo>
                  <a:pt x="178" y="117"/>
                  <a:pt x="172" y="112"/>
                  <a:pt x="166" y="112"/>
                </a:cubicBezTo>
                <a:cubicBezTo>
                  <a:pt x="82" y="112"/>
                  <a:pt x="82" y="112"/>
                  <a:pt x="82" y="112"/>
                </a:cubicBezTo>
                <a:cubicBezTo>
                  <a:pt x="76" y="112"/>
                  <a:pt x="71" y="117"/>
                  <a:pt x="71" y="123"/>
                </a:cubicBezTo>
                <a:cubicBezTo>
                  <a:pt x="74" y="169"/>
                  <a:pt x="74" y="169"/>
                  <a:pt x="74" y="169"/>
                </a:cubicBezTo>
                <a:cubicBezTo>
                  <a:pt x="74" y="171"/>
                  <a:pt x="75" y="173"/>
                  <a:pt x="76" y="174"/>
                </a:cubicBezTo>
                <a:cubicBezTo>
                  <a:pt x="68" y="174"/>
                  <a:pt x="68" y="174"/>
                  <a:pt x="68" y="174"/>
                </a:cubicBezTo>
                <a:cubicBezTo>
                  <a:pt x="45" y="174"/>
                  <a:pt x="45" y="174"/>
                  <a:pt x="45" y="174"/>
                </a:cubicBezTo>
                <a:cubicBezTo>
                  <a:pt x="32" y="174"/>
                  <a:pt x="30" y="167"/>
                  <a:pt x="35" y="155"/>
                </a:cubicBezTo>
                <a:cubicBezTo>
                  <a:pt x="40" y="144"/>
                  <a:pt x="51" y="124"/>
                  <a:pt x="56" y="115"/>
                </a:cubicBezTo>
                <a:cubicBezTo>
                  <a:pt x="56" y="115"/>
                  <a:pt x="56" y="115"/>
                  <a:pt x="56" y="115"/>
                </a:cubicBezTo>
                <a:cubicBezTo>
                  <a:pt x="56" y="115"/>
                  <a:pt x="56" y="115"/>
                  <a:pt x="56" y="115"/>
                </a:cubicBezTo>
                <a:cubicBezTo>
                  <a:pt x="63" y="101"/>
                  <a:pt x="77" y="89"/>
                  <a:pt x="93" y="89"/>
                </a:cubicBezTo>
                <a:cubicBezTo>
                  <a:pt x="99" y="89"/>
                  <a:pt x="99" y="89"/>
                  <a:pt x="99" y="89"/>
                </a:cubicBezTo>
                <a:cubicBezTo>
                  <a:pt x="113" y="103"/>
                  <a:pt x="135" y="103"/>
                  <a:pt x="149" y="89"/>
                </a:cubicBezTo>
                <a:cubicBezTo>
                  <a:pt x="155" y="89"/>
                  <a:pt x="155" y="89"/>
                  <a:pt x="155" y="89"/>
                </a:cubicBezTo>
                <a:cubicBezTo>
                  <a:pt x="170" y="89"/>
                  <a:pt x="184" y="100"/>
                  <a:pt x="191" y="113"/>
                </a:cubicBezTo>
                <a:cubicBezTo>
                  <a:pt x="191" y="113"/>
                  <a:pt x="191" y="113"/>
                  <a:pt x="191" y="113"/>
                </a:cubicBezTo>
                <a:close/>
                <a:moveTo>
                  <a:pt x="0" y="179"/>
                </a:moveTo>
                <a:cubicBezTo>
                  <a:pt x="179" y="179"/>
                  <a:pt x="179" y="179"/>
                  <a:pt x="179" y="179"/>
                </a:cubicBezTo>
                <a:cubicBezTo>
                  <a:pt x="171" y="182"/>
                  <a:pt x="163" y="188"/>
                  <a:pt x="159" y="196"/>
                </a:cubicBezTo>
                <a:cubicBezTo>
                  <a:pt x="0" y="196"/>
                  <a:pt x="0" y="196"/>
                  <a:pt x="0" y="196"/>
                </a:cubicBezTo>
                <a:cubicBezTo>
                  <a:pt x="0" y="179"/>
                  <a:pt x="0" y="179"/>
                  <a:pt x="0" y="179"/>
                </a:cubicBez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grpSp>
        <p:nvGrpSpPr>
          <p:cNvPr id="13" name="Group 12">
            <a:extLst>
              <a:ext uri="{FF2B5EF4-FFF2-40B4-BE49-F238E27FC236}">
                <a16:creationId xmlns:a16="http://schemas.microsoft.com/office/drawing/2014/main" xmlns="" id="{D31A92AE-329E-4DD3-A460-4F8B18981444}"/>
              </a:ext>
            </a:extLst>
          </p:cNvPr>
          <p:cNvGrpSpPr/>
          <p:nvPr/>
        </p:nvGrpSpPr>
        <p:grpSpPr>
          <a:xfrm>
            <a:off x="4130345" y="4909601"/>
            <a:ext cx="458179" cy="832590"/>
            <a:chOff x="2495550" y="3582988"/>
            <a:chExt cx="573088" cy="1041400"/>
          </a:xfrm>
          <a:solidFill>
            <a:srgbClr val="04465F"/>
          </a:solidFill>
        </p:grpSpPr>
        <p:sp>
          <p:nvSpPr>
            <p:cNvPr id="14" name="Freeform 89">
              <a:extLst>
                <a:ext uri="{FF2B5EF4-FFF2-40B4-BE49-F238E27FC236}">
                  <a16:creationId xmlns:a16="http://schemas.microsoft.com/office/drawing/2014/main" xmlns="" id="{9B9AE659-9899-47EE-9D5E-DF0FF4AFE3AF}"/>
                </a:ext>
              </a:extLst>
            </p:cNvPr>
            <p:cNvSpPr>
              <a:spLocks noEditPoints="1"/>
            </p:cNvSpPr>
            <p:nvPr/>
          </p:nvSpPr>
          <p:spPr bwMode="auto">
            <a:xfrm>
              <a:off x="2495550" y="3582988"/>
              <a:ext cx="573088" cy="869950"/>
            </a:xfrm>
            <a:custGeom>
              <a:avLst/>
              <a:gdLst>
                <a:gd name="T0" fmla="*/ 185 w 214"/>
                <a:gd name="T1" fmla="*/ 0 h 325"/>
                <a:gd name="T2" fmla="*/ 29 w 214"/>
                <a:gd name="T3" fmla="*/ 0 h 325"/>
                <a:gd name="T4" fmla="*/ 0 w 214"/>
                <a:gd name="T5" fmla="*/ 29 h 325"/>
                <a:gd name="T6" fmla="*/ 0 w 214"/>
                <a:gd name="T7" fmla="*/ 296 h 325"/>
                <a:gd name="T8" fmla="*/ 29 w 214"/>
                <a:gd name="T9" fmla="*/ 325 h 325"/>
                <a:gd name="T10" fmla="*/ 90 w 214"/>
                <a:gd name="T11" fmla="*/ 325 h 325"/>
                <a:gd name="T12" fmla="*/ 78 w 214"/>
                <a:gd name="T13" fmla="*/ 275 h 325"/>
                <a:gd name="T14" fmla="*/ 24 w 214"/>
                <a:gd name="T15" fmla="*/ 275 h 325"/>
                <a:gd name="T16" fmla="*/ 24 w 214"/>
                <a:gd name="T17" fmla="*/ 46 h 325"/>
                <a:gd name="T18" fmla="*/ 189 w 214"/>
                <a:gd name="T19" fmla="*/ 46 h 325"/>
                <a:gd name="T20" fmla="*/ 189 w 214"/>
                <a:gd name="T21" fmla="*/ 109 h 325"/>
                <a:gd name="T22" fmla="*/ 175 w 214"/>
                <a:gd name="T23" fmla="*/ 87 h 325"/>
                <a:gd name="T24" fmla="*/ 125 w 214"/>
                <a:gd name="T25" fmla="*/ 67 h 325"/>
                <a:gd name="T26" fmla="*/ 75 w 214"/>
                <a:gd name="T27" fmla="*/ 87 h 325"/>
                <a:gd name="T28" fmla="*/ 54 w 214"/>
                <a:gd name="T29" fmla="*/ 137 h 325"/>
                <a:gd name="T30" fmla="*/ 75 w 214"/>
                <a:gd name="T31" fmla="*/ 187 h 325"/>
                <a:gd name="T32" fmla="*/ 95 w 214"/>
                <a:gd name="T33" fmla="*/ 202 h 325"/>
                <a:gd name="T34" fmla="*/ 98 w 214"/>
                <a:gd name="T35" fmla="*/ 199 h 325"/>
                <a:gd name="T36" fmla="*/ 99 w 214"/>
                <a:gd name="T37" fmla="*/ 187 h 325"/>
                <a:gd name="T38" fmla="*/ 85 w 214"/>
                <a:gd name="T39" fmla="*/ 177 h 325"/>
                <a:gd name="T40" fmla="*/ 69 w 214"/>
                <a:gd name="T41" fmla="*/ 137 h 325"/>
                <a:gd name="T42" fmla="*/ 85 w 214"/>
                <a:gd name="T43" fmla="*/ 98 h 325"/>
                <a:gd name="T44" fmla="*/ 125 w 214"/>
                <a:gd name="T45" fmla="*/ 82 h 325"/>
                <a:gd name="T46" fmla="*/ 164 w 214"/>
                <a:gd name="T47" fmla="*/ 98 h 325"/>
                <a:gd name="T48" fmla="*/ 180 w 214"/>
                <a:gd name="T49" fmla="*/ 137 h 325"/>
                <a:gd name="T50" fmla="*/ 166 w 214"/>
                <a:gd name="T51" fmla="*/ 175 h 325"/>
                <a:gd name="T52" fmla="*/ 167 w 214"/>
                <a:gd name="T53" fmla="*/ 193 h 325"/>
                <a:gd name="T54" fmla="*/ 168 w 214"/>
                <a:gd name="T55" fmla="*/ 194 h 325"/>
                <a:gd name="T56" fmla="*/ 175 w 214"/>
                <a:gd name="T57" fmla="*/ 187 h 325"/>
                <a:gd name="T58" fmla="*/ 189 w 214"/>
                <a:gd name="T59" fmla="*/ 166 h 325"/>
                <a:gd name="T60" fmla="*/ 189 w 214"/>
                <a:gd name="T61" fmla="*/ 206 h 325"/>
                <a:gd name="T62" fmla="*/ 190 w 214"/>
                <a:gd name="T63" fmla="*/ 210 h 325"/>
                <a:gd name="T64" fmla="*/ 198 w 214"/>
                <a:gd name="T65" fmla="*/ 211 h 325"/>
                <a:gd name="T66" fmla="*/ 210 w 214"/>
                <a:gd name="T67" fmla="*/ 214 h 325"/>
                <a:gd name="T68" fmla="*/ 213 w 214"/>
                <a:gd name="T69" fmla="*/ 227 h 325"/>
                <a:gd name="T70" fmla="*/ 214 w 214"/>
                <a:gd name="T71" fmla="*/ 233 h 325"/>
                <a:gd name="T72" fmla="*/ 214 w 214"/>
                <a:gd name="T73" fmla="*/ 29 h 325"/>
                <a:gd name="T74" fmla="*/ 185 w 214"/>
                <a:gd name="T75" fmla="*/ 0 h 325"/>
                <a:gd name="T76" fmla="*/ 38 w 214"/>
                <a:gd name="T77" fmla="*/ 294 h 325"/>
                <a:gd name="T78" fmla="*/ 74 w 214"/>
                <a:gd name="T79" fmla="*/ 294 h 325"/>
                <a:gd name="T80" fmla="*/ 74 w 214"/>
                <a:gd name="T81" fmla="*/ 301 h 325"/>
                <a:gd name="T82" fmla="*/ 38 w 214"/>
                <a:gd name="T83" fmla="*/ 301 h 325"/>
                <a:gd name="T84" fmla="*/ 38 w 214"/>
                <a:gd name="T85" fmla="*/ 294 h 325"/>
                <a:gd name="T86" fmla="*/ 142 w 214"/>
                <a:gd name="T87" fmla="*/ 27 h 325"/>
                <a:gd name="T88" fmla="*/ 67 w 214"/>
                <a:gd name="T89" fmla="*/ 27 h 325"/>
                <a:gd name="T90" fmla="*/ 67 w 214"/>
                <a:gd name="T91" fmla="*/ 15 h 325"/>
                <a:gd name="T92" fmla="*/ 142 w 214"/>
                <a:gd name="T93" fmla="*/ 15 h 325"/>
                <a:gd name="T94" fmla="*/ 142 w 214"/>
                <a:gd name="T95" fmla="*/ 2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4" h="325">
                  <a:moveTo>
                    <a:pt x="185" y="0"/>
                  </a:moveTo>
                  <a:cubicBezTo>
                    <a:pt x="29" y="0"/>
                    <a:pt x="29" y="0"/>
                    <a:pt x="29" y="0"/>
                  </a:cubicBezTo>
                  <a:cubicBezTo>
                    <a:pt x="13" y="0"/>
                    <a:pt x="0" y="13"/>
                    <a:pt x="0" y="29"/>
                  </a:cubicBezTo>
                  <a:cubicBezTo>
                    <a:pt x="0" y="296"/>
                    <a:pt x="0" y="296"/>
                    <a:pt x="0" y="296"/>
                  </a:cubicBezTo>
                  <a:cubicBezTo>
                    <a:pt x="0" y="312"/>
                    <a:pt x="13" y="325"/>
                    <a:pt x="29" y="325"/>
                  </a:cubicBezTo>
                  <a:cubicBezTo>
                    <a:pt x="90" y="325"/>
                    <a:pt x="90" y="325"/>
                    <a:pt x="90" y="325"/>
                  </a:cubicBezTo>
                  <a:cubicBezTo>
                    <a:pt x="84" y="309"/>
                    <a:pt x="80" y="292"/>
                    <a:pt x="78" y="275"/>
                  </a:cubicBezTo>
                  <a:cubicBezTo>
                    <a:pt x="24" y="275"/>
                    <a:pt x="24" y="275"/>
                    <a:pt x="24" y="275"/>
                  </a:cubicBezTo>
                  <a:cubicBezTo>
                    <a:pt x="24" y="46"/>
                    <a:pt x="24" y="46"/>
                    <a:pt x="24" y="46"/>
                  </a:cubicBezTo>
                  <a:cubicBezTo>
                    <a:pt x="189" y="46"/>
                    <a:pt x="189" y="46"/>
                    <a:pt x="189" y="46"/>
                  </a:cubicBezTo>
                  <a:cubicBezTo>
                    <a:pt x="189" y="109"/>
                    <a:pt x="189" y="109"/>
                    <a:pt x="189" y="109"/>
                  </a:cubicBezTo>
                  <a:cubicBezTo>
                    <a:pt x="186" y="101"/>
                    <a:pt x="181" y="93"/>
                    <a:pt x="175" y="87"/>
                  </a:cubicBezTo>
                  <a:cubicBezTo>
                    <a:pt x="162" y="75"/>
                    <a:pt x="144" y="67"/>
                    <a:pt x="125" y="67"/>
                  </a:cubicBezTo>
                  <a:cubicBezTo>
                    <a:pt x="105" y="67"/>
                    <a:pt x="87" y="75"/>
                    <a:pt x="75" y="87"/>
                  </a:cubicBezTo>
                  <a:cubicBezTo>
                    <a:pt x="62" y="100"/>
                    <a:pt x="54" y="118"/>
                    <a:pt x="54" y="137"/>
                  </a:cubicBezTo>
                  <a:cubicBezTo>
                    <a:pt x="54" y="157"/>
                    <a:pt x="62" y="175"/>
                    <a:pt x="75" y="187"/>
                  </a:cubicBezTo>
                  <a:cubicBezTo>
                    <a:pt x="80" y="193"/>
                    <a:pt x="87" y="198"/>
                    <a:pt x="95" y="202"/>
                  </a:cubicBezTo>
                  <a:cubicBezTo>
                    <a:pt x="98" y="199"/>
                    <a:pt x="98" y="199"/>
                    <a:pt x="98" y="199"/>
                  </a:cubicBezTo>
                  <a:cubicBezTo>
                    <a:pt x="98" y="195"/>
                    <a:pt x="99" y="191"/>
                    <a:pt x="99" y="187"/>
                  </a:cubicBezTo>
                  <a:cubicBezTo>
                    <a:pt x="94" y="184"/>
                    <a:pt x="89" y="181"/>
                    <a:pt x="85" y="177"/>
                  </a:cubicBezTo>
                  <a:cubicBezTo>
                    <a:pt x="75" y="167"/>
                    <a:pt x="69" y="153"/>
                    <a:pt x="69" y="137"/>
                  </a:cubicBezTo>
                  <a:cubicBezTo>
                    <a:pt x="69" y="122"/>
                    <a:pt x="75" y="108"/>
                    <a:pt x="85" y="98"/>
                  </a:cubicBezTo>
                  <a:cubicBezTo>
                    <a:pt x="95" y="88"/>
                    <a:pt x="109" y="82"/>
                    <a:pt x="125" y="82"/>
                  </a:cubicBezTo>
                  <a:cubicBezTo>
                    <a:pt x="140" y="82"/>
                    <a:pt x="154" y="88"/>
                    <a:pt x="164" y="98"/>
                  </a:cubicBezTo>
                  <a:cubicBezTo>
                    <a:pt x="174" y="108"/>
                    <a:pt x="180" y="122"/>
                    <a:pt x="180" y="137"/>
                  </a:cubicBezTo>
                  <a:cubicBezTo>
                    <a:pt x="180" y="152"/>
                    <a:pt x="175" y="165"/>
                    <a:pt x="166" y="175"/>
                  </a:cubicBezTo>
                  <a:cubicBezTo>
                    <a:pt x="166" y="181"/>
                    <a:pt x="167" y="187"/>
                    <a:pt x="167" y="193"/>
                  </a:cubicBezTo>
                  <a:cubicBezTo>
                    <a:pt x="168" y="194"/>
                    <a:pt x="168" y="194"/>
                    <a:pt x="168" y="194"/>
                  </a:cubicBezTo>
                  <a:cubicBezTo>
                    <a:pt x="170" y="192"/>
                    <a:pt x="172" y="190"/>
                    <a:pt x="175" y="187"/>
                  </a:cubicBezTo>
                  <a:cubicBezTo>
                    <a:pt x="181" y="181"/>
                    <a:pt x="186" y="174"/>
                    <a:pt x="189" y="166"/>
                  </a:cubicBezTo>
                  <a:cubicBezTo>
                    <a:pt x="189" y="206"/>
                    <a:pt x="189" y="206"/>
                    <a:pt x="189" y="206"/>
                  </a:cubicBezTo>
                  <a:cubicBezTo>
                    <a:pt x="190" y="210"/>
                    <a:pt x="190" y="210"/>
                    <a:pt x="190" y="210"/>
                  </a:cubicBezTo>
                  <a:cubicBezTo>
                    <a:pt x="193" y="210"/>
                    <a:pt x="195" y="211"/>
                    <a:pt x="198" y="211"/>
                  </a:cubicBezTo>
                  <a:cubicBezTo>
                    <a:pt x="210" y="214"/>
                    <a:pt x="210" y="214"/>
                    <a:pt x="210" y="214"/>
                  </a:cubicBezTo>
                  <a:cubicBezTo>
                    <a:pt x="213" y="227"/>
                    <a:pt x="213" y="227"/>
                    <a:pt x="213" y="227"/>
                  </a:cubicBezTo>
                  <a:cubicBezTo>
                    <a:pt x="213" y="229"/>
                    <a:pt x="214" y="231"/>
                    <a:pt x="214" y="233"/>
                  </a:cubicBezTo>
                  <a:cubicBezTo>
                    <a:pt x="214" y="29"/>
                    <a:pt x="214" y="29"/>
                    <a:pt x="214" y="29"/>
                  </a:cubicBezTo>
                  <a:cubicBezTo>
                    <a:pt x="214" y="13"/>
                    <a:pt x="201" y="0"/>
                    <a:pt x="185" y="0"/>
                  </a:cubicBezTo>
                  <a:close/>
                  <a:moveTo>
                    <a:pt x="38" y="294"/>
                  </a:moveTo>
                  <a:cubicBezTo>
                    <a:pt x="74" y="294"/>
                    <a:pt x="74" y="294"/>
                    <a:pt x="74" y="294"/>
                  </a:cubicBezTo>
                  <a:cubicBezTo>
                    <a:pt x="74" y="301"/>
                    <a:pt x="74" y="301"/>
                    <a:pt x="74" y="301"/>
                  </a:cubicBezTo>
                  <a:cubicBezTo>
                    <a:pt x="38" y="301"/>
                    <a:pt x="38" y="301"/>
                    <a:pt x="38" y="301"/>
                  </a:cubicBezTo>
                  <a:lnTo>
                    <a:pt x="38" y="294"/>
                  </a:lnTo>
                  <a:close/>
                  <a:moveTo>
                    <a:pt x="142" y="27"/>
                  </a:moveTo>
                  <a:cubicBezTo>
                    <a:pt x="67" y="27"/>
                    <a:pt x="67" y="27"/>
                    <a:pt x="67" y="27"/>
                  </a:cubicBezTo>
                  <a:cubicBezTo>
                    <a:pt x="67" y="15"/>
                    <a:pt x="67" y="15"/>
                    <a:pt x="67" y="15"/>
                  </a:cubicBezTo>
                  <a:cubicBezTo>
                    <a:pt x="142" y="15"/>
                    <a:pt x="142" y="15"/>
                    <a:pt x="142" y="15"/>
                  </a:cubicBezTo>
                  <a:lnTo>
                    <a:pt x="142"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0">
              <a:extLst>
                <a:ext uri="{FF2B5EF4-FFF2-40B4-BE49-F238E27FC236}">
                  <a16:creationId xmlns:a16="http://schemas.microsoft.com/office/drawing/2014/main" xmlns="" id="{101CD88C-50E4-477F-B31E-423A8E146D03}"/>
                </a:ext>
              </a:extLst>
            </p:cNvPr>
            <p:cNvSpPr>
              <a:spLocks/>
            </p:cNvSpPr>
            <p:nvPr/>
          </p:nvSpPr>
          <p:spPr bwMode="auto">
            <a:xfrm>
              <a:off x="2724150" y="3844926"/>
              <a:ext cx="211138" cy="190500"/>
            </a:xfrm>
            <a:custGeom>
              <a:avLst/>
              <a:gdLst>
                <a:gd name="T0" fmla="*/ 40 w 79"/>
                <a:gd name="T1" fmla="*/ 15 h 71"/>
                <a:gd name="T2" fmla="*/ 57 w 79"/>
                <a:gd name="T3" fmla="*/ 22 h 71"/>
                <a:gd name="T4" fmla="*/ 63 w 79"/>
                <a:gd name="T5" fmla="*/ 33 h 71"/>
                <a:gd name="T6" fmla="*/ 77 w 79"/>
                <a:gd name="T7" fmla="*/ 53 h 71"/>
                <a:gd name="T8" fmla="*/ 79 w 79"/>
                <a:gd name="T9" fmla="*/ 39 h 71"/>
                <a:gd name="T10" fmla="*/ 68 w 79"/>
                <a:gd name="T11" fmla="*/ 11 h 71"/>
                <a:gd name="T12" fmla="*/ 40 w 79"/>
                <a:gd name="T13" fmla="*/ 0 h 71"/>
                <a:gd name="T14" fmla="*/ 12 w 79"/>
                <a:gd name="T15" fmla="*/ 11 h 71"/>
                <a:gd name="T16" fmla="*/ 0 w 79"/>
                <a:gd name="T17" fmla="*/ 39 h 71"/>
                <a:gd name="T18" fmla="*/ 12 w 79"/>
                <a:gd name="T19" fmla="*/ 67 h 71"/>
                <a:gd name="T20" fmla="*/ 16 w 79"/>
                <a:gd name="T21" fmla="*/ 71 h 71"/>
                <a:gd name="T22" fmla="*/ 19 w 79"/>
                <a:gd name="T23" fmla="*/ 52 h 71"/>
                <a:gd name="T24" fmla="*/ 15 w 79"/>
                <a:gd name="T25" fmla="*/ 39 h 71"/>
                <a:gd name="T26" fmla="*/ 22 w 79"/>
                <a:gd name="T27" fmla="*/ 22 h 71"/>
                <a:gd name="T28" fmla="*/ 40 w 79"/>
                <a:gd name="T29" fmla="*/ 1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9" h="71">
                  <a:moveTo>
                    <a:pt x="40" y="15"/>
                  </a:moveTo>
                  <a:cubicBezTo>
                    <a:pt x="46" y="15"/>
                    <a:pt x="53" y="18"/>
                    <a:pt x="57" y="22"/>
                  </a:cubicBezTo>
                  <a:cubicBezTo>
                    <a:pt x="60" y="25"/>
                    <a:pt x="62" y="29"/>
                    <a:pt x="63" y="33"/>
                  </a:cubicBezTo>
                  <a:cubicBezTo>
                    <a:pt x="71" y="37"/>
                    <a:pt x="75" y="45"/>
                    <a:pt x="77" y="53"/>
                  </a:cubicBezTo>
                  <a:cubicBezTo>
                    <a:pt x="79" y="49"/>
                    <a:pt x="79" y="44"/>
                    <a:pt x="79" y="39"/>
                  </a:cubicBezTo>
                  <a:cubicBezTo>
                    <a:pt x="79" y="28"/>
                    <a:pt x="75" y="18"/>
                    <a:pt x="68" y="11"/>
                  </a:cubicBezTo>
                  <a:cubicBezTo>
                    <a:pt x="61" y="4"/>
                    <a:pt x="51" y="0"/>
                    <a:pt x="40" y="0"/>
                  </a:cubicBezTo>
                  <a:cubicBezTo>
                    <a:pt x="29" y="0"/>
                    <a:pt x="19" y="4"/>
                    <a:pt x="12" y="11"/>
                  </a:cubicBezTo>
                  <a:cubicBezTo>
                    <a:pt x="4" y="18"/>
                    <a:pt x="0" y="28"/>
                    <a:pt x="0" y="39"/>
                  </a:cubicBezTo>
                  <a:cubicBezTo>
                    <a:pt x="0" y="50"/>
                    <a:pt x="4" y="60"/>
                    <a:pt x="12" y="67"/>
                  </a:cubicBezTo>
                  <a:cubicBezTo>
                    <a:pt x="13" y="69"/>
                    <a:pt x="14" y="70"/>
                    <a:pt x="16" y="71"/>
                  </a:cubicBezTo>
                  <a:cubicBezTo>
                    <a:pt x="16" y="65"/>
                    <a:pt x="17" y="58"/>
                    <a:pt x="19" y="52"/>
                  </a:cubicBezTo>
                  <a:cubicBezTo>
                    <a:pt x="16" y="49"/>
                    <a:pt x="15" y="44"/>
                    <a:pt x="15" y="39"/>
                  </a:cubicBezTo>
                  <a:cubicBezTo>
                    <a:pt x="15" y="33"/>
                    <a:pt x="18" y="26"/>
                    <a:pt x="22" y="22"/>
                  </a:cubicBezTo>
                  <a:cubicBezTo>
                    <a:pt x="27" y="18"/>
                    <a:pt x="33" y="15"/>
                    <a:pt x="4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1">
              <a:extLst>
                <a:ext uri="{FF2B5EF4-FFF2-40B4-BE49-F238E27FC236}">
                  <a16:creationId xmlns:a16="http://schemas.microsoft.com/office/drawing/2014/main" xmlns="" id="{89E4BE40-AE3E-41CD-BA67-F38DC7A271D9}"/>
                </a:ext>
              </a:extLst>
            </p:cNvPr>
            <p:cNvSpPr>
              <a:spLocks/>
            </p:cNvSpPr>
            <p:nvPr/>
          </p:nvSpPr>
          <p:spPr bwMode="auto">
            <a:xfrm>
              <a:off x="2792413" y="4491038"/>
              <a:ext cx="265113" cy="133350"/>
            </a:xfrm>
            <a:custGeom>
              <a:avLst/>
              <a:gdLst>
                <a:gd name="T0" fmla="*/ 0 w 167"/>
                <a:gd name="T1" fmla="*/ 37 h 84"/>
                <a:gd name="T2" fmla="*/ 12 w 167"/>
                <a:gd name="T3" fmla="*/ 84 h 84"/>
                <a:gd name="T4" fmla="*/ 167 w 167"/>
                <a:gd name="T5" fmla="*/ 47 h 84"/>
                <a:gd name="T6" fmla="*/ 155 w 167"/>
                <a:gd name="T7" fmla="*/ 0 h 84"/>
                <a:gd name="T8" fmla="*/ 0 w 167"/>
                <a:gd name="T9" fmla="*/ 37 h 84"/>
              </a:gdLst>
              <a:ahLst/>
              <a:cxnLst>
                <a:cxn ang="0">
                  <a:pos x="T0" y="T1"/>
                </a:cxn>
                <a:cxn ang="0">
                  <a:pos x="T2" y="T3"/>
                </a:cxn>
                <a:cxn ang="0">
                  <a:pos x="T4" y="T5"/>
                </a:cxn>
                <a:cxn ang="0">
                  <a:pos x="T6" y="T7"/>
                </a:cxn>
                <a:cxn ang="0">
                  <a:pos x="T8" y="T9"/>
                </a:cxn>
              </a:cxnLst>
              <a:rect l="0" t="0" r="r" b="b"/>
              <a:pathLst>
                <a:path w="167" h="84">
                  <a:moveTo>
                    <a:pt x="0" y="37"/>
                  </a:moveTo>
                  <a:lnTo>
                    <a:pt x="12" y="84"/>
                  </a:lnTo>
                  <a:lnTo>
                    <a:pt x="167" y="47"/>
                  </a:lnTo>
                  <a:lnTo>
                    <a:pt x="155" y="0"/>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2">
              <a:extLst>
                <a:ext uri="{FF2B5EF4-FFF2-40B4-BE49-F238E27FC236}">
                  <a16:creationId xmlns:a16="http://schemas.microsoft.com/office/drawing/2014/main" xmlns="" id="{15014F91-1E9C-45FE-BBDA-4B8759B84E41}"/>
                </a:ext>
              </a:extLst>
            </p:cNvPr>
            <p:cNvSpPr>
              <a:spLocks/>
            </p:cNvSpPr>
            <p:nvPr/>
          </p:nvSpPr>
          <p:spPr bwMode="auto">
            <a:xfrm>
              <a:off x="2749550" y="3987801"/>
              <a:ext cx="292100" cy="515938"/>
            </a:xfrm>
            <a:custGeom>
              <a:avLst/>
              <a:gdLst>
                <a:gd name="T0" fmla="*/ 29 w 109"/>
                <a:gd name="T1" fmla="*/ 193 h 193"/>
                <a:gd name="T2" fmla="*/ 88 w 109"/>
                <a:gd name="T3" fmla="*/ 185 h 193"/>
                <a:gd name="T4" fmla="*/ 109 w 109"/>
                <a:gd name="T5" fmla="*/ 101 h 193"/>
                <a:gd name="T6" fmla="*/ 99 w 109"/>
                <a:gd name="T7" fmla="*/ 96 h 193"/>
                <a:gd name="T8" fmla="*/ 98 w 109"/>
                <a:gd name="T9" fmla="*/ 80 h 193"/>
                <a:gd name="T10" fmla="*/ 84 w 109"/>
                <a:gd name="T11" fmla="*/ 77 h 193"/>
                <a:gd name="T12" fmla="*/ 80 w 109"/>
                <a:gd name="T13" fmla="*/ 85 h 193"/>
                <a:gd name="T14" fmla="*/ 77 w 109"/>
                <a:gd name="T15" fmla="*/ 84 h 193"/>
                <a:gd name="T16" fmla="*/ 75 w 109"/>
                <a:gd name="T17" fmla="*/ 64 h 193"/>
                <a:gd name="T18" fmla="*/ 61 w 109"/>
                <a:gd name="T19" fmla="*/ 61 h 193"/>
                <a:gd name="T20" fmla="*/ 56 w 109"/>
                <a:gd name="T21" fmla="*/ 73 h 193"/>
                <a:gd name="T22" fmla="*/ 50 w 109"/>
                <a:gd name="T23" fmla="*/ 71 h 193"/>
                <a:gd name="T24" fmla="*/ 46 w 109"/>
                <a:gd name="T25" fmla="*/ 0 h 193"/>
                <a:gd name="T26" fmla="*/ 29 w 109"/>
                <a:gd name="T27" fmla="*/ 0 h 193"/>
                <a:gd name="T28" fmla="*/ 25 w 109"/>
                <a:gd name="T29" fmla="*/ 94 h 193"/>
                <a:gd name="T30" fmla="*/ 18 w 109"/>
                <a:gd name="T31" fmla="*/ 98 h 193"/>
                <a:gd name="T32" fmla="*/ 18 w 109"/>
                <a:gd name="T33" fmla="*/ 62 h 193"/>
                <a:gd name="T34" fmla="*/ 0 w 109"/>
                <a:gd name="T35" fmla="*/ 79 h 193"/>
                <a:gd name="T36" fmla="*/ 29 w 109"/>
                <a:gd name="T3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193">
                  <a:moveTo>
                    <a:pt x="29" y="193"/>
                  </a:moveTo>
                  <a:cubicBezTo>
                    <a:pt x="49" y="190"/>
                    <a:pt x="68" y="187"/>
                    <a:pt x="88" y="185"/>
                  </a:cubicBezTo>
                  <a:cubicBezTo>
                    <a:pt x="98" y="163"/>
                    <a:pt x="106" y="138"/>
                    <a:pt x="109" y="101"/>
                  </a:cubicBezTo>
                  <a:cubicBezTo>
                    <a:pt x="109" y="101"/>
                    <a:pt x="105" y="99"/>
                    <a:pt x="99" y="96"/>
                  </a:cubicBezTo>
                  <a:cubicBezTo>
                    <a:pt x="100" y="91"/>
                    <a:pt x="99" y="85"/>
                    <a:pt x="98" y="80"/>
                  </a:cubicBezTo>
                  <a:cubicBezTo>
                    <a:pt x="93" y="79"/>
                    <a:pt x="89" y="78"/>
                    <a:pt x="84" y="77"/>
                  </a:cubicBezTo>
                  <a:cubicBezTo>
                    <a:pt x="82" y="80"/>
                    <a:pt x="81" y="82"/>
                    <a:pt x="80" y="85"/>
                  </a:cubicBezTo>
                  <a:cubicBezTo>
                    <a:pt x="77" y="84"/>
                    <a:pt x="77" y="84"/>
                    <a:pt x="77" y="84"/>
                  </a:cubicBezTo>
                  <a:cubicBezTo>
                    <a:pt x="77" y="77"/>
                    <a:pt x="77" y="71"/>
                    <a:pt x="75" y="64"/>
                  </a:cubicBezTo>
                  <a:cubicBezTo>
                    <a:pt x="71" y="63"/>
                    <a:pt x="66" y="62"/>
                    <a:pt x="61" y="61"/>
                  </a:cubicBezTo>
                  <a:cubicBezTo>
                    <a:pt x="59" y="65"/>
                    <a:pt x="57" y="69"/>
                    <a:pt x="56" y="73"/>
                  </a:cubicBezTo>
                  <a:cubicBezTo>
                    <a:pt x="54" y="72"/>
                    <a:pt x="52" y="71"/>
                    <a:pt x="50" y="71"/>
                  </a:cubicBezTo>
                  <a:cubicBezTo>
                    <a:pt x="53" y="47"/>
                    <a:pt x="52" y="24"/>
                    <a:pt x="46" y="0"/>
                  </a:cubicBezTo>
                  <a:cubicBezTo>
                    <a:pt x="41" y="0"/>
                    <a:pt x="35" y="0"/>
                    <a:pt x="29" y="0"/>
                  </a:cubicBezTo>
                  <a:cubicBezTo>
                    <a:pt x="23" y="29"/>
                    <a:pt x="22" y="64"/>
                    <a:pt x="25" y="94"/>
                  </a:cubicBezTo>
                  <a:cubicBezTo>
                    <a:pt x="18" y="98"/>
                    <a:pt x="18" y="98"/>
                    <a:pt x="18" y="98"/>
                  </a:cubicBezTo>
                  <a:cubicBezTo>
                    <a:pt x="18" y="62"/>
                    <a:pt x="18" y="62"/>
                    <a:pt x="18" y="62"/>
                  </a:cubicBezTo>
                  <a:cubicBezTo>
                    <a:pt x="0" y="79"/>
                    <a:pt x="0" y="79"/>
                    <a:pt x="0" y="79"/>
                  </a:cubicBezTo>
                  <a:cubicBezTo>
                    <a:pt x="1" y="126"/>
                    <a:pt x="9" y="171"/>
                    <a:pt x="29"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 name="Group 1">
            <a:extLst>
              <a:ext uri="{FF2B5EF4-FFF2-40B4-BE49-F238E27FC236}">
                <a16:creationId xmlns:a16="http://schemas.microsoft.com/office/drawing/2014/main" xmlns="" id="{F53EDDCA-7C27-4766-BE3B-4D94B39CD5DF}"/>
              </a:ext>
            </a:extLst>
          </p:cNvPr>
          <p:cNvGrpSpPr/>
          <p:nvPr/>
        </p:nvGrpSpPr>
        <p:grpSpPr>
          <a:xfrm>
            <a:off x="1794801" y="2270201"/>
            <a:ext cx="481338" cy="746305"/>
            <a:chOff x="1715136" y="2570636"/>
            <a:chExt cx="481338" cy="746305"/>
          </a:xfrm>
        </p:grpSpPr>
        <p:sp>
          <p:nvSpPr>
            <p:cNvPr id="11" name="Freeform 57">
              <a:extLst>
                <a:ext uri="{FF2B5EF4-FFF2-40B4-BE49-F238E27FC236}">
                  <a16:creationId xmlns:a16="http://schemas.microsoft.com/office/drawing/2014/main" xmlns="" id="{213C4005-409E-4AB4-B02B-7C5A9C929D79}"/>
                </a:ext>
              </a:extLst>
            </p:cNvPr>
            <p:cNvSpPr>
              <a:spLocks noEditPoints="1"/>
            </p:cNvSpPr>
            <p:nvPr/>
          </p:nvSpPr>
          <p:spPr bwMode="auto">
            <a:xfrm>
              <a:off x="1856440" y="2766962"/>
              <a:ext cx="194456" cy="254000"/>
            </a:xfrm>
            <a:custGeom>
              <a:avLst/>
              <a:gdLst>
                <a:gd name="T0" fmla="*/ 206 w 240"/>
                <a:gd name="T1" fmla="*/ 140 h 313"/>
                <a:gd name="T2" fmla="*/ 34 w 240"/>
                <a:gd name="T3" fmla="*/ 140 h 313"/>
                <a:gd name="T4" fmla="*/ 0 w 240"/>
                <a:gd name="T5" fmla="*/ 174 h 313"/>
                <a:gd name="T6" fmla="*/ 0 w 240"/>
                <a:gd name="T7" fmla="*/ 280 h 313"/>
                <a:gd name="T8" fmla="*/ 34 w 240"/>
                <a:gd name="T9" fmla="*/ 313 h 313"/>
                <a:gd name="T10" fmla="*/ 206 w 240"/>
                <a:gd name="T11" fmla="*/ 313 h 313"/>
                <a:gd name="T12" fmla="*/ 240 w 240"/>
                <a:gd name="T13" fmla="*/ 280 h 313"/>
                <a:gd name="T14" fmla="*/ 240 w 240"/>
                <a:gd name="T15" fmla="*/ 174 h 313"/>
                <a:gd name="T16" fmla="*/ 206 w 240"/>
                <a:gd name="T17" fmla="*/ 140 h 313"/>
                <a:gd name="T18" fmla="*/ 136 w 240"/>
                <a:gd name="T19" fmla="*/ 227 h 313"/>
                <a:gd name="T20" fmla="*/ 136 w 240"/>
                <a:gd name="T21" fmla="*/ 260 h 313"/>
                <a:gd name="T22" fmla="*/ 120 w 240"/>
                <a:gd name="T23" fmla="*/ 277 h 313"/>
                <a:gd name="T24" fmla="*/ 104 w 240"/>
                <a:gd name="T25" fmla="*/ 260 h 313"/>
                <a:gd name="T26" fmla="*/ 104 w 240"/>
                <a:gd name="T27" fmla="*/ 227 h 313"/>
                <a:gd name="T28" fmla="*/ 93 w 240"/>
                <a:gd name="T29" fmla="*/ 206 h 313"/>
                <a:gd name="T30" fmla="*/ 120 w 240"/>
                <a:gd name="T31" fmla="*/ 178 h 313"/>
                <a:gd name="T32" fmla="*/ 147 w 240"/>
                <a:gd name="T33" fmla="*/ 206 h 313"/>
                <a:gd name="T34" fmla="*/ 136 w 240"/>
                <a:gd name="T35" fmla="*/ 227 h 313"/>
                <a:gd name="T36" fmla="*/ 73 w 240"/>
                <a:gd name="T37" fmla="*/ 85 h 313"/>
                <a:gd name="T38" fmla="*/ 120 w 240"/>
                <a:gd name="T39" fmla="*/ 38 h 313"/>
                <a:gd name="T40" fmla="*/ 167 w 240"/>
                <a:gd name="T41" fmla="*/ 85 h 313"/>
                <a:gd name="T42" fmla="*/ 167 w 240"/>
                <a:gd name="T43" fmla="*/ 116 h 313"/>
                <a:gd name="T44" fmla="*/ 205 w 240"/>
                <a:gd name="T45" fmla="*/ 116 h 313"/>
                <a:gd name="T46" fmla="*/ 205 w 240"/>
                <a:gd name="T47" fmla="*/ 85 h 313"/>
                <a:gd name="T48" fmla="*/ 120 w 240"/>
                <a:gd name="T49" fmla="*/ 0 h 313"/>
                <a:gd name="T50" fmla="*/ 35 w 240"/>
                <a:gd name="T51" fmla="*/ 85 h 313"/>
                <a:gd name="T52" fmla="*/ 35 w 240"/>
                <a:gd name="T53" fmla="*/ 116 h 313"/>
                <a:gd name="T54" fmla="*/ 73 w 240"/>
                <a:gd name="T55" fmla="*/ 116 h 313"/>
                <a:gd name="T56" fmla="*/ 73 w 240"/>
                <a:gd name="T57" fmla="*/ 85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0" h="313">
                  <a:moveTo>
                    <a:pt x="206" y="140"/>
                  </a:moveTo>
                  <a:cubicBezTo>
                    <a:pt x="34" y="140"/>
                    <a:pt x="34" y="140"/>
                    <a:pt x="34" y="140"/>
                  </a:cubicBezTo>
                  <a:cubicBezTo>
                    <a:pt x="15" y="140"/>
                    <a:pt x="0" y="155"/>
                    <a:pt x="0" y="174"/>
                  </a:cubicBezTo>
                  <a:cubicBezTo>
                    <a:pt x="0" y="280"/>
                    <a:pt x="0" y="280"/>
                    <a:pt x="0" y="280"/>
                  </a:cubicBezTo>
                  <a:cubicBezTo>
                    <a:pt x="0" y="298"/>
                    <a:pt x="15" y="313"/>
                    <a:pt x="34" y="313"/>
                  </a:cubicBezTo>
                  <a:cubicBezTo>
                    <a:pt x="206" y="313"/>
                    <a:pt x="206" y="313"/>
                    <a:pt x="206" y="313"/>
                  </a:cubicBezTo>
                  <a:cubicBezTo>
                    <a:pt x="225" y="313"/>
                    <a:pt x="240" y="298"/>
                    <a:pt x="240" y="280"/>
                  </a:cubicBezTo>
                  <a:cubicBezTo>
                    <a:pt x="240" y="174"/>
                    <a:pt x="240" y="174"/>
                    <a:pt x="240" y="174"/>
                  </a:cubicBezTo>
                  <a:cubicBezTo>
                    <a:pt x="240" y="155"/>
                    <a:pt x="225" y="140"/>
                    <a:pt x="206" y="140"/>
                  </a:cubicBezTo>
                  <a:close/>
                  <a:moveTo>
                    <a:pt x="136" y="227"/>
                  </a:moveTo>
                  <a:cubicBezTo>
                    <a:pt x="136" y="260"/>
                    <a:pt x="136" y="260"/>
                    <a:pt x="136" y="260"/>
                  </a:cubicBezTo>
                  <a:cubicBezTo>
                    <a:pt x="136" y="269"/>
                    <a:pt x="129" y="277"/>
                    <a:pt x="120" y="277"/>
                  </a:cubicBezTo>
                  <a:cubicBezTo>
                    <a:pt x="111" y="277"/>
                    <a:pt x="104" y="269"/>
                    <a:pt x="104" y="260"/>
                  </a:cubicBezTo>
                  <a:cubicBezTo>
                    <a:pt x="104" y="227"/>
                    <a:pt x="104" y="227"/>
                    <a:pt x="104" y="227"/>
                  </a:cubicBezTo>
                  <a:cubicBezTo>
                    <a:pt x="97" y="222"/>
                    <a:pt x="93" y="214"/>
                    <a:pt x="93" y="206"/>
                  </a:cubicBezTo>
                  <a:cubicBezTo>
                    <a:pt x="93" y="190"/>
                    <a:pt x="105" y="178"/>
                    <a:pt x="120" y="178"/>
                  </a:cubicBezTo>
                  <a:cubicBezTo>
                    <a:pt x="135" y="178"/>
                    <a:pt x="147" y="190"/>
                    <a:pt x="147" y="206"/>
                  </a:cubicBezTo>
                  <a:cubicBezTo>
                    <a:pt x="147" y="214"/>
                    <a:pt x="143" y="222"/>
                    <a:pt x="136" y="227"/>
                  </a:cubicBezTo>
                  <a:close/>
                  <a:moveTo>
                    <a:pt x="73" y="85"/>
                  </a:moveTo>
                  <a:cubicBezTo>
                    <a:pt x="73" y="59"/>
                    <a:pt x="94" y="38"/>
                    <a:pt x="120" y="38"/>
                  </a:cubicBezTo>
                  <a:cubicBezTo>
                    <a:pt x="146" y="38"/>
                    <a:pt x="167" y="59"/>
                    <a:pt x="167" y="85"/>
                  </a:cubicBezTo>
                  <a:cubicBezTo>
                    <a:pt x="167" y="116"/>
                    <a:pt x="167" y="116"/>
                    <a:pt x="167" y="116"/>
                  </a:cubicBezTo>
                  <a:cubicBezTo>
                    <a:pt x="205" y="116"/>
                    <a:pt x="205" y="116"/>
                    <a:pt x="205" y="116"/>
                  </a:cubicBezTo>
                  <a:cubicBezTo>
                    <a:pt x="205" y="85"/>
                    <a:pt x="205" y="85"/>
                    <a:pt x="205" y="85"/>
                  </a:cubicBezTo>
                  <a:cubicBezTo>
                    <a:pt x="205" y="38"/>
                    <a:pt x="167" y="0"/>
                    <a:pt x="120" y="0"/>
                  </a:cubicBezTo>
                  <a:cubicBezTo>
                    <a:pt x="73" y="0"/>
                    <a:pt x="35" y="38"/>
                    <a:pt x="35" y="85"/>
                  </a:cubicBezTo>
                  <a:cubicBezTo>
                    <a:pt x="35" y="116"/>
                    <a:pt x="35" y="116"/>
                    <a:pt x="35" y="116"/>
                  </a:cubicBezTo>
                  <a:cubicBezTo>
                    <a:pt x="73" y="116"/>
                    <a:pt x="73" y="116"/>
                    <a:pt x="73" y="116"/>
                  </a:cubicBezTo>
                  <a:lnTo>
                    <a:pt x="73" y="85"/>
                  </a:ln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8" name="Freeform 78">
              <a:extLst>
                <a:ext uri="{FF2B5EF4-FFF2-40B4-BE49-F238E27FC236}">
                  <a16:creationId xmlns:a16="http://schemas.microsoft.com/office/drawing/2014/main" xmlns="" id="{77737479-DE46-4E61-8761-CB728A5D2B04}"/>
                </a:ext>
              </a:extLst>
            </p:cNvPr>
            <p:cNvSpPr>
              <a:spLocks noEditPoints="1"/>
            </p:cNvSpPr>
            <p:nvPr/>
          </p:nvSpPr>
          <p:spPr bwMode="auto">
            <a:xfrm>
              <a:off x="1715136" y="2570636"/>
              <a:ext cx="481338" cy="746305"/>
            </a:xfrm>
            <a:custGeom>
              <a:avLst/>
              <a:gdLst>
                <a:gd name="T0" fmla="*/ 152 w 176"/>
                <a:gd name="T1" fmla="*/ 0 h 273"/>
                <a:gd name="T2" fmla="*/ 24 w 176"/>
                <a:gd name="T3" fmla="*/ 0 h 273"/>
                <a:gd name="T4" fmla="*/ 0 w 176"/>
                <a:gd name="T5" fmla="*/ 26 h 273"/>
                <a:gd name="T6" fmla="*/ 0 w 176"/>
                <a:gd name="T7" fmla="*/ 247 h 273"/>
                <a:gd name="T8" fmla="*/ 24 w 176"/>
                <a:gd name="T9" fmla="*/ 273 h 273"/>
                <a:gd name="T10" fmla="*/ 152 w 176"/>
                <a:gd name="T11" fmla="*/ 273 h 273"/>
                <a:gd name="T12" fmla="*/ 176 w 176"/>
                <a:gd name="T13" fmla="*/ 247 h 273"/>
                <a:gd name="T14" fmla="*/ 176 w 176"/>
                <a:gd name="T15" fmla="*/ 26 h 273"/>
                <a:gd name="T16" fmla="*/ 152 w 176"/>
                <a:gd name="T17" fmla="*/ 0 h 273"/>
                <a:gd name="T18" fmla="*/ 49 w 176"/>
                <a:gd name="T19" fmla="*/ 247 h 273"/>
                <a:gd name="T20" fmla="*/ 25 w 176"/>
                <a:gd name="T21" fmla="*/ 247 h 273"/>
                <a:gd name="T22" fmla="*/ 19 w 176"/>
                <a:gd name="T23" fmla="*/ 241 h 273"/>
                <a:gd name="T24" fmla="*/ 25 w 176"/>
                <a:gd name="T25" fmla="*/ 236 h 273"/>
                <a:gd name="T26" fmla="*/ 49 w 176"/>
                <a:gd name="T27" fmla="*/ 236 h 273"/>
                <a:gd name="T28" fmla="*/ 55 w 176"/>
                <a:gd name="T29" fmla="*/ 241 h 273"/>
                <a:gd name="T30" fmla="*/ 49 w 176"/>
                <a:gd name="T31" fmla="*/ 247 h 273"/>
                <a:gd name="T32" fmla="*/ 88 w 176"/>
                <a:gd name="T33" fmla="*/ 258 h 273"/>
                <a:gd name="T34" fmla="*/ 71 w 176"/>
                <a:gd name="T35" fmla="*/ 241 h 273"/>
                <a:gd name="T36" fmla="*/ 88 w 176"/>
                <a:gd name="T37" fmla="*/ 225 h 273"/>
                <a:gd name="T38" fmla="*/ 104 w 176"/>
                <a:gd name="T39" fmla="*/ 241 h 273"/>
                <a:gd name="T40" fmla="*/ 88 w 176"/>
                <a:gd name="T41" fmla="*/ 258 h 273"/>
                <a:gd name="T42" fmla="*/ 150 w 176"/>
                <a:gd name="T43" fmla="*/ 247 h 273"/>
                <a:gd name="T44" fmla="*/ 125 w 176"/>
                <a:gd name="T45" fmla="*/ 247 h 273"/>
                <a:gd name="T46" fmla="*/ 120 w 176"/>
                <a:gd name="T47" fmla="*/ 241 h 273"/>
                <a:gd name="T48" fmla="*/ 125 w 176"/>
                <a:gd name="T49" fmla="*/ 236 h 273"/>
                <a:gd name="T50" fmla="*/ 150 w 176"/>
                <a:gd name="T51" fmla="*/ 236 h 273"/>
                <a:gd name="T52" fmla="*/ 155 w 176"/>
                <a:gd name="T53" fmla="*/ 241 h 273"/>
                <a:gd name="T54" fmla="*/ 150 w 176"/>
                <a:gd name="T55" fmla="*/ 247 h 273"/>
                <a:gd name="T56" fmla="*/ 157 w 176"/>
                <a:gd name="T57" fmla="*/ 200 h 273"/>
                <a:gd name="T58" fmla="*/ 150 w 176"/>
                <a:gd name="T59" fmla="*/ 208 h 273"/>
                <a:gd name="T60" fmla="*/ 26 w 176"/>
                <a:gd name="T61" fmla="*/ 208 h 273"/>
                <a:gd name="T62" fmla="*/ 18 w 176"/>
                <a:gd name="T63" fmla="*/ 200 h 273"/>
                <a:gd name="T64" fmla="*/ 18 w 176"/>
                <a:gd name="T65" fmla="*/ 28 h 273"/>
                <a:gd name="T66" fmla="*/ 26 w 176"/>
                <a:gd name="T67" fmla="*/ 21 h 273"/>
                <a:gd name="T68" fmla="*/ 150 w 176"/>
                <a:gd name="T69" fmla="*/ 21 h 273"/>
                <a:gd name="T70" fmla="*/ 157 w 176"/>
                <a:gd name="T71" fmla="*/ 28 h 273"/>
                <a:gd name="T72" fmla="*/ 157 w 176"/>
                <a:gd name="T73" fmla="*/ 20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273">
                  <a:moveTo>
                    <a:pt x="152" y="0"/>
                  </a:moveTo>
                  <a:cubicBezTo>
                    <a:pt x="24" y="0"/>
                    <a:pt x="24" y="0"/>
                    <a:pt x="24" y="0"/>
                  </a:cubicBezTo>
                  <a:cubicBezTo>
                    <a:pt x="10" y="0"/>
                    <a:pt x="0" y="12"/>
                    <a:pt x="0" y="26"/>
                  </a:cubicBezTo>
                  <a:cubicBezTo>
                    <a:pt x="0" y="247"/>
                    <a:pt x="0" y="247"/>
                    <a:pt x="0" y="247"/>
                  </a:cubicBezTo>
                  <a:cubicBezTo>
                    <a:pt x="0" y="262"/>
                    <a:pt x="10" y="273"/>
                    <a:pt x="24" y="273"/>
                  </a:cubicBezTo>
                  <a:cubicBezTo>
                    <a:pt x="152" y="273"/>
                    <a:pt x="152" y="273"/>
                    <a:pt x="152" y="273"/>
                  </a:cubicBezTo>
                  <a:cubicBezTo>
                    <a:pt x="165" y="273"/>
                    <a:pt x="176" y="262"/>
                    <a:pt x="176" y="247"/>
                  </a:cubicBezTo>
                  <a:cubicBezTo>
                    <a:pt x="176" y="26"/>
                    <a:pt x="176" y="26"/>
                    <a:pt x="176" y="26"/>
                  </a:cubicBezTo>
                  <a:cubicBezTo>
                    <a:pt x="176" y="12"/>
                    <a:pt x="165" y="0"/>
                    <a:pt x="152" y="0"/>
                  </a:cubicBezTo>
                  <a:close/>
                  <a:moveTo>
                    <a:pt x="49" y="247"/>
                  </a:moveTo>
                  <a:cubicBezTo>
                    <a:pt x="25" y="247"/>
                    <a:pt x="25" y="247"/>
                    <a:pt x="25" y="247"/>
                  </a:cubicBezTo>
                  <a:cubicBezTo>
                    <a:pt x="22" y="247"/>
                    <a:pt x="19" y="244"/>
                    <a:pt x="19" y="241"/>
                  </a:cubicBezTo>
                  <a:cubicBezTo>
                    <a:pt x="19" y="238"/>
                    <a:pt x="22" y="236"/>
                    <a:pt x="25" y="236"/>
                  </a:cubicBezTo>
                  <a:cubicBezTo>
                    <a:pt x="49" y="236"/>
                    <a:pt x="49" y="236"/>
                    <a:pt x="49" y="236"/>
                  </a:cubicBezTo>
                  <a:cubicBezTo>
                    <a:pt x="52" y="236"/>
                    <a:pt x="55" y="238"/>
                    <a:pt x="55" y="241"/>
                  </a:cubicBezTo>
                  <a:cubicBezTo>
                    <a:pt x="55" y="244"/>
                    <a:pt x="52" y="247"/>
                    <a:pt x="49" y="247"/>
                  </a:cubicBezTo>
                  <a:close/>
                  <a:moveTo>
                    <a:pt x="88" y="258"/>
                  </a:moveTo>
                  <a:cubicBezTo>
                    <a:pt x="79" y="258"/>
                    <a:pt x="71" y="250"/>
                    <a:pt x="71" y="241"/>
                  </a:cubicBezTo>
                  <a:cubicBezTo>
                    <a:pt x="71" y="232"/>
                    <a:pt x="79" y="225"/>
                    <a:pt x="88" y="225"/>
                  </a:cubicBezTo>
                  <a:cubicBezTo>
                    <a:pt x="97" y="225"/>
                    <a:pt x="104" y="232"/>
                    <a:pt x="104" y="241"/>
                  </a:cubicBezTo>
                  <a:cubicBezTo>
                    <a:pt x="104" y="250"/>
                    <a:pt x="97" y="258"/>
                    <a:pt x="88" y="258"/>
                  </a:cubicBezTo>
                  <a:close/>
                  <a:moveTo>
                    <a:pt x="150" y="247"/>
                  </a:moveTo>
                  <a:cubicBezTo>
                    <a:pt x="125" y="247"/>
                    <a:pt x="125" y="247"/>
                    <a:pt x="125" y="247"/>
                  </a:cubicBezTo>
                  <a:cubicBezTo>
                    <a:pt x="122" y="247"/>
                    <a:pt x="120" y="244"/>
                    <a:pt x="120" y="241"/>
                  </a:cubicBezTo>
                  <a:cubicBezTo>
                    <a:pt x="120" y="238"/>
                    <a:pt x="122" y="236"/>
                    <a:pt x="125" y="236"/>
                  </a:cubicBezTo>
                  <a:cubicBezTo>
                    <a:pt x="150" y="236"/>
                    <a:pt x="150" y="236"/>
                    <a:pt x="150" y="236"/>
                  </a:cubicBezTo>
                  <a:cubicBezTo>
                    <a:pt x="153" y="236"/>
                    <a:pt x="155" y="238"/>
                    <a:pt x="155" y="241"/>
                  </a:cubicBezTo>
                  <a:cubicBezTo>
                    <a:pt x="155" y="244"/>
                    <a:pt x="153" y="247"/>
                    <a:pt x="150" y="247"/>
                  </a:cubicBezTo>
                  <a:close/>
                  <a:moveTo>
                    <a:pt x="157" y="200"/>
                  </a:moveTo>
                  <a:cubicBezTo>
                    <a:pt x="157" y="204"/>
                    <a:pt x="154" y="208"/>
                    <a:pt x="150" y="208"/>
                  </a:cubicBezTo>
                  <a:cubicBezTo>
                    <a:pt x="26" y="208"/>
                    <a:pt x="26" y="208"/>
                    <a:pt x="26" y="208"/>
                  </a:cubicBezTo>
                  <a:cubicBezTo>
                    <a:pt x="22" y="208"/>
                    <a:pt x="18" y="204"/>
                    <a:pt x="18" y="200"/>
                  </a:cubicBezTo>
                  <a:cubicBezTo>
                    <a:pt x="18" y="28"/>
                    <a:pt x="18" y="28"/>
                    <a:pt x="18" y="28"/>
                  </a:cubicBezTo>
                  <a:cubicBezTo>
                    <a:pt x="18" y="24"/>
                    <a:pt x="22" y="21"/>
                    <a:pt x="26" y="21"/>
                  </a:cubicBezTo>
                  <a:cubicBezTo>
                    <a:pt x="150" y="21"/>
                    <a:pt x="150" y="21"/>
                    <a:pt x="150" y="21"/>
                  </a:cubicBezTo>
                  <a:cubicBezTo>
                    <a:pt x="154" y="21"/>
                    <a:pt x="157" y="24"/>
                    <a:pt x="157" y="28"/>
                  </a:cubicBezTo>
                  <a:lnTo>
                    <a:pt x="157" y="200"/>
                  </a:lnTo>
                  <a:close/>
                </a:path>
              </a:pathLst>
            </a:custGeom>
            <a:solidFill>
              <a:srgbClr val="04465F"/>
            </a:solidFill>
            <a:ln>
              <a:noFill/>
            </a:ln>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945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609600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
        <p:nvSpPr>
          <p:cNvPr id="4" name="Title 3"/>
          <p:cNvSpPr>
            <a:spLocks noGrp="1"/>
          </p:cNvSpPr>
          <p:nvPr>
            <p:ph type="title"/>
          </p:nvPr>
        </p:nvSpPr>
        <p:spPr/>
        <p:txBody>
          <a:bodyPr/>
          <a:lstStyle/>
          <a:p>
            <a:r>
              <a:rPr lang="en-US" dirty="0">
                <a:latin typeface="Century Gothic"/>
                <a:cs typeface="Century Gothic"/>
              </a:rPr>
              <a:t>How </a:t>
            </a:r>
            <a:r>
              <a:rPr lang="en-US" dirty="0">
                <a:solidFill>
                  <a:srgbClr val="F4BC53"/>
                </a:solidFill>
                <a:latin typeface="Century Gothic"/>
                <a:cs typeface="Century Gothic"/>
              </a:rPr>
              <a:t>Present</a:t>
            </a:r>
            <a:r>
              <a:rPr lang="en-US" dirty="0">
                <a:latin typeface="Century Gothic"/>
                <a:cs typeface="Century Gothic"/>
              </a:rPr>
              <a:t> Works</a:t>
            </a:r>
          </a:p>
        </p:txBody>
      </p:sp>
      <p:grpSp>
        <p:nvGrpSpPr>
          <p:cNvPr id="37" name="Group 36">
            <a:extLst>
              <a:ext uri="{FF2B5EF4-FFF2-40B4-BE49-F238E27FC236}">
                <a16:creationId xmlns:a16="http://schemas.microsoft.com/office/drawing/2014/main" xmlns="" id="{7B360405-2E0C-4B9A-AE67-41358749AFC0}"/>
              </a:ext>
            </a:extLst>
          </p:cNvPr>
          <p:cNvGrpSpPr>
            <a:grpSpLocks noChangeAspect="1"/>
          </p:cNvGrpSpPr>
          <p:nvPr/>
        </p:nvGrpSpPr>
        <p:grpSpPr>
          <a:xfrm>
            <a:off x="3777680" y="2259555"/>
            <a:ext cx="2074920" cy="4023360"/>
            <a:chOff x="1784393" y="3429000"/>
            <a:chExt cx="1221289" cy="2368133"/>
          </a:xfrm>
        </p:grpSpPr>
        <p:pic>
          <p:nvPicPr>
            <p:cNvPr id="38" name="Picture 37">
              <a:extLst>
                <a:ext uri="{FF2B5EF4-FFF2-40B4-BE49-F238E27FC236}">
                  <a16:creationId xmlns:a16="http://schemas.microsoft.com/office/drawing/2014/main" xmlns="" id="{45004D38-33B3-48AE-9076-B1059F4BB268}"/>
                </a:ext>
              </a:extLst>
            </p:cNvPr>
            <p:cNvPicPr>
              <a:picLocks noChangeAspect="1"/>
            </p:cNvPicPr>
            <p:nvPr/>
          </p:nvPicPr>
          <p:blipFill rotWithShape="1">
            <a:blip r:embed="rId3">
              <a:extLst>
                <a:ext uri="{28A0092B-C50C-407E-A947-70E740481C1C}">
                  <a14:useLocalDpi xmlns:a14="http://schemas.microsoft.com/office/drawing/2010/main" val="0"/>
                </a:ext>
              </a:extLst>
            </a:blip>
            <a:srcRect l="27522" t="5360" r="26400" b="5292"/>
            <a:stretch/>
          </p:blipFill>
          <p:spPr>
            <a:xfrm>
              <a:off x="1784393" y="3429000"/>
              <a:ext cx="1221289" cy="2368133"/>
            </a:xfrm>
            <a:prstGeom prst="rect">
              <a:avLst/>
            </a:prstGeom>
          </p:spPr>
        </p:pic>
        <p:pic>
          <p:nvPicPr>
            <p:cNvPr id="39" name="Picture 38">
              <a:extLst>
                <a:ext uri="{FF2B5EF4-FFF2-40B4-BE49-F238E27FC236}">
                  <a16:creationId xmlns:a16="http://schemas.microsoft.com/office/drawing/2014/main" xmlns="" id="{AA94310E-F414-4BC7-9711-B780FBC247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8873" y="3706861"/>
              <a:ext cx="1024406" cy="1812410"/>
            </a:xfrm>
            <a:prstGeom prst="rect">
              <a:avLst/>
            </a:prstGeom>
          </p:spPr>
        </p:pic>
      </p:grpSp>
      <p:grpSp>
        <p:nvGrpSpPr>
          <p:cNvPr id="40" name="Group 39">
            <a:extLst>
              <a:ext uri="{FF2B5EF4-FFF2-40B4-BE49-F238E27FC236}">
                <a16:creationId xmlns:a16="http://schemas.microsoft.com/office/drawing/2014/main" xmlns="" id="{EB1677D4-BF2A-4152-A374-F79F0CD9E7C2}"/>
              </a:ext>
            </a:extLst>
          </p:cNvPr>
          <p:cNvGrpSpPr>
            <a:grpSpLocks noChangeAspect="1"/>
          </p:cNvGrpSpPr>
          <p:nvPr/>
        </p:nvGrpSpPr>
        <p:grpSpPr>
          <a:xfrm>
            <a:off x="6679899" y="2259555"/>
            <a:ext cx="2074919" cy="4023360"/>
            <a:chOff x="6396401" y="1107293"/>
            <a:chExt cx="1221289" cy="2368133"/>
          </a:xfrm>
        </p:grpSpPr>
        <p:pic>
          <p:nvPicPr>
            <p:cNvPr id="41" name="Picture 40">
              <a:extLst>
                <a:ext uri="{FF2B5EF4-FFF2-40B4-BE49-F238E27FC236}">
                  <a16:creationId xmlns:a16="http://schemas.microsoft.com/office/drawing/2014/main" xmlns="" id="{69A95C54-9926-4CA2-9D96-8A6BA2B6CCDF}"/>
                </a:ext>
              </a:extLst>
            </p:cNvPr>
            <p:cNvPicPr>
              <a:picLocks noChangeAspect="1"/>
            </p:cNvPicPr>
            <p:nvPr/>
          </p:nvPicPr>
          <p:blipFill rotWithShape="1">
            <a:blip r:embed="rId3">
              <a:extLst>
                <a:ext uri="{28A0092B-C50C-407E-A947-70E740481C1C}">
                  <a14:useLocalDpi xmlns:a14="http://schemas.microsoft.com/office/drawing/2010/main" val="0"/>
                </a:ext>
              </a:extLst>
            </a:blip>
            <a:srcRect l="27522" t="5360" r="26400" b="5292"/>
            <a:stretch/>
          </p:blipFill>
          <p:spPr>
            <a:xfrm>
              <a:off x="6396401" y="1107293"/>
              <a:ext cx="1221289" cy="2368133"/>
            </a:xfrm>
            <a:prstGeom prst="rect">
              <a:avLst/>
            </a:prstGeom>
          </p:spPr>
        </p:pic>
        <p:pic>
          <p:nvPicPr>
            <p:cNvPr id="42" name="Picture 41">
              <a:extLst>
                <a:ext uri="{FF2B5EF4-FFF2-40B4-BE49-F238E27FC236}">
                  <a16:creationId xmlns:a16="http://schemas.microsoft.com/office/drawing/2014/main" xmlns="" id="{21D5D9B8-E9B7-48A0-B033-51A249540A8B}"/>
                </a:ext>
              </a:extLst>
            </p:cNvPr>
            <p:cNvPicPr>
              <a:picLocks noChangeAspect="1"/>
            </p:cNvPicPr>
            <p:nvPr/>
          </p:nvPicPr>
          <p:blipFill rotWithShape="1">
            <a:blip r:embed="rId5">
              <a:extLst>
                <a:ext uri="{28A0092B-C50C-407E-A947-70E740481C1C}">
                  <a14:useLocalDpi xmlns:a14="http://schemas.microsoft.com/office/drawing/2010/main" val="0"/>
                </a:ext>
              </a:extLst>
            </a:blip>
            <a:srcRect t="5202"/>
            <a:stretch/>
          </p:blipFill>
          <p:spPr>
            <a:xfrm>
              <a:off x="6476712" y="1386103"/>
              <a:ext cx="1022958" cy="1810512"/>
            </a:xfrm>
            <a:prstGeom prst="rect">
              <a:avLst/>
            </a:prstGeom>
          </p:spPr>
        </p:pic>
      </p:grpSp>
      <p:grpSp>
        <p:nvGrpSpPr>
          <p:cNvPr id="43" name="Group 42">
            <a:extLst>
              <a:ext uri="{FF2B5EF4-FFF2-40B4-BE49-F238E27FC236}">
                <a16:creationId xmlns:a16="http://schemas.microsoft.com/office/drawing/2014/main" xmlns="" id="{66299878-7A5D-4E6A-BA4E-500E12536545}"/>
              </a:ext>
            </a:extLst>
          </p:cNvPr>
          <p:cNvGrpSpPr>
            <a:grpSpLocks noChangeAspect="1"/>
          </p:cNvGrpSpPr>
          <p:nvPr/>
        </p:nvGrpSpPr>
        <p:grpSpPr>
          <a:xfrm>
            <a:off x="9582117" y="2259555"/>
            <a:ext cx="2074920" cy="4023360"/>
            <a:chOff x="9787120" y="506623"/>
            <a:chExt cx="1221289" cy="2368133"/>
          </a:xfrm>
        </p:grpSpPr>
        <p:pic>
          <p:nvPicPr>
            <p:cNvPr id="44" name="Picture 43">
              <a:extLst>
                <a:ext uri="{FF2B5EF4-FFF2-40B4-BE49-F238E27FC236}">
                  <a16:creationId xmlns:a16="http://schemas.microsoft.com/office/drawing/2014/main" xmlns="" id="{44B2E718-EA4D-4992-ABE1-EF94025CB0C1}"/>
                </a:ext>
              </a:extLst>
            </p:cNvPr>
            <p:cNvPicPr>
              <a:picLocks noChangeAspect="1"/>
            </p:cNvPicPr>
            <p:nvPr/>
          </p:nvPicPr>
          <p:blipFill rotWithShape="1">
            <a:blip r:embed="rId3">
              <a:extLst>
                <a:ext uri="{28A0092B-C50C-407E-A947-70E740481C1C}">
                  <a14:useLocalDpi xmlns:a14="http://schemas.microsoft.com/office/drawing/2010/main" val="0"/>
                </a:ext>
              </a:extLst>
            </a:blip>
            <a:srcRect l="27522" t="5360" r="26400" b="5292"/>
            <a:stretch/>
          </p:blipFill>
          <p:spPr>
            <a:xfrm>
              <a:off x="9787120" y="506623"/>
              <a:ext cx="1221289" cy="2368133"/>
            </a:xfrm>
            <a:prstGeom prst="rect">
              <a:avLst/>
            </a:prstGeom>
          </p:spPr>
        </p:pic>
        <p:pic>
          <p:nvPicPr>
            <p:cNvPr id="45" name="Picture 44">
              <a:extLst>
                <a:ext uri="{FF2B5EF4-FFF2-40B4-BE49-F238E27FC236}">
                  <a16:creationId xmlns:a16="http://schemas.microsoft.com/office/drawing/2014/main" xmlns="" id="{B986B964-52D8-4E50-BCE1-D6F60534EC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69958" y="785433"/>
              <a:ext cx="1017904" cy="1810512"/>
            </a:xfrm>
            <a:prstGeom prst="rect">
              <a:avLst/>
            </a:prstGeom>
          </p:spPr>
        </p:pic>
      </p:grpSp>
      <p:grpSp>
        <p:nvGrpSpPr>
          <p:cNvPr id="46" name="Group 45">
            <a:extLst>
              <a:ext uri="{FF2B5EF4-FFF2-40B4-BE49-F238E27FC236}">
                <a16:creationId xmlns:a16="http://schemas.microsoft.com/office/drawing/2014/main" xmlns="" id="{A2EEF416-5F58-498B-8440-537A2D38E9EF}"/>
              </a:ext>
            </a:extLst>
          </p:cNvPr>
          <p:cNvGrpSpPr>
            <a:grpSpLocks noChangeAspect="1"/>
          </p:cNvGrpSpPr>
          <p:nvPr/>
        </p:nvGrpSpPr>
        <p:grpSpPr>
          <a:xfrm>
            <a:off x="875464" y="2259555"/>
            <a:ext cx="2074917" cy="4023360"/>
            <a:chOff x="1346264" y="3219321"/>
            <a:chExt cx="1688230" cy="3273552"/>
          </a:xfrm>
        </p:grpSpPr>
        <p:pic>
          <p:nvPicPr>
            <p:cNvPr id="47" name="Picture 46">
              <a:extLst>
                <a:ext uri="{FF2B5EF4-FFF2-40B4-BE49-F238E27FC236}">
                  <a16:creationId xmlns:a16="http://schemas.microsoft.com/office/drawing/2014/main" xmlns="" id="{BECC61CC-2CAA-4EDA-9D1B-2F5ADD279CE2}"/>
                </a:ext>
              </a:extLst>
            </p:cNvPr>
            <p:cNvPicPr>
              <a:picLocks noChangeAspect="1"/>
            </p:cNvPicPr>
            <p:nvPr/>
          </p:nvPicPr>
          <p:blipFill rotWithShape="1">
            <a:blip r:embed="rId3">
              <a:extLst>
                <a:ext uri="{28A0092B-C50C-407E-A947-70E740481C1C}">
                  <a14:useLocalDpi xmlns:a14="http://schemas.microsoft.com/office/drawing/2010/main" val="0"/>
                </a:ext>
              </a:extLst>
            </a:blip>
            <a:srcRect l="27522" t="5360" r="26400" b="5292"/>
            <a:stretch/>
          </p:blipFill>
          <p:spPr>
            <a:xfrm>
              <a:off x="1346264" y="3219321"/>
              <a:ext cx="1688230" cy="3273552"/>
            </a:xfrm>
            <a:prstGeom prst="rect">
              <a:avLst/>
            </a:prstGeom>
          </p:spPr>
        </p:pic>
        <p:pic>
          <p:nvPicPr>
            <p:cNvPr id="48" name="Picture 47">
              <a:extLst>
                <a:ext uri="{FF2B5EF4-FFF2-40B4-BE49-F238E27FC236}">
                  <a16:creationId xmlns:a16="http://schemas.microsoft.com/office/drawing/2014/main" xmlns="" id="{B36ADD86-191E-4F79-A87D-FB8973DC26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69369" y="3612796"/>
              <a:ext cx="1408615" cy="2505456"/>
            </a:xfrm>
            <a:prstGeom prst="rect">
              <a:avLst/>
            </a:prstGeom>
          </p:spPr>
        </p:pic>
        <p:pic>
          <p:nvPicPr>
            <p:cNvPr id="49" name="Picture 48">
              <a:extLst>
                <a:ext uri="{FF2B5EF4-FFF2-40B4-BE49-F238E27FC236}">
                  <a16:creationId xmlns:a16="http://schemas.microsoft.com/office/drawing/2014/main" xmlns="" id="{7DB61C83-9683-4870-9523-8B13F48FF1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75582" y="4352262"/>
              <a:ext cx="1389225" cy="398848"/>
            </a:xfrm>
            <a:prstGeom prst="rect">
              <a:avLst/>
            </a:prstGeom>
          </p:spPr>
        </p:pic>
      </p:grpSp>
      <p:sp>
        <p:nvSpPr>
          <p:cNvPr id="50" name="Oval 49">
            <a:extLst>
              <a:ext uri="{FF2B5EF4-FFF2-40B4-BE49-F238E27FC236}">
                <a16:creationId xmlns:a16="http://schemas.microsoft.com/office/drawing/2014/main" xmlns="" id="{8D4938C9-1E97-49D7-8C79-813A4FF97D8B}"/>
              </a:ext>
            </a:extLst>
          </p:cNvPr>
          <p:cNvSpPr>
            <a:spLocks noChangeAspect="1"/>
          </p:cNvSpPr>
          <p:nvPr/>
        </p:nvSpPr>
        <p:spPr>
          <a:xfrm>
            <a:off x="614833" y="1363445"/>
            <a:ext cx="274320" cy="274320"/>
          </a:xfrm>
          <a:prstGeom prst="ellipse">
            <a:avLst/>
          </a:prstGeom>
          <a:solidFill>
            <a:srgbClr val="04465F"/>
          </a:solidFill>
          <a:ln>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latin typeface="Century Gothic"/>
                <a:cs typeface="Century Gothic"/>
              </a:rPr>
              <a:t>1</a:t>
            </a:r>
          </a:p>
        </p:txBody>
      </p:sp>
      <p:sp>
        <p:nvSpPr>
          <p:cNvPr id="51" name="TextBox 50">
            <a:extLst>
              <a:ext uri="{FF2B5EF4-FFF2-40B4-BE49-F238E27FC236}">
                <a16:creationId xmlns:a16="http://schemas.microsoft.com/office/drawing/2014/main" xmlns="" id="{10C1C366-6419-4922-B1DB-541DD9958A66}"/>
              </a:ext>
            </a:extLst>
          </p:cNvPr>
          <p:cNvSpPr txBox="1"/>
          <p:nvPr/>
        </p:nvSpPr>
        <p:spPr>
          <a:xfrm>
            <a:off x="984775" y="1306883"/>
            <a:ext cx="2240280" cy="669414"/>
          </a:xfrm>
          <a:prstGeom prst="rect">
            <a:avLst/>
          </a:prstGeom>
          <a:noFill/>
        </p:spPr>
        <p:txBody>
          <a:bodyPr wrap="square" rtlCol="0">
            <a:spAutoFit/>
          </a:bodyPr>
          <a:lstStyle/>
          <a:p>
            <a:r>
              <a:rPr lang="en-US" sz="1250" dirty="0">
                <a:latin typeface="Century Gothic"/>
                <a:cs typeface="Century Gothic"/>
              </a:rPr>
              <a:t>At start of class, students are notified to mark themselves </a:t>
            </a:r>
            <a:r>
              <a:rPr lang="en-US" sz="1250" b="1" dirty="0">
                <a:solidFill>
                  <a:srgbClr val="F4BC53"/>
                </a:solidFill>
                <a:latin typeface="Century Gothic"/>
                <a:cs typeface="Century Gothic"/>
              </a:rPr>
              <a:t>Present</a:t>
            </a:r>
            <a:r>
              <a:rPr lang="en-US" sz="1250" dirty="0">
                <a:latin typeface="Century Gothic"/>
                <a:cs typeface="Century Gothic"/>
              </a:rPr>
              <a:t>.</a:t>
            </a:r>
          </a:p>
        </p:txBody>
      </p:sp>
      <p:sp>
        <p:nvSpPr>
          <p:cNvPr id="52" name="Oval 51">
            <a:extLst>
              <a:ext uri="{FF2B5EF4-FFF2-40B4-BE49-F238E27FC236}">
                <a16:creationId xmlns:a16="http://schemas.microsoft.com/office/drawing/2014/main" xmlns="" id="{C30742D0-8E3A-4670-A72E-C6CDD80F22F5}"/>
              </a:ext>
            </a:extLst>
          </p:cNvPr>
          <p:cNvSpPr>
            <a:spLocks noChangeAspect="1"/>
          </p:cNvSpPr>
          <p:nvPr/>
        </p:nvSpPr>
        <p:spPr>
          <a:xfrm>
            <a:off x="3483997" y="1363445"/>
            <a:ext cx="274320" cy="274320"/>
          </a:xfrm>
          <a:prstGeom prst="ellipse">
            <a:avLst/>
          </a:prstGeom>
          <a:solidFill>
            <a:srgbClr val="04465F"/>
          </a:solidFill>
          <a:ln>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latin typeface="Century Gothic"/>
                <a:cs typeface="Century Gothic"/>
              </a:rPr>
              <a:t>2</a:t>
            </a:r>
          </a:p>
        </p:txBody>
      </p:sp>
      <p:sp>
        <p:nvSpPr>
          <p:cNvPr id="53" name="TextBox 52">
            <a:extLst>
              <a:ext uri="{FF2B5EF4-FFF2-40B4-BE49-F238E27FC236}">
                <a16:creationId xmlns:a16="http://schemas.microsoft.com/office/drawing/2014/main" xmlns="" id="{42D66A4C-B273-4661-9FB1-E373E1AF7D6D}"/>
              </a:ext>
            </a:extLst>
          </p:cNvPr>
          <p:cNvSpPr txBox="1"/>
          <p:nvPr/>
        </p:nvSpPr>
        <p:spPr>
          <a:xfrm>
            <a:off x="3856074" y="1306883"/>
            <a:ext cx="2238143" cy="861774"/>
          </a:xfrm>
          <a:prstGeom prst="rect">
            <a:avLst/>
          </a:prstGeom>
          <a:noFill/>
        </p:spPr>
        <p:txBody>
          <a:bodyPr wrap="square" rtlCol="0">
            <a:spAutoFit/>
          </a:bodyPr>
          <a:lstStyle/>
          <a:p>
            <a:r>
              <a:rPr lang="en-US" sz="1250" dirty="0">
                <a:latin typeface="Century Gothic"/>
                <a:cs typeface="Century Gothic"/>
              </a:rPr>
              <a:t>Student phones are locked. They cannot text, </a:t>
            </a:r>
            <a:r>
              <a:rPr lang="en-US" sz="1250" dirty="0" err="1">
                <a:latin typeface="Century Gothic"/>
                <a:cs typeface="Century Gothic"/>
              </a:rPr>
              <a:t>instagram</a:t>
            </a:r>
            <a:r>
              <a:rPr lang="en-US" sz="1250" dirty="0">
                <a:latin typeface="Century Gothic"/>
                <a:cs typeface="Century Gothic"/>
              </a:rPr>
              <a:t>, </a:t>
            </a:r>
            <a:r>
              <a:rPr lang="en-US" sz="1250" dirty="0" err="1">
                <a:latin typeface="Century Gothic"/>
                <a:cs typeface="Century Gothic"/>
              </a:rPr>
              <a:t>facebook</a:t>
            </a:r>
            <a:r>
              <a:rPr lang="en-US" sz="1250" dirty="0">
                <a:latin typeface="Century Gothic"/>
                <a:cs typeface="Century Gothic"/>
              </a:rPr>
              <a:t>, or use other distracting apps.</a:t>
            </a:r>
          </a:p>
        </p:txBody>
      </p:sp>
      <p:sp>
        <p:nvSpPr>
          <p:cNvPr id="54" name="Oval 53">
            <a:extLst>
              <a:ext uri="{FF2B5EF4-FFF2-40B4-BE49-F238E27FC236}">
                <a16:creationId xmlns:a16="http://schemas.microsoft.com/office/drawing/2014/main" xmlns="" id="{28C170F3-87DE-46F8-A559-6B79B91AABE3}"/>
              </a:ext>
            </a:extLst>
          </p:cNvPr>
          <p:cNvSpPr>
            <a:spLocks noChangeAspect="1"/>
          </p:cNvSpPr>
          <p:nvPr/>
        </p:nvSpPr>
        <p:spPr>
          <a:xfrm>
            <a:off x="6353159" y="1363445"/>
            <a:ext cx="274320" cy="274320"/>
          </a:xfrm>
          <a:prstGeom prst="ellipse">
            <a:avLst/>
          </a:prstGeom>
          <a:solidFill>
            <a:srgbClr val="04465F"/>
          </a:solidFill>
          <a:ln>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latin typeface="Century Gothic"/>
                <a:cs typeface="Century Gothic"/>
              </a:rPr>
              <a:t>3</a:t>
            </a:r>
          </a:p>
        </p:txBody>
      </p:sp>
      <p:sp>
        <p:nvSpPr>
          <p:cNvPr id="55" name="TextBox 54">
            <a:extLst>
              <a:ext uri="{FF2B5EF4-FFF2-40B4-BE49-F238E27FC236}">
                <a16:creationId xmlns:a16="http://schemas.microsoft.com/office/drawing/2014/main" xmlns="" id="{8BCA4BEC-4BB5-4586-8ECD-160D620DC32D}"/>
              </a:ext>
            </a:extLst>
          </p:cNvPr>
          <p:cNvSpPr txBox="1"/>
          <p:nvPr/>
        </p:nvSpPr>
        <p:spPr>
          <a:xfrm>
            <a:off x="6725234" y="1306883"/>
            <a:ext cx="2238143" cy="861774"/>
          </a:xfrm>
          <a:prstGeom prst="rect">
            <a:avLst/>
          </a:prstGeom>
          <a:noFill/>
        </p:spPr>
        <p:txBody>
          <a:bodyPr wrap="square" rtlCol="0">
            <a:spAutoFit/>
          </a:bodyPr>
          <a:lstStyle/>
          <a:p>
            <a:r>
              <a:rPr lang="en-US" sz="1250" dirty="0">
                <a:latin typeface="Century Gothic"/>
                <a:cs typeface="Century Gothic"/>
              </a:rPr>
              <a:t>Teachers can create, distribute, and view live-quizzes to engage students via devices.</a:t>
            </a:r>
          </a:p>
        </p:txBody>
      </p:sp>
      <p:sp>
        <p:nvSpPr>
          <p:cNvPr id="56" name="Oval 55">
            <a:extLst>
              <a:ext uri="{FF2B5EF4-FFF2-40B4-BE49-F238E27FC236}">
                <a16:creationId xmlns:a16="http://schemas.microsoft.com/office/drawing/2014/main" xmlns="" id="{983D920D-6FEB-4CB0-801B-50C179B05A1A}"/>
              </a:ext>
            </a:extLst>
          </p:cNvPr>
          <p:cNvSpPr>
            <a:spLocks noChangeAspect="1"/>
          </p:cNvSpPr>
          <p:nvPr/>
        </p:nvSpPr>
        <p:spPr>
          <a:xfrm>
            <a:off x="9222320" y="1363445"/>
            <a:ext cx="274320" cy="274320"/>
          </a:xfrm>
          <a:prstGeom prst="ellipse">
            <a:avLst/>
          </a:prstGeom>
          <a:solidFill>
            <a:srgbClr val="04465F"/>
          </a:solidFill>
          <a:ln>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latin typeface="Century Gothic"/>
                <a:cs typeface="Century Gothic"/>
              </a:rPr>
              <a:t>4</a:t>
            </a:r>
          </a:p>
        </p:txBody>
      </p:sp>
      <p:sp>
        <p:nvSpPr>
          <p:cNvPr id="57" name="TextBox 56">
            <a:extLst>
              <a:ext uri="{FF2B5EF4-FFF2-40B4-BE49-F238E27FC236}">
                <a16:creationId xmlns:a16="http://schemas.microsoft.com/office/drawing/2014/main" xmlns="" id="{E2434537-68E0-4C59-8674-C6C26B1A9A67}"/>
              </a:ext>
            </a:extLst>
          </p:cNvPr>
          <p:cNvSpPr txBox="1"/>
          <p:nvPr/>
        </p:nvSpPr>
        <p:spPr>
          <a:xfrm>
            <a:off x="9582117" y="1306883"/>
            <a:ext cx="2411920" cy="669414"/>
          </a:xfrm>
          <a:prstGeom prst="rect">
            <a:avLst/>
          </a:prstGeom>
          <a:noFill/>
        </p:spPr>
        <p:txBody>
          <a:bodyPr wrap="square" rtlCol="0">
            <a:spAutoFit/>
          </a:bodyPr>
          <a:lstStyle/>
          <a:p>
            <a:r>
              <a:rPr lang="en-US" sz="1250" dirty="0">
                <a:latin typeface="Century Gothic"/>
                <a:cs typeface="Century Gothic"/>
              </a:rPr>
              <a:t>At the end of class, student phones are automatically unlocked.</a:t>
            </a:r>
          </a:p>
        </p:txBody>
      </p:sp>
      <p:cxnSp>
        <p:nvCxnSpPr>
          <p:cNvPr id="58" name="Straight Arrow Connector 57">
            <a:extLst>
              <a:ext uri="{FF2B5EF4-FFF2-40B4-BE49-F238E27FC236}">
                <a16:creationId xmlns:a16="http://schemas.microsoft.com/office/drawing/2014/main" xmlns="" id="{BBF7ED82-60B1-4C2C-8AF8-B803B8A54778}"/>
              </a:ext>
            </a:extLst>
          </p:cNvPr>
          <p:cNvCxnSpPr/>
          <p:nvPr/>
        </p:nvCxnSpPr>
        <p:spPr>
          <a:xfrm>
            <a:off x="3123015" y="4271235"/>
            <a:ext cx="482031" cy="0"/>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xmlns="" id="{B8CF16B3-169A-4842-B8BB-2A3F3EEB72B3}"/>
              </a:ext>
            </a:extLst>
          </p:cNvPr>
          <p:cNvCxnSpPr/>
          <p:nvPr/>
        </p:nvCxnSpPr>
        <p:spPr>
          <a:xfrm>
            <a:off x="6025234" y="4271235"/>
            <a:ext cx="482031" cy="0"/>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xmlns="" id="{36521199-637B-457B-9E4C-F4ADD52377DD}"/>
              </a:ext>
            </a:extLst>
          </p:cNvPr>
          <p:cNvCxnSpPr/>
          <p:nvPr/>
        </p:nvCxnSpPr>
        <p:spPr>
          <a:xfrm>
            <a:off x="8927452" y="4271235"/>
            <a:ext cx="482031" cy="0"/>
          </a:xfrm>
          <a:prstGeom prst="straightConnector1">
            <a:avLst/>
          </a:prstGeom>
          <a:ln w="7620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descr="5.4_Present in Class.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35194" y="2726229"/>
            <a:ext cx="1723560" cy="3065640"/>
          </a:xfrm>
          <a:prstGeom prst="rect">
            <a:avLst/>
          </a:prstGeom>
        </p:spPr>
      </p:pic>
      <p:pic>
        <p:nvPicPr>
          <p:cNvPr id="3" name="Picture 2" descr="6.5_LC Class Responses_Correct Answer.png"/>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34772" y="2737179"/>
            <a:ext cx="1717404" cy="3054690"/>
          </a:xfrm>
          <a:prstGeom prst="rect">
            <a:avLst/>
          </a:prstGeom>
        </p:spPr>
      </p:pic>
      <p:pic>
        <p:nvPicPr>
          <p:cNvPr id="5" name="Picture 4" descr="IMG_8218.jpe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29116" y="2748563"/>
            <a:ext cx="1729788" cy="3076717"/>
          </a:xfrm>
          <a:prstGeom prst="rect">
            <a:avLst/>
          </a:prstGeom>
        </p:spPr>
      </p:pic>
    </p:spTree>
    <p:extLst>
      <p:ext uri="{BB962C8B-B14F-4D97-AF65-F5344CB8AC3E}">
        <p14:creationId xmlns:p14="http://schemas.microsoft.com/office/powerpoint/2010/main" val="331125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609600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a:t>The Market</a:t>
            </a:r>
          </a:p>
        </p:txBody>
      </p:sp>
      <p:sp>
        <p:nvSpPr>
          <p:cNvPr id="9" name="Oval 8">
            <a:extLst>
              <a:ext uri="{FF2B5EF4-FFF2-40B4-BE49-F238E27FC236}">
                <a16:creationId xmlns:a16="http://schemas.microsoft.com/office/drawing/2014/main" xmlns="" id="{8B8330AE-C272-4FC4-AAA0-BB4441B736AE}"/>
              </a:ext>
            </a:extLst>
          </p:cNvPr>
          <p:cNvSpPr>
            <a:spLocks noChangeAspect="1"/>
          </p:cNvSpPr>
          <p:nvPr/>
        </p:nvSpPr>
        <p:spPr>
          <a:xfrm>
            <a:off x="5537785" y="2885535"/>
            <a:ext cx="2468880" cy="246888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entury Gothic"/>
                <a:cs typeface="Century Gothic"/>
              </a:rPr>
              <a:t>49.2 Million</a:t>
            </a:r>
          </a:p>
        </p:txBody>
      </p:sp>
      <p:sp>
        <p:nvSpPr>
          <p:cNvPr id="10" name="TextBox 9">
            <a:extLst>
              <a:ext uri="{FF2B5EF4-FFF2-40B4-BE49-F238E27FC236}">
                <a16:creationId xmlns:a16="http://schemas.microsoft.com/office/drawing/2014/main" xmlns="" id="{F9C4D8A7-BC99-4CA1-B1B3-DD756C2FD482}"/>
              </a:ext>
            </a:extLst>
          </p:cNvPr>
          <p:cNvSpPr txBox="1"/>
          <p:nvPr/>
        </p:nvSpPr>
        <p:spPr>
          <a:xfrm>
            <a:off x="4648307" y="5724390"/>
            <a:ext cx="4247835" cy="523220"/>
          </a:xfrm>
          <a:prstGeom prst="rect">
            <a:avLst/>
          </a:prstGeom>
          <a:noFill/>
        </p:spPr>
        <p:txBody>
          <a:bodyPr wrap="square" rtlCol="0">
            <a:spAutoFit/>
          </a:bodyPr>
          <a:lstStyle/>
          <a:p>
            <a:pPr algn="ctr"/>
            <a:r>
              <a:rPr lang="en-US" sz="1400" b="1" dirty="0">
                <a:latin typeface="Century Gothic"/>
                <a:cs typeface="Century Gothic"/>
              </a:rPr>
              <a:t>Secondary &amp; Post-Secondary Students</a:t>
            </a:r>
          </a:p>
          <a:p>
            <a:pPr algn="ctr"/>
            <a:r>
              <a:rPr lang="en-US" sz="1400" dirty="0">
                <a:solidFill>
                  <a:schemeClr val="bg1">
                    <a:lumMod val="50000"/>
                  </a:schemeClr>
                </a:solidFill>
                <a:latin typeface="Century Gothic"/>
                <a:cs typeface="Century Gothic"/>
              </a:rPr>
              <a:t>Total Serviceable Market</a:t>
            </a:r>
          </a:p>
        </p:txBody>
      </p:sp>
      <p:sp>
        <p:nvSpPr>
          <p:cNvPr id="11" name="Oval 10">
            <a:extLst>
              <a:ext uri="{FF2B5EF4-FFF2-40B4-BE49-F238E27FC236}">
                <a16:creationId xmlns:a16="http://schemas.microsoft.com/office/drawing/2014/main" xmlns="" id="{A92BFB3A-0CD2-4AC3-8C45-BC08A0C9770A}"/>
              </a:ext>
            </a:extLst>
          </p:cNvPr>
          <p:cNvSpPr>
            <a:spLocks noChangeAspect="1"/>
          </p:cNvSpPr>
          <p:nvPr/>
        </p:nvSpPr>
        <p:spPr>
          <a:xfrm>
            <a:off x="602961" y="1696815"/>
            <a:ext cx="3657600" cy="3657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entury Gothic"/>
                <a:cs typeface="Century Gothic"/>
              </a:rPr>
              <a:t>76.5 Million</a:t>
            </a:r>
          </a:p>
        </p:txBody>
      </p:sp>
      <p:sp>
        <p:nvSpPr>
          <p:cNvPr id="12" name="TextBox 11">
            <a:extLst>
              <a:ext uri="{FF2B5EF4-FFF2-40B4-BE49-F238E27FC236}">
                <a16:creationId xmlns:a16="http://schemas.microsoft.com/office/drawing/2014/main" xmlns="" id="{CC2EBDD4-736B-40B4-B813-6E843CEF0B65}"/>
              </a:ext>
            </a:extLst>
          </p:cNvPr>
          <p:cNvSpPr txBox="1"/>
          <p:nvPr/>
        </p:nvSpPr>
        <p:spPr>
          <a:xfrm>
            <a:off x="769389" y="5724390"/>
            <a:ext cx="3478017" cy="523220"/>
          </a:xfrm>
          <a:prstGeom prst="rect">
            <a:avLst/>
          </a:prstGeom>
          <a:noFill/>
        </p:spPr>
        <p:txBody>
          <a:bodyPr wrap="square" rtlCol="0">
            <a:spAutoFit/>
          </a:bodyPr>
          <a:lstStyle/>
          <a:p>
            <a:pPr algn="ctr"/>
            <a:r>
              <a:rPr lang="en-US" sz="1400" b="1" dirty="0">
                <a:latin typeface="Century Gothic"/>
                <a:cs typeface="Century Gothic"/>
              </a:rPr>
              <a:t>All Students </a:t>
            </a:r>
            <a:r>
              <a:rPr lang="en-US" sz="1400" dirty="0">
                <a:latin typeface="Century Gothic"/>
                <a:cs typeface="Century Gothic"/>
              </a:rPr>
              <a:t>(USA)</a:t>
            </a:r>
          </a:p>
          <a:p>
            <a:pPr algn="ctr"/>
            <a:r>
              <a:rPr lang="en-US" sz="1400" dirty="0">
                <a:solidFill>
                  <a:schemeClr val="bg1">
                    <a:lumMod val="50000"/>
                  </a:schemeClr>
                </a:solidFill>
                <a:latin typeface="Century Gothic"/>
                <a:cs typeface="Century Gothic"/>
              </a:rPr>
              <a:t>Total Available Market</a:t>
            </a:r>
          </a:p>
        </p:txBody>
      </p:sp>
      <p:sp>
        <p:nvSpPr>
          <p:cNvPr id="13" name="Oval 12">
            <a:extLst>
              <a:ext uri="{FF2B5EF4-FFF2-40B4-BE49-F238E27FC236}">
                <a16:creationId xmlns:a16="http://schemas.microsoft.com/office/drawing/2014/main" xmlns="" id="{CAAFDEC1-5F7F-4803-A0E7-4172CB6837DD}"/>
              </a:ext>
            </a:extLst>
          </p:cNvPr>
          <p:cNvSpPr>
            <a:spLocks noChangeAspect="1"/>
          </p:cNvSpPr>
          <p:nvPr/>
        </p:nvSpPr>
        <p:spPr>
          <a:xfrm>
            <a:off x="9660408" y="4257135"/>
            <a:ext cx="1097280" cy="109728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dirty="0">
                <a:latin typeface="Century Gothic"/>
                <a:cs typeface="Century Gothic"/>
              </a:rPr>
              <a:t>8 Million</a:t>
            </a:r>
            <a:endParaRPr lang="en-US" sz="1600" dirty="0">
              <a:latin typeface="Century Gothic"/>
              <a:cs typeface="Century Gothic"/>
            </a:endParaRPr>
          </a:p>
        </p:txBody>
      </p:sp>
      <p:sp>
        <p:nvSpPr>
          <p:cNvPr id="14" name="TextBox 13">
            <a:extLst>
              <a:ext uri="{FF2B5EF4-FFF2-40B4-BE49-F238E27FC236}">
                <a16:creationId xmlns:a16="http://schemas.microsoft.com/office/drawing/2014/main" xmlns="" id="{5EEE9653-106A-43FF-8155-E32749AF6356}"/>
              </a:ext>
            </a:extLst>
          </p:cNvPr>
          <p:cNvSpPr txBox="1"/>
          <p:nvPr/>
        </p:nvSpPr>
        <p:spPr>
          <a:xfrm>
            <a:off x="8782183" y="5724390"/>
            <a:ext cx="3010909" cy="523220"/>
          </a:xfrm>
          <a:prstGeom prst="rect">
            <a:avLst/>
          </a:prstGeom>
          <a:noFill/>
        </p:spPr>
        <p:txBody>
          <a:bodyPr wrap="square" rtlCol="0">
            <a:spAutoFit/>
          </a:bodyPr>
          <a:lstStyle/>
          <a:p>
            <a:pPr algn="ctr"/>
            <a:r>
              <a:rPr lang="en-US" sz="1400" b="1" dirty="0">
                <a:latin typeface="Century Gothic"/>
                <a:cs typeface="Century Gothic"/>
              </a:rPr>
              <a:t>Students in OR, WA, CA, &amp; TX</a:t>
            </a:r>
          </a:p>
          <a:p>
            <a:pPr algn="ctr"/>
            <a:r>
              <a:rPr lang="en-US" sz="1400" dirty="0">
                <a:solidFill>
                  <a:schemeClr val="bg1">
                    <a:lumMod val="50000"/>
                  </a:schemeClr>
                </a:solidFill>
                <a:latin typeface="Century Gothic"/>
                <a:cs typeface="Century Gothic"/>
              </a:rPr>
              <a:t>Target Initial Market</a:t>
            </a:r>
          </a:p>
        </p:txBody>
      </p:sp>
      <p:sp>
        <p:nvSpPr>
          <p:cNvPr id="15" name="TextBox 14">
            <a:extLst>
              <a:ext uri="{FF2B5EF4-FFF2-40B4-BE49-F238E27FC236}">
                <a16:creationId xmlns:a16="http://schemas.microsoft.com/office/drawing/2014/main" xmlns="" id="{CC2EBDD4-736B-40B4-B813-6E843CEF0B65}"/>
              </a:ext>
            </a:extLst>
          </p:cNvPr>
          <p:cNvSpPr txBox="1"/>
          <p:nvPr/>
        </p:nvSpPr>
        <p:spPr>
          <a:xfrm>
            <a:off x="8337176" y="333391"/>
            <a:ext cx="3854824" cy="276999"/>
          </a:xfrm>
          <a:prstGeom prst="rect">
            <a:avLst/>
          </a:prstGeom>
          <a:noFill/>
        </p:spPr>
        <p:txBody>
          <a:bodyPr wrap="square" rtlCol="0">
            <a:spAutoFit/>
          </a:bodyPr>
          <a:lstStyle/>
          <a:p>
            <a:pPr algn="ctr"/>
            <a:r>
              <a:rPr lang="en-US" sz="1200" dirty="0">
                <a:latin typeface="Century Gothic"/>
                <a:cs typeface="Century Gothic"/>
              </a:rPr>
              <a:t>Source: National Center for Education Statistics</a:t>
            </a:r>
            <a:endParaRPr lang="en-US" sz="1200" dirty="0">
              <a:solidFill>
                <a:schemeClr val="bg1">
                  <a:lumMod val="50000"/>
                </a:schemeClr>
              </a:solidFill>
              <a:latin typeface="Century Gothic"/>
              <a:cs typeface="Century Gothic"/>
            </a:endParaRPr>
          </a:p>
        </p:txBody>
      </p:sp>
    </p:spTree>
    <p:extLst>
      <p:ext uri="{BB962C8B-B14F-4D97-AF65-F5344CB8AC3E}">
        <p14:creationId xmlns:p14="http://schemas.microsoft.com/office/powerpoint/2010/main" val="3302948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Arrow: Pentagon 22">
            <a:extLst>
              <a:ext uri="{FF2B5EF4-FFF2-40B4-BE49-F238E27FC236}">
                <a16:creationId xmlns:a16="http://schemas.microsoft.com/office/drawing/2014/main" xmlns="" id="{4C2F4535-89AB-4800-939B-CEA70D250D31}"/>
              </a:ext>
            </a:extLst>
          </p:cNvPr>
          <p:cNvSpPr/>
          <p:nvPr/>
        </p:nvSpPr>
        <p:spPr>
          <a:xfrm>
            <a:off x="0" y="375127"/>
            <a:ext cx="609600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a:t>Business Model</a:t>
            </a:r>
          </a:p>
        </p:txBody>
      </p:sp>
      <p:sp>
        <p:nvSpPr>
          <p:cNvPr id="16" name="TextBox 15">
            <a:extLst>
              <a:ext uri="{FF2B5EF4-FFF2-40B4-BE49-F238E27FC236}">
                <a16:creationId xmlns:a16="http://schemas.microsoft.com/office/drawing/2014/main" xmlns="" id="{F14D84D8-6A46-4B64-83CD-29FDD3986B1B}"/>
              </a:ext>
            </a:extLst>
          </p:cNvPr>
          <p:cNvSpPr txBox="1"/>
          <p:nvPr/>
        </p:nvSpPr>
        <p:spPr>
          <a:xfrm>
            <a:off x="871044" y="4887714"/>
            <a:ext cx="7543800" cy="923330"/>
          </a:xfrm>
          <a:prstGeom prst="rect">
            <a:avLst/>
          </a:prstGeom>
          <a:noFill/>
        </p:spPr>
        <p:txBody>
          <a:bodyPr wrap="square" rtlCol="0">
            <a:spAutoFit/>
          </a:bodyPr>
          <a:lstStyle/>
          <a:p>
            <a:r>
              <a:rPr lang="en-US" dirty="0">
                <a:solidFill>
                  <a:schemeClr val="tx1">
                    <a:lumMod val="65000"/>
                    <a:lumOff val="35000"/>
                  </a:schemeClr>
                </a:solidFill>
                <a:latin typeface="Century Gothic"/>
                <a:cs typeface="Century Gothic"/>
              </a:rPr>
              <a:t>Phase 1: Schools pay $0.99 per student per month</a:t>
            </a:r>
          </a:p>
          <a:p>
            <a:r>
              <a:rPr lang="en-US" dirty="0">
                <a:solidFill>
                  <a:schemeClr val="tx1">
                    <a:lumMod val="65000"/>
                    <a:lumOff val="35000"/>
                  </a:schemeClr>
                </a:solidFill>
                <a:latin typeface="Century Gothic"/>
                <a:cs typeface="Century Gothic"/>
              </a:rPr>
              <a:t>Phase 2: App partners pay 10% commission fee to integrate </a:t>
            </a:r>
          </a:p>
          <a:p>
            <a:r>
              <a:rPr lang="en-US" dirty="0">
                <a:solidFill>
                  <a:schemeClr val="tx1">
                    <a:lumMod val="65000"/>
                    <a:lumOff val="35000"/>
                  </a:schemeClr>
                </a:solidFill>
                <a:latin typeface="Century Gothic"/>
                <a:cs typeface="Century Gothic"/>
              </a:rPr>
              <a:t>Phase 3: Schools purchase data analytics and insights</a:t>
            </a:r>
          </a:p>
        </p:txBody>
      </p:sp>
      <p:sp>
        <p:nvSpPr>
          <p:cNvPr id="17" name="TextBox 16">
            <a:extLst>
              <a:ext uri="{FF2B5EF4-FFF2-40B4-BE49-F238E27FC236}">
                <a16:creationId xmlns:a16="http://schemas.microsoft.com/office/drawing/2014/main" xmlns="" id="{FFB5A8B5-A28E-47DD-828F-F1CC03472437}"/>
              </a:ext>
            </a:extLst>
          </p:cNvPr>
          <p:cNvSpPr txBox="1"/>
          <p:nvPr/>
        </p:nvSpPr>
        <p:spPr>
          <a:xfrm>
            <a:off x="4779851" y="1272093"/>
            <a:ext cx="2278839" cy="766364"/>
          </a:xfrm>
          <a:prstGeom prst="rect">
            <a:avLst/>
          </a:prstGeom>
          <a:noFill/>
        </p:spPr>
        <p:txBody>
          <a:bodyPr wrap="none" rtlCol="0">
            <a:spAutoFit/>
          </a:bodyPr>
          <a:lstStyle/>
          <a:p>
            <a:pPr algn="ctr">
              <a:lnSpc>
                <a:spcPct val="80000"/>
              </a:lnSpc>
            </a:pPr>
            <a:r>
              <a:rPr lang="en-US" sz="3600" b="1" dirty="0">
                <a:solidFill>
                  <a:srgbClr val="04465F"/>
                </a:solidFill>
                <a:latin typeface="Century Gothic"/>
                <a:cs typeface="Century Gothic"/>
              </a:rPr>
              <a:t>Phase 1 </a:t>
            </a:r>
          </a:p>
          <a:p>
            <a:pPr algn="ctr">
              <a:lnSpc>
                <a:spcPct val="80000"/>
              </a:lnSpc>
            </a:pPr>
            <a:r>
              <a:rPr lang="en-US" dirty="0">
                <a:solidFill>
                  <a:srgbClr val="04465F"/>
                </a:solidFill>
                <a:latin typeface="Century Gothic"/>
                <a:cs typeface="Century Gothic"/>
              </a:rPr>
              <a:t>(Student Revenue)</a:t>
            </a:r>
            <a:endParaRPr lang="en-US" sz="3200" dirty="0">
              <a:solidFill>
                <a:srgbClr val="04465F"/>
              </a:solidFill>
              <a:latin typeface="Century Gothic"/>
              <a:cs typeface="Century Gothic"/>
            </a:endParaRPr>
          </a:p>
        </p:txBody>
      </p:sp>
      <p:sp>
        <p:nvSpPr>
          <p:cNvPr id="18" name="Oval 17">
            <a:extLst>
              <a:ext uri="{FF2B5EF4-FFF2-40B4-BE49-F238E27FC236}">
                <a16:creationId xmlns:a16="http://schemas.microsoft.com/office/drawing/2014/main" xmlns="" id="{AA5BB9D4-3F5A-4810-ABC0-DBA748783989}"/>
              </a:ext>
            </a:extLst>
          </p:cNvPr>
          <p:cNvSpPr>
            <a:spLocks noChangeAspect="1"/>
          </p:cNvSpPr>
          <p:nvPr/>
        </p:nvSpPr>
        <p:spPr>
          <a:xfrm>
            <a:off x="1317023" y="2237437"/>
            <a:ext cx="1280160" cy="128016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b="1" dirty="0">
                <a:latin typeface="Century Gothic"/>
                <a:cs typeface="Century Gothic"/>
              </a:rPr>
              <a:t>4 million</a:t>
            </a:r>
          </a:p>
        </p:txBody>
      </p:sp>
      <p:sp>
        <p:nvSpPr>
          <p:cNvPr id="19" name="TextBox 18">
            <a:extLst>
              <a:ext uri="{FF2B5EF4-FFF2-40B4-BE49-F238E27FC236}">
                <a16:creationId xmlns:a16="http://schemas.microsoft.com/office/drawing/2014/main" xmlns="" id="{6E32482E-1F37-41FA-A148-06D63C383AE0}"/>
              </a:ext>
            </a:extLst>
          </p:cNvPr>
          <p:cNvSpPr txBox="1"/>
          <p:nvPr/>
        </p:nvSpPr>
        <p:spPr>
          <a:xfrm>
            <a:off x="557020" y="3685426"/>
            <a:ext cx="2782129" cy="523220"/>
          </a:xfrm>
          <a:prstGeom prst="rect">
            <a:avLst/>
          </a:prstGeom>
          <a:noFill/>
        </p:spPr>
        <p:txBody>
          <a:bodyPr wrap="square" rtlCol="0">
            <a:spAutoFit/>
          </a:bodyPr>
          <a:lstStyle/>
          <a:p>
            <a:pPr algn="ctr"/>
            <a:r>
              <a:rPr lang="en-US" sz="1400" b="1" dirty="0">
                <a:solidFill>
                  <a:srgbClr val="04465F"/>
                </a:solidFill>
                <a:latin typeface="Century Gothic"/>
                <a:cs typeface="Century Gothic"/>
              </a:rPr>
              <a:t>Students in OR, CA, WA, &amp; TX</a:t>
            </a:r>
          </a:p>
          <a:p>
            <a:pPr algn="ctr"/>
            <a:r>
              <a:rPr lang="en-US" sz="1400" dirty="0">
                <a:solidFill>
                  <a:schemeClr val="bg1">
                    <a:lumMod val="50000"/>
                  </a:schemeClr>
                </a:solidFill>
                <a:latin typeface="Century Gothic"/>
                <a:cs typeface="Century Gothic"/>
              </a:rPr>
              <a:t>50% Share of Initial Market</a:t>
            </a:r>
          </a:p>
        </p:txBody>
      </p:sp>
      <p:sp>
        <p:nvSpPr>
          <p:cNvPr id="20" name="TextBox 19">
            <a:extLst>
              <a:ext uri="{FF2B5EF4-FFF2-40B4-BE49-F238E27FC236}">
                <a16:creationId xmlns:a16="http://schemas.microsoft.com/office/drawing/2014/main" xmlns="" id="{28A23A1C-AD3A-4944-89D7-C845A4270E2B}"/>
              </a:ext>
            </a:extLst>
          </p:cNvPr>
          <p:cNvSpPr txBox="1"/>
          <p:nvPr/>
        </p:nvSpPr>
        <p:spPr>
          <a:xfrm>
            <a:off x="5144384" y="2535938"/>
            <a:ext cx="1544861" cy="707886"/>
          </a:xfrm>
          <a:prstGeom prst="rect">
            <a:avLst/>
          </a:prstGeom>
          <a:noFill/>
        </p:spPr>
        <p:txBody>
          <a:bodyPr wrap="square" rtlCol="0">
            <a:spAutoFit/>
          </a:bodyPr>
          <a:lstStyle/>
          <a:p>
            <a:pPr algn="ctr"/>
            <a:r>
              <a:rPr lang="en-US" sz="4000" b="1" dirty="0">
                <a:solidFill>
                  <a:srgbClr val="002060"/>
                </a:solidFill>
                <a:latin typeface="Century Gothic"/>
                <a:cs typeface="Century Gothic"/>
              </a:rPr>
              <a:t>$8.91</a:t>
            </a:r>
          </a:p>
        </p:txBody>
      </p:sp>
      <p:sp>
        <p:nvSpPr>
          <p:cNvPr id="21" name="TextBox 20">
            <a:extLst>
              <a:ext uri="{FF2B5EF4-FFF2-40B4-BE49-F238E27FC236}">
                <a16:creationId xmlns:a16="http://schemas.microsoft.com/office/drawing/2014/main" xmlns="" id="{C22DB9D1-3C02-4E3E-990A-1CEC08D8C4B9}"/>
              </a:ext>
            </a:extLst>
          </p:cNvPr>
          <p:cNvSpPr txBox="1"/>
          <p:nvPr/>
        </p:nvSpPr>
        <p:spPr>
          <a:xfrm>
            <a:off x="4630295" y="3685426"/>
            <a:ext cx="3140201" cy="523220"/>
          </a:xfrm>
          <a:prstGeom prst="rect">
            <a:avLst/>
          </a:prstGeom>
          <a:noFill/>
        </p:spPr>
        <p:txBody>
          <a:bodyPr wrap="square" rtlCol="0">
            <a:spAutoFit/>
          </a:bodyPr>
          <a:lstStyle/>
          <a:p>
            <a:pPr algn="ctr"/>
            <a:r>
              <a:rPr lang="en-US" sz="1400" b="1" dirty="0">
                <a:solidFill>
                  <a:srgbClr val="04465F"/>
                </a:solidFill>
                <a:latin typeface="Century Gothic"/>
                <a:cs typeface="Century Gothic"/>
              </a:rPr>
              <a:t>Annual Revenue per Student</a:t>
            </a:r>
          </a:p>
          <a:p>
            <a:pPr algn="ctr"/>
            <a:r>
              <a:rPr lang="en-US" sz="1400" dirty="0">
                <a:solidFill>
                  <a:schemeClr val="bg1">
                    <a:lumMod val="50000"/>
                  </a:schemeClr>
                </a:solidFill>
                <a:latin typeface="Century Gothic"/>
                <a:cs typeface="Century Gothic"/>
              </a:rPr>
              <a:t>$0.99/</a:t>
            </a:r>
            <a:r>
              <a:rPr lang="en-US" sz="1400" dirty="0" err="1">
                <a:solidFill>
                  <a:schemeClr val="bg1">
                    <a:lumMod val="50000"/>
                  </a:schemeClr>
                </a:solidFill>
                <a:latin typeface="Century Gothic"/>
                <a:cs typeface="Century Gothic"/>
              </a:rPr>
              <a:t>mo</a:t>
            </a:r>
            <a:r>
              <a:rPr lang="en-US" sz="1400" dirty="0">
                <a:solidFill>
                  <a:schemeClr val="bg1">
                    <a:lumMod val="50000"/>
                  </a:schemeClr>
                </a:solidFill>
                <a:latin typeface="Century Gothic"/>
                <a:cs typeface="Century Gothic"/>
              </a:rPr>
              <a:t> for 9 month school year</a:t>
            </a:r>
          </a:p>
        </p:txBody>
      </p:sp>
      <p:sp>
        <p:nvSpPr>
          <p:cNvPr id="22" name="TextBox 21">
            <a:extLst>
              <a:ext uri="{FF2B5EF4-FFF2-40B4-BE49-F238E27FC236}">
                <a16:creationId xmlns:a16="http://schemas.microsoft.com/office/drawing/2014/main" xmlns="" id="{87C986C9-7920-43EE-B732-F167412DDEBE}"/>
              </a:ext>
            </a:extLst>
          </p:cNvPr>
          <p:cNvSpPr txBox="1"/>
          <p:nvPr/>
        </p:nvSpPr>
        <p:spPr>
          <a:xfrm>
            <a:off x="9156189" y="2524989"/>
            <a:ext cx="1563106" cy="707886"/>
          </a:xfrm>
          <a:prstGeom prst="rect">
            <a:avLst/>
          </a:prstGeom>
          <a:noFill/>
        </p:spPr>
        <p:txBody>
          <a:bodyPr wrap="square" rtlCol="0">
            <a:spAutoFit/>
          </a:bodyPr>
          <a:lstStyle/>
          <a:p>
            <a:r>
              <a:rPr lang="en-US" sz="4000" b="1" dirty="0">
                <a:solidFill>
                  <a:srgbClr val="002060"/>
                </a:solidFill>
                <a:latin typeface="Century Gothic"/>
                <a:cs typeface="Century Gothic"/>
              </a:rPr>
              <a:t>$36M</a:t>
            </a:r>
          </a:p>
        </p:txBody>
      </p:sp>
      <p:sp>
        <p:nvSpPr>
          <p:cNvPr id="24" name="TextBox 23">
            <a:extLst>
              <a:ext uri="{FF2B5EF4-FFF2-40B4-BE49-F238E27FC236}">
                <a16:creationId xmlns:a16="http://schemas.microsoft.com/office/drawing/2014/main" xmlns="" id="{0C4051D0-79BE-48CB-8270-13B7D23B264C}"/>
              </a:ext>
            </a:extLst>
          </p:cNvPr>
          <p:cNvSpPr txBox="1"/>
          <p:nvPr/>
        </p:nvSpPr>
        <p:spPr>
          <a:xfrm>
            <a:off x="8683995" y="3685426"/>
            <a:ext cx="2649854" cy="523220"/>
          </a:xfrm>
          <a:prstGeom prst="rect">
            <a:avLst/>
          </a:prstGeom>
          <a:noFill/>
        </p:spPr>
        <p:txBody>
          <a:bodyPr wrap="square" rtlCol="0">
            <a:spAutoFit/>
          </a:bodyPr>
          <a:lstStyle/>
          <a:p>
            <a:pPr algn="ctr"/>
            <a:r>
              <a:rPr lang="en-US" sz="1400" b="1" dirty="0">
                <a:solidFill>
                  <a:srgbClr val="04465F"/>
                </a:solidFill>
                <a:latin typeface="Century Gothic"/>
                <a:cs typeface="Century Gothic"/>
              </a:rPr>
              <a:t>Recurring Annual Revenue</a:t>
            </a:r>
          </a:p>
          <a:p>
            <a:pPr algn="ctr"/>
            <a:r>
              <a:rPr lang="en-US" sz="1400" dirty="0">
                <a:solidFill>
                  <a:schemeClr val="bg1">
                    <a:lumMod val="50000"/>
                  </a:schemeClr>
                </a:solidFill>
                <a:latin typeface="Century Gothic"/>
                <a:cs typeface="Century Gothic"/>
              </a:rPr>
              <a:t>For Initial Target Market</a:t>
            </a:r>
          </a:p>
        </p:txBody>
      </p:sp>
      <p:cxnSp>
        <p:nvCxnSpPr>
          <p:cNvPr id="25" name="Straight Arrow Connector 24">
            <a:extLst>
              <a:ext uri="{FF2B5EF4-FFF2-40B4-BE49-F238E27FC236}">
                <a16:creationId xmlns:a16="http://schemas.microsoft.com/office/drawing/2014/main" xmlns="" id="{97284F18-0ACE-4187-B6AD-8DD1CF5B89D7}"/>
              </a:ext>
            </a:extLst>
          </p:cNvPr>
          <p:cNvCxnSpPr>
            <a:cxnSpLocks/>
          </p:cNvCxnSpPr>
          <p:nvPr/>
        </p:nvCxnSpPr>
        <p:spPr>
          <a:xfrm>
            <a:off x="3000416" y="2877517"/>
            <a:ext cx="187211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xmlns="" id="{E2CEE5AB-0006-4345-9EE3-2AD13580F222}"/>
              </a:ext>
            </a:extLst>
          </p:cNvPr>
          <p:cNvCxnSpPr>
            <a:cxnSpLocks/>
          </p:cNvCxnSpPr>
          <p:nvPr/>
        </p:nvCxnSpPr>
        <p:spPr>
          <a:xfrm>
            <a:off x="6880844" y="2877517"/>
            <a:ext cx="1872112" cy="0"/>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502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xmlns="" id="{178C5919-4221-446C-A25E-20778C8A4E80}"/>
              </a:ext>
            </a:extLst>
          </p:cNvPr>
          <p:cNvSpPr/>
          <p:nvPr/>
        </p:nvSpPr>
        <p:spPr>
          <a:xfrm>
            <a:off x="1" y="375127"/>
            <a:ext cx="617439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A366C83-5684-4C6A-B418-A5147B2CD069}"/>
              </a:ext>
            </a:extLst>
          </p:cNvPr>
          <p:cNvSpPr>
            <a:spLocks noGrp="1"/>
          </p:cNvSpPr>
          <p:nvPr>
            <p:ph type="title"/>
          </p:nvPr>
        </p:nvSpPr>
        <p:spPr/>
        <p:txBody>
          <a:bodyPr/>
          <a:lstStyle/>
          <a:p>
            <a:r>
              <a:rPr lang="en-US" dirty="0"/>
              <a:t>Go-to-Market Strategy</a:t>
            </a:r>
          </a:p>
        </p:txBody>
      </p:sp>
      <p:sp>
        <p:nvSpPr>
          <p:cNvPr id="3" name="Content Placeholder 2">
            <a:extLst>
              <a:ext uri="{FF2B5EF4-FFF2-40B4-BE49-F238E27FC236}">
                <a16:creationId xmlns:a16="http://schemas.microsoft.com/office/drawing/2014/main" xmlns="" id="{023CC34F-BE61-46CB-831A-FAEB7617F783}"/>
              </a:ext>
            </a:extLst>
          </p:cNvPr>
          <p:cNvSpPr>
            <a:spLocks noGrp="1"/>
          </p:cNvSpPr>
          <p:nvPr>
            <p:ph idx="1"/>
          </p:nvPr>
        </p:nvSpPr>
        <p:spPr>
          <a:xfrm>
            <a:off x="838199" y="1429364"/>
            <a:ext cx="7591783" cy="471129"/>
          </a:xfrm>
        </p:spPr>
        <p:txBody>
          <a:bodyPr>
            <a:noAutofit/>
          </a:bodyPr>
          <a:lstStyle/>
          <a:p>
            <a:pPr marL="0" indent="0">
              <a:lnSpc>
                <a:spcPct val="110000"/>
              </a:lnSpc>
              <a:buNone/>
            </a:pPr>
            <a:r>
              <a:rPr lang="en-US" sz="2800" b="1" dirty="0">
                <a:solidFill>
                  <a:srgbClr val="F4BC53"/>
                </a:solidFill>
              </a:rPr>
              <a:t>Present</a:t>
            </a:r>
            <a:r>
              <a:rPr lang="en-US" sz="2800" b="1" dirty="0">
                <a:solidFill>
                  <a:srgbClr val="04465F"/>
                </a:solidFill>
              </a:rPr>
              <a:t> uses a 3-pronged sales strategy:</a:t>
            </a:r>
          </a:p>
        </p:txBody>
      </p:sp>
      <p:grpSp>
        <p:nvGrpSpPr>
          <p:cNvPr id="4" name="Group 3"/>
          <p:cNvGrpSpPr/>
          <p:nvPr/>
        </p:nvGrpSpPr>
        <p:grpSpPr>
          <a:xfrm>
            <a:off x="764441" y="2466549"/>
            <a:ext cx="2841479" cy="3383264"/>
            <a:chOff x="764441" y="2466549"/>
            <a:chExt cx="2841479" cy="3383264"/>
          </a:xfrm>
        </p:grpSpPr>
        <p:sp>
          <p:nvSpPr>
            <p:cNvPr id="6" name="Content Placeholder 2">
              <a:extLst>
                <a:ext uri="{FF2B5EF4-FFF2-40B4-BE49-F238E27FC236}">
                  <a16:creationId xmlns:a16="http://schemas.microsoft.com/office/drawing/2014/main" xmlns="" id="{023CC34F-BE61-46CB-831A-FAEB7617F783}"/>
                </a:ext>
              </a:extLst>
            </p:cNvPr>
            <p:cNvSpPr txBox="1">
              <a:spLocks/>
            </p:cNvSpPr>
            <p:nvPr/>
          </p:nvSpPr>
          <p:spPr>
            <a:xfrm>
              <a:off x="864894" y="2466549"/>
              <a:ext cx="2572787" cy="471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20204" pitchFamily="34" charset="0"/>
                <a:buNone/>
              </a:pPr>
              <a:r>
                <a:rPr lang="en-US" sz="2200" b="1" dirty="0">
                  <a:solidFill>
                    <a:srgbClr val="04465F"/>
                  </a:solidFill>
                </a:rPr>
                <a:t>Partnership Sales</a:t>
              </a:r>
            </a:p>
          </p:txBody>
        </p:sp>
        <p:sp>
          <p:nvSpPr>
            <p:cNvPr id="11" name="Freeform 62"/>
            <p:cNvSpPr>
              <a:spLocks noEditPoints="1"/>
            </p:cNvSpPr>
            <p:nvPr/>
          </p:nvSpPr>
          <p:spPr bwMode="auto">
            <a:xfrm>
              <a:off x="1582649" y="3285668"/>
              <a:ext cx="1205063" cy="766355"/>
            </a:xfrm>
            <a:custGeom>
              <a:avLst/>
              <a:gdLst>
                <a:gd name="T0" fmla="*/ 252 w 438"/>
                <a:gd name="T1" fmla="*/ 65 h 279"/>
                <a:gd name="T2" fmla="*/ 193 w 438"/>
                <a:gd name="T3" fmla="*/ 89 h 279"/>
                <a:gd name="T4" fmla="*/ 207 w 438"/>
                <a:gd name="T5" fmla="*/ 146 h 279"/>
                <a:gd name="T6" fmla="*/ 222 w 438"/>
                <a:gd name="T7" fmla="*/ 119 h 279"/>
                <a:gd name="T8" fmla="*/ 273 w 438"/>
                <a:gd name="T9" fmla="*/ 150 h 279"/>
                <a:gd name="T10" fmla="*/ 329 w 438"/>
                <a:gd name="T11" fmla="*/ 205 h 279"/>
                <a:gd name="T12" fmla="*/ 325 w 438"/>
                <a:gd name="T13" fmla="*/ 220 h 279"/>
                <a:gd name="T14" fmla="*/ 277 w 438"/>
                <a:gd name="T15" fmla="*/ 183 h 279"/>
                <a:gd name="T16" fmla="*/ 271 w 438"/>
                <a:gd name="T17" fmla="*/ 190 h 279"/>
                <a:gd name="T18" fmla="*/ 298 w 438"/>
                <a:gd name="T19" fmla="*/ 241 h 279"/>
                <a:gd name="T20" fmla="*/ 241 w 438"/>
                <a:gd name="T21" fmla="*/ 199 h 279"/>
                <a:gd name="T22" fmla="*/ 289 w 438"/>
                <a:gd name="T23" fmla="*/ 246 h 279"/>
                <a:gd name="T24" fmla="*/ 228 w 438"/>
                <a:gd name="T25" fmla="*/ 219 h 279"/>
                <a:gd name="T26" fmla="*/ 222 w 438"/>
                <a:gd name="T27" fmla="*/ 226 h 279"/>
                <a:gd name="T28" fmla="*/ 233 w 438"/>
                <a:gd name="T29" fmla="*/ 257 h 279"/>
                <a:gd name="T30" fmla="*/ 235 w 438"/>
                <a:gd name="T31" fmla="*/ 268 h 279"/>
                <a:gd name="T32" fmla="*/ 293 w 438"/>
                <a:gd name="T33" fmla="*/ 256 h 279"/>
                <a:gd name="T34" fmla="*/ 336 w 438"/>
                <a:gd name="T35" fmla="*/ 196 h 279"/>
                <a:gd name="T36" fmla="*/ 308 w 438"/>
                <a:gd name="T37" fmla="*/ 85 h 279"/>
                <a:gd name="T38" fmla="*/ 191 w 438"/>
                <a:gd name="T39" fmla="*/ 210 h 279"/>
                <a:gd name="T40" fmla="*/ 230 w 438"/>
                <a:gd name="T41" fmla="*/ 265 h 279"/>
                <a:gd name="T42" fmla="*/ 137 w 438"/>
                <a:gd name="T43" fmla="*/ 220 h 279"/>
                <a:gd name="T44" fmla="*/ 157 w 438"/>
                <a:gd name="T45" fmla="*/ 196 h 279"/>
                <a:gd name="T46" fmla="*/ 362 w 438"/>
                <a:gd name="T47" fmla="*/ 204 h 279"/>
                <a:gd name="T48" fmla="*/ 438 w 438"/>
                <a:gd name="T49" fmla="*/ 0 h 279"/>
                <a:gd name="T50" fmla="*/ 112 w 438"/>
                <a:gd name="T51" fmla="*/ 72 h 279"/>
                <a:gd name="T52" fmla="*/ 0 w 438"/>
                <a:gd name="T53" fmla="*/ 182 h 279"/>
                <a:gd name="T54" fmla="*/ 112 w 438"/>
                <a:gd name="T55" fmla="*/ 72 h 279"/>
                <a:gd name="T56" fmla="*/ 89 w 438"/>
                <a:gd name="T57" fmla="*/ 173 h 279"/>
                <a:gd name="T58" fmla="*/ 198 w 438"/>
                <a:gd name="T59" fmla="*/ 77 h 279"/>
                <a:gd name="T60" fmla="*/ 187 w 438"/>
                <a:gd name="T61" fmla="*/ 85 h 279"/>
                <a:gd name="T62" fmla="*/ 125 w 438"/>
                <a:gd name="T63" fmla="*/ 88 h 279"/>
                <a:gd name="T64" fmla="*/ 136 w 438"/>
                <a:gd name="T65" fmla="*/ 190 h 279"/>
                <a:gd name="T66" fmla="*/ 129 w 438"/>
                <a:gd name="T67" fmla="*/ 198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8" h="279">
                  <a:moveTo>
                    <a:pt x="308" y="85"/>
                  </a:moveTo>
                  <a:cubicBezTo>
                    <a:pt x="308" y="85"/>
                    <a:pt x="270" y="70"/>
                    <a:pt x="252" y="65"/>
                  </a:cubicBezTo>
                  <a:cubicBezTo>
                    <a:pt x="239" y="62"/>
                    <a:pt x="237" y="64"/>
                    <a:pt x="226" y="70"/>
                  </a:cubicBezTo>
                  <a:cubicBezTo>
                    <a:pt x="217" y="75"/>
                    <a:pt x="201" y="82"/>
                    <a:pt x="193" y="89"/>
                  </a:cubicBezTo>
                  <a:cubicBezTo>
                    <a:pt x="188" y="94"/>
                    <a:pt x="181" y="142"/>
                    <a:pt x="181" y="143"/>
                  </a:cubicBezTo>
                  <a:cubicBezTo>
                    <a:pt x="180" y="156"/>
                    <a:pt x="198" y="156"/>
                    <a:pt x="207" y="146"/>
                  </a:cubicBezTo>
                  <a:cubicBezTo>
                    <a:pt x="212" y="139"/>
                    <a:pt x="217" y="129"/>
                    <a:pt x="220" y="122"/>
                  </a:cubicBezTo>
                  <a:cubicBezTo>
                    <a:pt x="223" y="117"/>
                    <a:pt x="222" y="119"/>
                    <a:pt x="222" y="119"/>
                  </a:cubicBezTo>
                  <a:cubicBezTo>
                    <a:pt x="236" y="115"/>
                    <a:pt x="236" y="115"/>
                    <a:pt x="236" y="115"/>
                  </a:cubicBezTo>
                  <a:cubicBezTo>
                    <a:pt x="246" y="125"/>
                    <a:pt x="259" y="137"/>
                    <a:pt x="273" y="150"/>
                  </a:cubicBezTo>
                  <a:cubicBezTo>
                    <a:pt x="294" y="171"/>
                    <a:pt x="315" y="191"/>
                    <a:pt x="324" y="199"/>
                  </a:cubicBezTo>
                  <a:cubicBezTo>
                    <a:pt x="327" y="201"/>
                    <a:pt x="328" y="203"/>
                    <a:pt x="329" y="205"/>
                  </a:cubicBezTo>
                  <a:cubicBezTo>
                    <a:pt x="330" y="207"/>
                    <a:pt x="330" y="209"/>
                    <a:pt x="329" y="212"/>
                  </a:cubicBezTo>
                  <a:cubicBezTo>
                    <a:pt x="328" y="214"/>
                    <a:pt x="327" y="217"/>
                    <a:pt x="325" y="220"/>
                  </a:cubicBezTo>
                  <a:cubicBezTo>
                    <a:pt x="324" y="221"/>
                    <a:pt x="323" y="222"/>
                    <a:pt x="323" y="222"/>
                  </a:cubicBezTo>
                  <a:cubicBezTo>
                    <a:pt x="277" y="183"/>
                    <a:pt x="277" y="183"/>
                    <a:pt x="277" y="183"/>
                  </a:cubicBezTo>
                  <a:cubicBezTo>
                    <a:pt x="275" y="182"/>
                    <a:pt x="272" y="182"/>
                    <a:pt x="271" y="184"/>
                  </a:cubicBezTo>
                  <a:cubicBezTo>
                    <a:pt x="269" y="186"/>
                    <a:pt x="269" y="188"/>
                    <a:pt x="271" y="190"/>
                  </a:cubicBezTo>
                  <a:cubicBezTo>
                    <a:pt x="316" y="228"/>
                    <a:pt x="316" y="228"/>
                    <a:pt x="316" y="228"/>
                  </a:cubicBezTo>
                  <a:cubicBezTo>
                    <a:pt x="310" y="233"/>
                    <a:pt x="304" y="238"/>
                    <a:pt x="298" y="241"/>
                  </a:cubicBezTo>
                  <a:cubicBezTo>
                    <a:pt x="248" y="198"/>
                    <a:pt x="248" y="198"/>
                    <a:pt x="248" y="198"/>
                  </a:cubicBezTo>
                  <a:cubicBezTo>
                    <a:pt x="246" y="197"/>
                    <a:pt x="243" y="197"/>
                    <a:pt x="241" y="199"/>
                  </a:cubicBezTo>
                  <a:cubicBezTo>
                    <a:pt x="240" y="201"/>
                    <a:pt x="240" y="204"/>
                    <a:pt x="242" y="205"/>
                  </a:cubicBezTo>
                  <a:cubicBezTo>
                    <a:pt x="289" y="246"/>
                    <a:pt x="289" y="246"/>
                    <a:pt x="289" y="246"/>
                  </a:cubicBezTo>
                  <a:cubicBezTo>
                    <a:pt x="282" y="249"/>
                    <a:pt x="273" y="250"/>
                    <a:pt x="265" y="252"/>
                  </a:cubicBezTo>
                  <a:cubicBezTo>
                    <a:pt x="228" y="219"/>
                    <a:pt x="228" y="219"/>
                    <a:pt x="228" y="219"/>
                  </a:cubicBezTo>
                  <a:cubicBezTo>
                    <a:pt x="226" y="217"/>
                    <a:pt x="223" y="217"/>
                    <a:pt x="222" y="219"/>
                  </a:cubicBezTo>
                  <a:cubicBezTo>
                    <a:pt x="220" y="221"/>
                    <a:pt x="220" y="224"/>
                    <a:pt x="222" y="226"/>
                  </a:cubicBezTo>
                  <a:cubicBezTo>
                    <a:pt x="254" y="254"/>
                    <a:pt x="254" y="254"/>
                    <a:pt x="254" y="254"/>
                  </a:cubicBezTo>
                  <a:cubicBezTo>
                    <a:pt x="248" y="255"/>
                    <a:pt x="240" y="257"/>
                    <a:pt x="233" y="257"/>
                  </a:cubicBezTo>
                  <a:cubicBezTo>
                    <a:pt x="234" y="260"/>
                    <a:pt x="235" y="263"/>
                    <a:pt x="235" y="266"/>
                  </a:cubicBezTo>
                  <a:cubicBezTo>
                    <a:pt x="235" y="267"/>
                    <a:pt x="236" y="267"/>
                    <a:pt x="235" y="268"/>
                  </a:cubicBezTo>
                  <a:cubicBezTo>
                    <a:pt x="243" y="267"/>
                    <a:pt x="257" y="265"/>
                    <a:pt x="270" y="262"/>
                  </a:cubicBezTo>
                  <a:cubicBezTo>
                    <a:pt x="280" y="260"/>
                    <a:pt x="288" y="258"/>
                    <a:pt x="293" y="256"/>
                  </a:cubicBezTo>
                  <a:cubicBezTo>
                    <a:pt x="303" y="251"/>
                    <a:pt x="322" y="240"/>
                    <a:pt x="333" y="227"/>
                  </a:cubicBezTo>
                  <a:cubicBezTo>
                    <a:pt x="340" y="218"/>
                    <a:pt x="343" y="207"/>
                    <a:pt x="336" y="196"/>
                  </a:cubicBezTo>
                  <a:cubicBezTo>
                    <a:pt x="360" y="183"/>
                    <a:pt x="360" y="183"/>
                    <a:pt x="360" y="183"/>
                  </a:cubicBezTo>
                  <a:cubicBezTo>
                    <a:pt x="356" y="138"/>
                    <a:pt x="323" y="90"/>
                    <a:pt x="308" y="85"/>
                  </a:cubicBezTo>
                  <a:close/>
                  <a:moveTo>
                    <a:pt x="157" y="196"/>
                  </a:moveTo>
                  <a:cubicBezTo>
                    <a:pt x="167" y="198"/>
                    <a:pt x="180" y="202"/>
                    <a:pt x="191" y="210"/>
                  </a:cubicBezTo>
                  <a:cubicBezTo>
                    <a:pt x="213" y="226"/>
                    <a:pt x="222" y="242"/>
                    <a:pt x="226" y="252"/>
                  </a:cubicBezTo>
                  <a:cubicBezTo>
                    <a:pt x="228" y="256"/>
                    <a:pt x="230" y="261"/>
                    <a:pt x="230" y="265"/>
                  </a:cubicBezTo>
                  <a:cubicBezTo>
                    <a:pt x="230" y="268"/>
                    <a:pt x="231" y="268"/>
                    <a:pt x="229" y="269"/>
                  </a:cubicBezTo>
                  <a:cubicBezTo>
                    <a:pt x="205" y="279"/>
                    <a:pt x="154" y="247"/>
                    <a:pt x="137" y="220"/>
                  </a:cubicBezTo>
                  <a:cubicBezTo>
                    <a:pt x="134" y="215"/>
                    <a:pt x="128" y="202"/>
                    <a:pt x="133" y="197"/>
                  </a:cubicBezTo>
                  <a:cubicBezTo>
                    <a:pt x="139" y="193"/>
                    <a:pt x="155" y="196"/>
                    <a:pt x="157" y="196"/>
                  </a:cubicBezTo>
                  <a:close/>
                  <a:moveTo>
                    <a:pt x="321" y="77"/>
                  </a:moveTo>
                  <a:cubicBezTo>
                    <a:pt x="341" y="91"/>
                    <a:pt x="399" y="185"/>
                    <a:pt x="362" y="204"/>
                  </a:cubicBezTo>
                  <a:cubicBezTo>
                    <a:pt x="356" y="219"/>
                    <a:pt x="434" y="187"/>
                    <a:pt x="438" y="186"/>
                  </a:cubicBezTo>
                  <a:cubicBezTo>
                    <a:pt x="438" y="0"/>
                    <a:pt x="438" y="0"/>
                    <a:pt x="438" y="0"/>
                  </a:cubicBezTo>
                  <a:cubicBezTo>
                    <a:pt x="321" y="77"/>
                    <a:pt x="321" y="77"/>
                    <a:pt x="321" y="77"/>
                  </a:cubicBezTo>
                  <a:close/>
                  <a:moveTo>
                    <a:pt x="112" y="72"/>
                  </a:moveTo>
                  <a:cubicBezTo>
                    <a:pt x="91" y="97"/>
                    <a:pt x="59" y="188"/>
                    <a:pt x="97" y="208"/>
                  </a:cubicBezTo>
                  <a:cubicBezTo>
                    <a:pt x="106" y="226"/>
                    <a:pt x="2" y="183"/>
                    <a:pt x="0" y="182"/>
                  </a:cubicBezTo>
                  <a:cubicBezTo>
                    <a:pt x="0" y="3"/>
                    <a:pt x="0" y="3"/>
                    <a:pt x="0" y="3"/>
                  </a:cubicBezTo>
                  <a:cubicBezTo>
                    <a:pt x="112" y="72"/>
                    <a:pt x="112" y="72"/>
                    <a:pt x="112" y="72"/>
                  </a:cubicBezTo>
                  <a:close/>
                  <a:moveTo>
                    <a:pt x="129" y="198"/>
                  </a:moveTo>
                  <a:cubicBezTo>
                    <a:pt x="89" y="173"/>
                    <a:pt x="89" y="173"/>
                    <a:pt x="89" y="173"/>
                  </a:cubicBezTo>
                  <a:cubicBezTo>
                    <a:pt x="90" y="136"/>
                    <a:pt x="100" y="108"/>
                    <a:pt x="119" y="76"/>
                  </a:cubicBezTo>
                  <a:cubicBezTo>
                    <a:pt x="198" y="77"/>
                    <a:pt x="198" y="77"/>
                    <a:pt x="198" y="77"/>
                  </a:cubicBezTo>
                  <a:cubicBezTo>
                    <a:pt x="199" y="77"/>
                    <a:pt x="200" y="77"/>
                    <a:pt x="201" y="77"/>
                  </a:cubicBezTo>
                  <a:cubicBezTo>
                    <a:pt x="194" y="81"/>
                    <a:pt x="189" y="84"/>
                    <a:pt x="187" y="85"/>
                  </a:cubicBezTo>
                  <a:cubicBezTo>
                    <a:pt x="187" y="86"/>
                    <a:pt x="186" y="87"/>
                    <a:pt x="186" y="88"/>
                  </a:cubicBezTo>
                  <a:cubicBezTo>
                    <a:pt x="165" y="88"/>
                    <a:pt x="145" y="88"/>
                    <a:pt x="125" y="88"/>
                  </a:cubicBezTo>
                  <a:cubicBezTo>
                    <a:pt x="110" y="112"/>
                    <a:pt x="101" y="139"/>
                    <a:pt x="100" y="167"/>
                  </a:cubicBezTo>
                  <a:cubicBezTo>
                    <a:pt x="136" y="190"/>
                    <a:pt x="136" y="190"/>
                    <a:pt x="136" y="190"/>
                  </a:cubicBezTo>
                  <a:cubicBezTo>
                    <a:pt x="137" y="191"/>
                    <a:pt x="138" y="191"/>
                    <a:pt x="139" y="192"/>
                  </a:cubicBezTo>
                  <a:cubicBezTo>
                    <a:pt x="135" y="192"/>
                    <a:pt x="130" y="193"/>
                    <a:pt x="129" y="198"/>
                  </a:cubicBezTo>
                  <a:close/>
                </a:path>
              </a:pathLst>
            </a:custGeom>
            <a:solidFill>
              <a:srgbClr val="83CACC"/>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6" name="Content Placeholder 2">
              <a:extLst>
                <a:ext uri="{FF2B5EF4-FFF2-40B4-BE49-F238E27FC236}">
                  <a16:creationId xmlns:a16="http://schemas.microsoft.com/office/drawing/2014/main" xmlns="" id="{CA4541C4-B83D-4AE7-9FDD-D33FB3170993}"/>
                </a:ext>
              </a:extLst>
            </p:cNvPr>
            <p:cNvSpPr txBox="1">
              <a:spLocks/>
            </p:cNvSpPr>
            <p:nvPr/>
          </p:nvSpPr>
          <p:spPr>
            <a:xfrm>
              <a:off x="764441" y="4542991"/>
              <a:ext cx="2841479" cy="13068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solidFill>
                    <a:srgbClr val="F4BC53"/>
                  </a:solidFill>
                </a:rPr>
                <a:t>Present </a:t>
              </a:r>
              <a:r>
                <a:rPr lang="en-US" sz="1600" dirty="0"/>
                <a:t>creates key strategic partnerships with companies like </a:t>
              </a:r>
              <a:r>
                <a:rPr lang="en-US" sz="1600" dirty="0" err="1"/>
                <a:t>Learning.com</a:t>
              </a:r>
              <a:r>
                <a:rPr lang="en-US" sz="1600" dirty="0"/>
                <a:t> to leverage their sales teams.</a:t>
              </a:r>
            </a:p>
          </p:txBody>
        </p:sp>
      </p:grpSp>
      <p:grpSp>
        <p:nvGrpSpPr>
          <p:cNvPr id="50" name="Group 49"/>
          <p:cNvGrpSpPr/>
          <p:nvPr/>
        </p:nvGrpSpPr>
        <p:grpSpPr>
          <a:xfrm>
            <a:off x="4444900" y="2466549"/>
            <a:ext cx="2861306" cy="3383264"/>
            <a:chOff x="4159955" y="2466549"/>
            <a:chExt cx="2861306" cy="3383264"/>
          </a:xfrm>
        </p:grpSpPr>
        <p:sp>
          <p:nvSpPr>
            <p:cNvPr id="8" name="Content Placeholder 2">
              <a:extLst>
                <a:ext uri="{FF2B5EF4-FFF2-40B4-BE49-F238E27FC236}">
                  <a16:creationId xmlns:a16="http://schemas.microsoft.com/office/drawing/2014/main" xmlns="" id="{023CC34F-BE61-46CB-831A-FAEB7617F783}"/>
                </a:ext>
              </a:extLst>
            </p:cNvPr>
            <p:cNvSpPr txBox="1">
              <a:spLocks/>
            </p:cNvSpPr>
            <p:nvPr/>
          </p:nvSpPr>
          <p:spPr>
            <a:xfrm>
              <a:off x="4159955" y="2466549"/>
              <a:ext cx="2846487" cy="47112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20204" pitchFamily="34" charset="0"/>
                <a:buNone/>
              </a:pPr>
              <a:r>
                <a:rPr lang="en-US" sz="2200" b="1" dirty="0">
                  <a:solidFill>
                    <a:srgbClr val="04465F"/>
                  </a:solidFill>
                </a:rPr>
                <a:t>Transactional Sales</a:t>
              </a:r>
            </a:p>
          </p:txBody>
        </p:sp>
        <p:grpSp>
          <p:nvGrpSpPr>
            <p:cNvPr id="18" name="Group 17"/>
            <p:cNvGrpSpPr/>
            <p:nvPr/>
          </p:nvGrpSpPr>
          <p:grpSpPr>
            <a:xfrm>
              <a:off x="5084583" y="3201327"/>
              <a:ext cx="1031876" cy="935037"/>
              <a:chOff x="2273300" y="2166938"/>
              <a:chExt cx="1031876" cy="935037"/>
            </a:xfrm>
            <a:solidFill>
              <a:srgbClr val="F4BC53"/>
            </a:solidFill>
          </p:grpSpPr>
          <p:sp>
            <p:nvSpPr>
              <p:cNvPr id="19" name="Freeform 51"/>
              <p:cNvSpPr>
                <a:spLocks/>
              </p:cNvSpPr>
              <p:nvPr/>
            </p:nvSpPr>
            <p:spPr bwMode="auto">
              <a:xfrm>
                <a:off x="2273300" y="2503488"/>
                <a:ext cx="539750" cy="582612"/>
              </a:xfrm>
              <a:custGeom>
                <a:avLst/>
                <a:gdLst>
                  <a:gd name="T0" fmla="*/ 160 w 205"/>
                  <a:gd name="T1" fmla="*/ 221 h 221"/>
                  <a:gd name="T2" fmla="*/ 137 w 205"/>
                  <a:gd name="T3" fmla="*/ 221 h 221"/>
                  <a:gd name="T4" fmla="*/ 137 w 205"/>
                  <a:gd name="T5" fmla="*/ 221 h 221"/>
                  <a:gd name="T6" fmla="*/ 131 w 205"/>
                  <a:gd name="T7" fmla="*/ 215 h 221"/>
                  <a:gd name="T8" fmla="*/ 131 w 205"/>
                  <a:gd name="T9" fmla="*/ 215 h 221"/>
                  <a:gd name="T10" fmla="*/ 137 w 205"/>
                  <a:gd name="T11" fmla="*/ 209 h 221"/>
                  <a:gd name="T12" fmla="*/ 137 w 205"/>
                  <a:gd name="T13" fmla="*/ 209 h 221"/>
                  <a:gd name="T14" fmla="*/ 160 w 205"/>
                  <a:gd name="T15" fmla="*/ 209 h 221"/>
                  <a:gd name="T16" fmla="*/ 160 w 205"/>
                  <a:gd name="T17" fmla="*/ 209 h 221"/>
                  <a:gd name="T18" fmla="*/ 186 w 205"/>
                  <a:gd name="T19" fmla="*/ 199 h 221"/>
                  <a:gd name="T20" fmla="*/ 186 w 205"/>
                  <a:gd name="T21" fmla="*/ 199 h 221"/>
                  <a:gd name="T22" fmla="*/ 193 w 205"/>
                  <a:gd name="T23" fmla="*/ 178 h 221"/>
                  <a:gd name="T24" fmla="*/ 193 w 205"/>
                  <a:gd name="T25" fmla="*/ 178 h 221"/>
                  <a:gd name="T26" fmla="*/ 193 w 205"/>
                  <a:gd name="T27" fmla="*/ 103 h 221"/>
                  <a:gd name="T28" fmla="*/ 193 w 205"/>
                  <a:gd name="T29" fmla="*/ 103 h 221"/>
                  <a:gd name="T30" fmla="*/ 193 w 205"/>
                  <a:gd name="T31" fmla="*/ 103 h 221"/>
                  <a:gd name="T32" fmla="*/ 193 w 205"/>
                  <a:gd name="T33" fmla="*/ 103 h 221"/>
                  <a:gd name="T34" fmla="*/ 167 w 205"/>
                  <a:gd name="T35" fmla="*/ 39 h 221"/>
                  <a:gd name="T36" fmla="*/ 167 w 205"/>
                  <a:gd name="T37" fmla="*/ 39 h 221"/>
                  <a:gd name="T38" fmla="*/ 103 w 205"/>
                  <a:gd name="T39" fmla="*/ 12 h 221"/>
                  <a:gd name="T40" fmla="*/ 103 w 205"/>
                  <a:gd name="T41" fmla="*/ 12 h 221"/>
                  <a:gd name="T42" fmla="*/ 38 w 205"/>
                  <a:gd name="T43" fmla="*/ 39 h 221"/>
                  <a:gd name="T44" fmla="*/ 38 w 205"/>
                  <a:gd name="T45" fmla="*/ 39 h 221"/>
                  <a:gd name="T46" fmla="*/ 12 w 205"/>
                  <a:gd name="T47" fmla="*/ 103 h 221"/>
                  <a:gd name="T48" fmla="*/ 12 w 205"/>
                  <a:gd name="T49" fmla="*/ 103 h 221"/>
                  <a:gd name="T50" fmla="*/ 6 w 205"/>
                  <a:gd name="T51" fmla="*/ 109 h 221"/>
                  <a:gd name="T52" fmla="*/ 6 w 205"/>
                  <a:gd name="T53" fmla="*/ 109 h 221"/>
                  <a:gd name="T54" fmla="*/ 0 w 205"/>
                  <a:gd name="T55" fmla="*/ 103 h 221"/>
                  <a:gd name="T56" fmla="*/ 0 w 205"/>
                  <a:gd name="T57" fmla="*/ 103 h 221"/>
                  <a:gd name="T58" fmla="*/ 0 w 205"/>
                  <a:gd name="T59" fmla="*/ 103 h 221"/>
                  <a:gd name="T60" fmla="*/ 0 w 205"/>
                  <a:gd name="T61" fmla="*/ 103 h 221"/>
                  <a:gd name="T62" fmla="*/ 30 w 205"/>
                  <a:gd name="T63" fmla="*/ 30 h 221"/>
                  <a:gd name="T64" fmla="*/ 30 w 205"/>
                  <a:gd name="T65" fmla="*/ 30 h 221"/>
                  <a:gd name="T66" fmla="*/ 103 w 205"/>
                  <a:gd name="T67" fmla="*/ 0 h 221"/>
                  <a:gd name="T68" fmla="*/ 103 w 205"/>
                  <a:gd name="T69" fmla="*/ 0 h 221"/>
                  <a:gd name="T70" fmla="*/ 175 w 205"/>
                  <a:gd name="T71" fmla="*/ 30 h 221"/>
                  <a:gd name="T72" fmla="*/ 175 w 205"/>
                  <a:gd name="T73" fmla="*/ 30 h 221"/>
                  <a:gd name="T74" fmla="*/ 205 w 205"/>
                  <a:gd name="T75" fmla="*/ 103 h 221"/>
                  <a:gd name="T76" fmla="*/ 205 w 205"/>
                  <a:gd name="T77" fmla="*/ 103 h 221"/>
                  <a:gd name="T78" fmla="*/ 205 w 205"/>
                  <a:gd name="T79" fmla="*/ 103 h 221"/>
                  <a:gd name="T80" fmla="*/ 205 w 205"/>
                  <a:gd name="T81" fmla="*/ 103 h 221"/>
                  <a:gd name="T82" fmla="*/ 205 w 205"/>
                  <a:gd name="T83" fmla="*/ 103 h 221"/>
                  <a:gd name="T84" fmla="*/ 205 w 205"/>
                  <a:gd name="T85" fmla="*/ 178 h 221"/>
                  <a:gd name="T86" fmla="*/ 195 w 205"/>
                  <a:gd name="T87" fmla="*/ 207 h 221"/>
                  <a:gd name="T88" fmla="*/ 195 w 205"/>
                  <a:gd name="T89" fmla="*/ 207 h 221"/>
                  <a:gd name="T90" fmla="*/ 160 w 205"/>
                  <a:gd name="T91" fmla="*/ 221 h 221"/>
                  <a:gd name="T92" fmla="*/ 160 w 205"/>
                  <a:gd name="T93" fmla="*/ 221 h 221"/>
                  <a:gd name="T94" fmla="*/ 160 w 205"/>
                  <a:gd name="T95"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5" h="221">
                    <a:moveTo>
                      <a:pt x="160" y="221"/>
                    </a:moveTo>
                    <a:cubicBezTo>
                      <a:pt x="154" y="221"/>
                      <a:pt x="137" y="221"/>
                      <a:pt x="137" y="221"/>
                    </a:cubicBezTo>
                    <a:cubicBezTo>
                      <a:pt x="137" y="221"/>
                      <a:pt x="137" y="221"/>
                      <a:pt x="137" y="221"/>
                    </a:cubicBezTo>
                    <a:cubicBezTo>
                      <a:pt x="134" y="221"/>
                      <a:pt x="131" y="218"/>
                      <a:pt x="131" y="215"/>
                    </a:cubicBezTo>
                    <a:cubicBezTo>
                      <a:pt x="131" y="215"/>
                      <a:pt x="131" y="215"/>
                      <a:pt x="131" y="215"/>
                    </a:cubicBezTo>
                    <a:cubicBezTo>
                      <a:pt x="131" y="212"/>
                      <a:pt x="134" y="209"/>
                      <a:pt x="137" y="209"/>
                    </a:cubicBezTo>
                    <a:cubicBezTo>
                      <a:pt x="137" y="209"/>
                      <a:pt x="137" y="209"/>
                      <a:pt x="137" y="209"/>
                    </a:cubicBezTo>
                    <a:cubicBezTo>
                      <a:pt x="137" y="209"/>
                      <a:pt x="154" y="209"/>
                      <a:pt x="160" y="209"/>
                    </a:cubicBezTo>
                    <a:cubicBezTo>
                      <a:pt x="160" y="209"/>
                      <a:pt x="160" y="209"/>
                      <a:pt x="160" y="209"/>
                    </a:cubicBezTo>
                    <a:cubicBezTo>
                      <a:pt x="173" y="209"/>
                      <a:pt x="181" y="205"/>
                      <a:pt x="186" y="199"/>
                    </a:cubicBezTo>
                    <a:cubicBezTo>
                      <a:pt x="186" y="199"/>
                      <a:pt x="186" y="199"/>
                      <a:pt x="186" y="199"/>
                    </a:cubicBezTo>
                    <a:cubicBezTo>
                      <a:pt x="191" y="193"/>
                      <a:pt x="193" y="185"/>
                      <a:pt x="193" y="178"/>
                    </a:cubicBezTo>
                    <a:cubicBezTo>
                      <a:pt x="193" y="178"/>
                      <a:pt x="193" y="178"/>
                      <a:pt x="193" y="178"/>
                    </a:cubicBezTo>
                    <a:cubicBezTo>
                      <a:pt x="193" y="103"/>
                      <a:pt x="193" y="103"/>
                      <a:pt x="193" y="103"/>
                    </a:cubicBezTo>
                    <a:cubicBezTo>
                      <a:pt x="193" y="103"/>
                      <a:pt x="193" y="103"/>
                      <a:pt x="193" y="103"/>
                    </a:cubicBezTo>
                    <a:cubicBezTo>
                      <a:pt x="193" y="103"/>
                      <a:pt x="193" y="103"/>
                      <a:pt x="193" y="103"/>
                    </a:cubicBezTo>
                    <a:cubicBezTo>
                      <a:pt x="193" y="103"/>
                      <a:pt x="193" y="103"/>
                      <a:pt x="193" y="103"/>
                    </a:cubicBezTo>
                    <a:cubicBezTo>
                      <a:pt x="193" y="80"/>
                      <a:pt x="185" y="56"/>
                      <a:pt x="167" y="39"/>
                    </a:cubicBezTo>
                    <a:cubicBezTo>
                      <a:pt x="167" y="39"/>
                      <a:pt x="167" y="39"/>
                      <a:pt x="167" y="39"/>
                    </a:cubicBezTo>
                    <a:cubicBezTo>
                      <a:pt x="149" y="21"/>
                      <a:pt x="126" y="12"/>
                      <a:pt x="103" y="12"/>
                    </a:cubicBezTo>
                    <a:cubicBezTo>
                      <a:pt x="103" y="12"/>
                      <a:pt x="103" y="12"/>
                      <a:pt x="103" y="12"/>
                    </a:cubicBezTo>
                    <a:cubicBezTo>
                      <a:pt x="79" y="12"/>
                      <a:pt x="56" y="21"/>
                      <a:pt x="38" y="39"/>
                    </a:cubicBezTo>
                    <a:cubicBezTo>
                      <a:pt x="38" y="39"/>
                      <a:pt x="38" y="39"/>
                      <a:pt x="38" y="39"/>
                    </a:cubicBezTo>
                    <a:cubicBezTo>
                      <a:pt x="21" y="56"/>
                      <a:pt x="12" y="79"/>
                      <a:pt x="12" y="103"/>
                    </a:cubicBezTo>
                    <a:cubicBezTo>
                      <a:pt x="12" y="103"/>
                      <a:pt x="12" y="103"/>
                      <a:pt x="12" y="103"/>
                    </a:cubicBezTo>
                    <a:cubicBezTo>
                      <a:pt x="12" y="106"/>
                      <a:pt x="10" y="109"/>
                      <a:pt x="6" y="109"/>
                    </a:cubicBezTo>
                    <a:cubicBezTo>
                      <a:pt x="6" y="109"/>
                      <a:pt x="6" y="109"/>
                      <a:pt x="6" y="109"/>
                    </a:cubicBezTo>
                    <a:cubicBezTo>
                      <a:pt x="3" y="109"/>
                      <a:pt x="1" y="107"/>
                      <a:pt x="0" y="103"/>
                    </a:cubicBezTo>
                    <a:cubicBezTo>
                      <a:pt x="0" y="103"/>
                      <a:pt x="0" y="103"/>
                      <a:pt x="0" y="103"/>
                    </a:cubicBezTo>
                    <a:cubicBezTo>
                      <a:pt x="0" y="103"/>
                      <a:pt x="0" y="103"/>
                      <a:pt x="0" y="103"/>
                    </a:cubicBezTo>
                    <a:cubicBezTo>
                      <a:pt x="0" y="103"/>
                      <a:pt x="0" y="103"/>
                      <a:pt x="0" y="103"/>
                    </a:cubicBezTo>
                    <a:cubicBezTo>
                      <a:pt x="0" y="77"/>
                      <a:pt x="10" y="50"/>
                      <a:pt x="30" y="30"/>
                    </a:cubicBezTo>
                    <a:cubicBezTo>
                      <a:pt x="30" y="30"/>
                      <a:pt x="30" y="30"/>
                      <a:pt x="30" y="30"/>
                    </a:cubicBezTo>
                    <a:cubicBezTo>
                      <a:pt x="50" y="11"/>
                      <a:pt x="76" y="0"/>
                      <a:pt x="103" y="0"/>
                    </a:cubicBezTo>
                    <a:cubicBezTo>
                      <a:pt x="103" y="0"/>
                      <a:pt x="103" y="0"/>
                      <a:pt x="103" y="0"/>
                    </a:cubicBezTo>
                    <a:cubicBezTo>
                      <a:pt x="129" y="0"/>
                      <a:pt x="155" y="10"/>
                      <a:pt x="175" y="30"/>
                    </a:cubicBezTo>
                    <a:cubicBezTo>
                      <a:pt x="175" y="30"/>
                      <a:pt x="175" y="30"/>
                      <a:pt x="175" y="30"/>
                    </a:cubicBezTo>
                    <a:cubicBezTo>
                      <a:pt x="195" y="50"/>
                      <a:pt x="205" y="77"/>
                      <a:pt x="205" y="103"/>
                    </a:cubicBezTo>
                    <a:cubicBezTo>
                      <a:pt x="205" y="103"/>
                      <a:pt x="205" y="103"/>
                      <a:pt x="205" y="103"/>
                    </a:cubicBezTo>
                    <a:cubicBezTo>
                      <a:pt x="205" y="103"/>
                      <a:pt x="205" y="103"/>
                      <a:pt x="205" y="103"/>
                    </a:cubicBezTo>
                    <a:cubicBezTo>
                      <a:pt x="205" y="103"/>
                      <a:pt x="205" y="103"/>
                      <a:pt x="205" y="103"/>
                    </a:cubicBezTo>
                    <a:cubicBezTo>
                      <a:pt x="205" y="103"/>
                      <a:pt x="205" y="103"/>
                      <a:pt x="205" y="103"/>
                    </a:cubicBezTo>
                    <a:cubicBezTo>
                      <a:pt x="205" y="178"/>
                      <a:pt x="205" y="178"/>
                      <a:pt x="205" y="178"/>
                    </a:cubicBezTo>
                    <a:cubicBezTo>
                      <a:pt x="205" y="188"/>
                      <a:pt x="202" y="198"/>
                      <a:pt x="195" y="207"/>
                    </a:cubicBezTo>
                    <a:cubicBezTo>
                      <a:pt x="195" y="207"/>
                      <a:pt x="195" y="207"/>
                      <a:pt x="195" y="207"/>
                    </a:cubicBezTo>
                    <a:cubicBezTo>
                      <a:pt x="187" y="215"/>
                      <a:pt x="176" y="221"/>
                      <a:pt x="160" y="221"/>
                    </a:cubicBezTo>
                    <a:cubicBezTo>
                      <a:pt x="160" y="221"/>
                      <a:pt x="160" y="221"/>
                      <a:pt x="160" y="221"/>
                    </a:cubicBezTo>
                    <a:cubicBezTo>
                      <a:pt x="160" y="221"/>
                      <a:pt x="160" y="221"/>
                      <a:pt x="160" y="2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52"/>
              <p:cNvSpPr>
                <a:spLocks noEditPoints="1"/>
              </p:cNvSpPr>
              <p:nvPr/>
            </p:nvSpPr>
            <p:spPr bwMode="auto">
              <a:xfrm>
                <a:off x="2322513" y="2570163"/>
                <a:ext cx="434975" cy="428625"/>
              </a:xfrm>
              <a:custGeom>
                <a:avLst/>
                <a:gdLst>
                  <a:gd name="T0" fmla="*/ 57 w 165"/>
                  <a:gd name="T1" fmla="*/ 76 h 163"/>
                  <a:gd name="T2" fmla="*/ 45 w 165"/>
                  <a:gd name="T3" fmla="*/ 87 h 163"/>
                  <a:gd name="T4" fmla="*/ 57 w 165"/>
                  <a:gd name="T5" fmla="*/ 99 h 163"/>
                  <a:gd name="T6" fmla="*/ 68 w 165"/>
                  <a:gd name="T7" fmla="*/ 87 h 163"/>
                  <a:gd name="T8" fmla="*/ 57 w 165"/>
                  <a:gd name="T9" fmla="*/ 76 h 163"/>
                  <a:gd name="T10" fmla="*/ 158 w 165"/>
                  <a:gd name="T11" fmla="*/ 63 h 163"/>
                  <a:gd name="T12" fmla="*/ 82 w 165"/>
                  <a:gd name="T13" fmla="*/ 0 h 163"/>
                  <a:gd name="T14" fmla="*/ 6 w 165"/>
                  <a:gd name="T15" fmla="*/ 63 h 163"/>
                  <a:gd name="T16" fmla="*/ 0 w 165"/>
                  <a:gd name="T17" fmla="*/ 116 h 163"/>
                  <a:gd name="T18" fmla="*/ 9 w 165"/>
                  <a:gd name="T19" fmla="*/ 142 h 163"/>
                  <a:gd name="T20" fmla="*/ 29 w 165"/>
                  <a:gd name="T21" fmla="*/ 150 h 163"/>
                  <a:gd name="T22" fmla="*/ 38 w 165"/>
                  <a:gd name="T23" fmla="*/ 150 h 163"/>
                  <a:gd name="T24" fmla="*/ 82 w 165"/>
                  <a:gd name="T25" fmla="*/ 163 h 163"/>
                  <a:gd name="T26" fmla="*/ 125 w 165"/>
                  <a:gd name="T27" fmla="*/ 150 h 163"/>
                  <a:gd name="T28" fmla="*/ 135 w 165"/>
                  <a:gd name="T29" fmla="*/ 150 h 163"/>
                  <a:gd name="T30" fmla="*/ 156 w 165"/>
                  <a:gd name="T31" fmla="*/ 142 h 163"/>
                  <a:gd name="T32" fmla="*/ 165 w 165"/>
                  <a:gd name="T33" fmla="*/ 116 h 163"/>
                  <a:gd name="T34" fmla="*/ 158 w 165"/>
                  <a:gd name="T35" fmla="*/ 63 h 163"/>
                  <a:gd name="T36" fmla="*/ 82 w 165"/>
                  <a:gd name="T37" fmla="*/ 150 h 163"/>
                  <a:gd name="T38" fmla="*/ 17 w 165"/>
                  <a:gd name="T39" fmla="*/ 89 h 163"/>
                  <a:gd name="T40" fmla="*/ 46 w 165"/>
                  <a:gd name="T41" fmla="*/ 37 h 163"/>
                  <a:gd name="T42" fmla="*/ 122 w 165"/>
                  <a:gd name="T43" fmla="*/ 70 h 163"/>
                  <a:gd name="T44" fmla="*/ 145 w 165"/>
                  <a:gd name="T45" fmla="*/ 65 h 163"/>
                  <a:gd name="T46" fmla="*/ 147 w 165"/>
                  <a:gd name="T47" fmla="*/ 84 h 163"/>
                  <a:gd name="T48" fmla="*/ 82 w 165"/>
                  <a:gd name="T49" fmla="*/ 150 h 163"/>
                  <a:gd name="T50" fmla="*/ 107 w 165"/>
                  <a:gd name="T51" fmla="*/ 76 h 163"/>
                  <a:gd name="T52" fmla="*/ 96 w 165"/>
                  <a:gd name="T53" fmla="*/ 87 h 163"/>
                  <a:gd name="T54" fmla="*/ 107 w 165"/>
                  <a:gd name="T55" fmla="*/ 99 h 163"/>
                  <a:gd name="T56" fmla="*/ 118 w 165"/>
                  <a:gd name="T57" fmla="*/ 87 h 163"/>
                  <a:gd name="T58" fmla="*/ 107 w 165"/>
                  <a:gd name="T59" fmla="*/ 76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163">
                    <a:moveTo>
                      <a:pt x="57" y="76"/>
                    </a:moveTo>
                    <a:cubicBezTo>
                      <a:pt x="50" y="76"/>
                      <a:pt x="45" y="81"/>
                      <a:pt x="45" y="87"/>
                    </a:cubicBezTo>
                    <a:cubicBezTo>
                      <a:pt x="45" y="94"/>
                      <a:pt x="50" y="99"/>
                      <a:pt x="57" y="99"/>
                    </a:cubicBezTo>
                    <a:cubicBezTo>
                      <a:pt x="63" y="99"/>
                      <a:pt x="68" y="94"/>
                      <a:pt x="68" y="87"/>
                    </a:cubicBezTo>
                    <a:cubicBezTo>
                      <a:pt x="68" y="81"/>
                      <a:pt x="63" y="76"/>
                      <a:pt x="57" y="76"/>
                    </a:cubicBezTo>
                    <a:close/>
                    <a:moveTo>
                      <a:pt x="158" y="63"/>
                    </a:moveTo>
                    <a:cubicBezTo>
                      <a:pt x="148" y="28"/>
                      <a:pt x="119" y="0"/>
                      <a:pt x="82" y="0"/>
                    </a:cubicBezTo>
                    <a:cubicBezTo>
                      <a:pt x="45" y="0"/>
                      <a:pt x="16" y="27"/>
                      <a:pt x="6" y="63"/>
                    </a:cubicBezTo>
                    <a:cubicBezTo>
                      <a:pt x="3" y="72"/>
                      <a:pt x="0" y="106"/>
                      <a:pt x="0" y="116"/>
                    </a:cubicBezTo>
                    <a:cubicBezTo>
                      <a:pt x="0" y="126"/>
                      <a:pt x="2" y="136"/>
                      <a:pt x="9" y="142"/>
                    </a:cubicBezTo>
                    <a:cubicBezTo>
                      <a:pt x="15" y="148"/>
                      <a:pt x="23" y="150"/>
                      <a:pt x="29" y="150"/>
                    </a:cubicBezTo>
                    <a:cubicBezTo>
                      <a:pt x="38" y="150"/>
                      <a:pt x="38" y="150"/>
                      <a:pt x="38" y="150"/>
                    </a:cubicBezTo>
                    <a:cubicBezTo>
                      <a:pt x="51" y="159"/>
                      <a:pt x="66" y="163"/>
                      <a:pt x="82" y="163"/>
                    </a:cubicBezTo>
                    <a:cubicBezTo>
                      <a:pt x="98" y="163"/>
                      <a:pt x="113" y="159"/>
                      <a:pt x="125" y="150"/>
                    </a:cubicBezTo>
                    <a:cubicBezTo>
                      <a:pt x="135" y="150"/>
                      <a:pt x="135" y="150"/>
                      <a:pt x="135" y="150"/>
                    </a:cubicBezTo>
                    <a:cubicBezTo>
                      <a:pt x="141" y="151"/>
                      <a:pt x="150" y="148"/>
                      <a:pt x="156" y="142"/>
                    </a:cubicBezTo>
                    <a:cubicBezTo>
                      <a:pt x="162" y="136"/>
                      <a:pt x="165" y="126"/>
                      <a:pt x="165" y="116"/>
                    </a:cubicBezTo>
                    <a:cubicBezTo>
                      <a:pt x="165" y="106"/>
                      <a:pt x="160" y="73"/>
                      <a:pt x="158" y="63"/>
                    </a:cubicBezTo>
                    <a:close/>
                    <a:moveTo>
                      <a:pt x="82" y="150"/>
                    </a:moveTo>
                    <a:cubicBezTo>
                      <a:pt x="47" y="150"/>
                      <a:pt x="19" y="123"/>
                      <a:pt x="17" y="89"/>
                    </a:cubicBezTo>
                    <a:cubicBezTo>
                      <a:pt x="31" y="75"/>
                      <a:pt x="42" y="58"/>
                      <a:pt x="46" y="37"/>
                    </a:cubicBezTo>
                    <a:cubicBezTo>
                      <a:pt x="64" y="59"/>
                      <a:pt x="91" y="70"/>
                      <a:pt x="122" y="70"/>
                    </a:cubicBezTo>
                    <a:cubicBezTo>
                      <a:pt x="132" y="70"/>
                      <a:pt x="140" y="68"/>
                      <a:pt x="145" y="65"/>
                    </a:cubicBezTo>
                    <a:cubicBezTo>
                      <a:pt x="146" y="70"/>
                      <a:pt x="147" y="79"/>
                      <a:pt x="147" y="84"/>
                    </a:cubicBezTo>
                    <a:cubicBezTo>
                      <a:pt x="147" y="121"/>
                      <a:pt x="118" y="150"/>
                      <a:pt x="82" y="150"/>
                    </a:cubicBezTo>
                    <a:close/>
                    <a:moveTo>
                      <a:pt x="107" y="76"/>
                    </a:moveTo>
                    <a:cubicBezTo>
                      <a:pt x="101" y="76"/>
                      <a:pt x="96" y="81"/>
                      <a:pt x="96" y="87"/>
                    </a:cubicBezTo>
                    <a:cubicBezTo>
                      <a:pt x="96" y="94"/>
                      <a:pt x="101" y="99"/>
                      <a:pt x="107" y="99"/>
                    </a:cubicBezTo>
                    <a:cubicBezTo>
                      <a:pt x="113" y="99"/>
                      <a:pt x="118" y="94"/>
                      <a:pt x="118" y="87"/>
                    </a:cubicBezTo>
                    <a:cubicBezTo>
                      <a:pt x="118" y="81"/>
                      <a:pt x="113" y="76"/>
                      <a:pt x="107"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53"/>
              <p:cNvSpPr>
                <a:spLocks/>
              </p:cNvSpPr>
              <p:nvPr/>
            </p:nvSpPr>
            <p:spPr bwMode="auto">
              <a:xfrm>
                <a:off x="2505075" y="3038475"/>
                <a:ext cx="88900" cy="63500"/>
              </a:xfrm>
              <a:custGeom>
                <a:avLst/>
                <a:gdLst>
                  <a:gd name="T0" fmla="*/ 25 w 34"/>
                  <a:gd name="T1" fmla="*/ 0 h 24"/>
                  <a:gd name="T2" fmla="*/ 9 w 34"/>
                  <a:gd name="T3" fmla="*/ 0 h 24"/>
                  <a:gd name="T4" fmla="*/ 0 w 34"/>
                  <a:gd name="T5" fmla="*/ 8 h 24"/>
                  <a:gd name="T6" fmla="*/ 0 w 34"/>
                  <a:gd name="T7" fmla="*/ 15 h 24"/>
                  <a:gd name="T8" fmla="*/ 9 w 34"/>
                  <a:gd name="T9" fmla="*/ 24 h 24"/>
                  <a:gd name="T10" fmla="*/ 25 w 34"/>
                  <a:gd name="T11" fmla="*/ 24 h 24"/>
                  <a:gd name="T12" fmla="*/ 34 w 34"/>
                  <a:gd name="T13" fmla="*/ 15 h 24"/>
                  <a:gd name="T14" fmla="*/ 34 w 34"/>
                  <a:gd name="T15" fmla="*/ 8 h 24"/>
                  <a:gd name="T16" fmla="*/ 25 w 34"/>
                  <a:gd name="T17" fmla="*/ 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4">
                    <a:moveTo>
                      <a:pt x="25" y="0"/>
                    </a:moveTo>
                    <a:cubicBezTo>
                      <a:pt x="9" y="0"/>
                      <a:pt x="9" y="0"/>
                      <a:pt x="9" y="0"/>
                    </a:cubicBezTo>
                    <a:cubicBezTo>
                      <a:pt x="4" y="0"/>
                      <a:pt x="0" y="3"/>
                      <a:pt x="0" y="8"/>
                    </a:cubicBezTo>
                    <a:cubicBezTo>
                      <a:pt x="0" y="15"/>
                      <a:pt x="0" y="15"/>
                      <a:pt x="0" y="15"/>
                    </a:cubicBezTo>
                    <a:cubicBezTo>
                      <a:pt x="0" y="20"/>
                      <a:pt x="4" y="24"/>
                      <a:pt x="9" y="24"/>
                    </a:cubicBezTo>
                    <a:cubicBezTo>
                      <a:pt x="25" y="24"/>
                      <a:pt x="25" y="24"/>
                      <a:pt x="25" y="24"/>
                    </a:cubicBezTo>
                    <a:cubicBezTo>
                      <a:pt x="30" y="24"/>
                      <a:pt x="34" y="20"/>
                      <a:pt x="34" y="15"/>
                    </a:cubicBezTo>
                    <a:cubicBezTo>
                      <a:pt x="34" y="8"/>
                      <a:pt x="34" y="8"/>
                      <a:pt x="34" y="8"/>
                    </a:cubicBezTo>
                    <a:cubicBezTo>
                      <a:pt x="34" y="3"/>
                      <a:pt x="30"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54"/>
              <p:cNvSpPr>
                <a:spLocks/>
              </p:cNvSpPr>
              <p:nvPr/>
            </p:nvSpPr>
            <p:spPr bwMode="auto">
              <a:xfrm>
                <a:off x="2830513" y="2268538"/>
                <a:ext cx="474663" cy="781050"/>
              </a:xfrm>
              <a:custGeom>
                <a:avLst/>
                <a:gdLst>
                  <a:gd name="T0" fmla="*/ 299 w 299"/>
                  <a:gd name="T1" fmla="*/ 35 h 492"/>
                  <a:gd name="T2" fmla="*/ 296 w 299"/>
                  <a:gd name="T3" fmla="*/ 35 h 492"/>
                  <a:gd name="T4" fmla="*/ 171 w 299"/>
                  <a:gd name="T5" fmla="*/ 0 h 492"/>
                  <a:gd name="T6" fmla="*/ 171 w 299"/>
                  <a:gd name="T7" fmla="*/ 27 h 492"/>
                  <a:gd name="T8" fmla="*/ 268 w 299"/>
                  <a:gd name="T9" fmla="*/ 54 h 492"/>
                  <a:gd name="T10" fmla="*/ 156 w 299"/>
                  <a:gd name="T11" fmla="*/ 460 h 492"/>
                  <a:gd name="T12" fmla="*/ 24 w 299"/>
                  <a:gd name="T13" fmla="*/ 424 h 492"/>
                  <a:gd name="T14" fmla="*/ 0 w 299"/>
                  <a:gd name="T15" fmla="*/ 424 h 492"/>
                  <a:gd name="T16" fmla="*/ 0 w 299"/>
                  <a:gd name="T17" fmla="*/ 444 h 492"/>
                  <a:gd name="T18" fmla="*/ 175 w 299"/>
                  <a:gd name="T19" fmla="*/ 492 h 492"/>
                  <a:gd name="T20" fmla="*/ 299 w 299"/>
                  <a:gd name="T21" fmla="*/ 35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9" h="492">
                    <a:moveTo>
                      <a:pt x="299" y="35"/>
                    </a:moveTo>
                    <a:lnTo>
                      <a:pt x="296" y="35"/>
                    </a:lnTo>
                    <a:lnTo>
                      <a:pt x="171" y="0"/>
                    </a:lnTo>
                    <a:lnTo>
                      <a:pt x="171" y="27"/>
                    </a:lnTo>
                    <a:lnTo>
                      <a:pt x="268" y="54"/>
                    </a:lnTo>
                    <a:lnTo>
                      <a:pt x="156" y="460"/>
                    </a:lnTo>
                    <a:lnTo>
                      <a:pt x="24" y="424"/>
                    </a:lnTo>
                    <a:lnTo>
                      <a:pt x="0" y="424"/>
                    </a:lnTo>
                    <a:lnTo>
                      <a:pt x="0" y="444"/>
                    </a:lnTo>
                    <a:lnTo>
                      <a:pt x="175" y="492"/>
                    </a:lnTo>
                    <a:lnTo>
                      <a:pt x="299"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55"/>
              <p:cNvSpPr>
                <a:spLocks/>
              </p:cNvSpPr>
              <p:nvPr/>
            </p:nvSpPr>
            <p:spPr bwMode="auto">
              <a:xfrm>
                <a:off x="2486025" y="2166938"/>
                <a:ext cx="592138" cy="750887"/>
              </a:xfrm>
              <a:custGeom>
                <a:avLst/>
                <a:gdLst>
                  <a:gd name="T0" fmla="*/ 16 w 225"/>
                  <a:gd name="T1" fmla="*/ 16 h 285"/>
                  <a:gd name="T2" fmla="*/ 210 w 225"/>
                  <a:gd name="T3" fmla="*/ 16 h 285"/>
                  <a:gd name="T4" fmla="*/ 210 w 225"/>
                  <a:gd name="T5" fmla="*/ 241 h 285"/>
                  <a:gd name="T6" fmla="*/ 210 w 225"/>
                  <a:gd name="T7" fmla="*/ 241 h 285"/>
                  <a:gd name="T8" fmla="*/ 209 w 225"/>
                  <a:gd name="T9" fmla="*/ 241 h 285"/>
                  <a:gd name="T10" fmla="*/ 194 w 225"/>
                  <a:gd name="T11" fmla="*/ 241 h 285"/>
                  <a:gd name="T12" fmla="*/ 183 w 225"/>
                  <a:gd name="T13" fmla="*/ 252 h 285"/>
                  <a:gd name="T14" fmla="*/ 183 w 225"/>
                  <a:gd name="T15" fmla="*/ 269 h 285"/>
                  <a:gd name="T16" fmla="*/ 183 w 225"/>
                  <a:gd name="T17" fmla="*/ 270 h 285"/>
                  <a:gd name="T18" fmla="*/ 182 w 225"/>
                  <a:gd name="T19" fmla="*/ 270 h 285"/>
                  <a:gd name="T20" fmla="*/ 131 w 225"/>
                  <a:gd name="T21" fmla="*/ 270 h 285"/>
                  <a:gd name="T22" fmla="*/ 131 w 225"/>
                  <a:gd name="T23" fmla="*/ 285 h 285"/>
                  <a:gd name="T24" fmla="*/ 185 w 225"/>
                  <a:gd name="T25" fmla="*/ 285 h 285"/>
                  <a:gd name="T26" fmla="*/ 194 w 225"/>
                  <a:gd name="T27" fmla="*/ 282 h 285"/>
                  <a:gd name="T28" fmla="*/ 223 w 225"/>
                  <a:gd name="T29" fmla="*/ 252 h 285"/>
                  <a:gd name="T30" fmla="*/ 225 w 225"/>
                  <a:gd name="T31" fmla="*/ 245 h 285"/>
                  <a:gd name="T32" fmla="*/ 225 w 225"/>
                  <a:gd name="T33" fmla="*/ 0 h 285"/>
                  <a:gd name="T34" fmla="*/ 0 w 225"/>
                  <a:gd name="T35" fmla="*/ 0 h 285"/>
                  <a:gd name="T36" fmla="*/ 0 w 225"/>
                  <a:gd name="T37" fmla="*/ 123 h 285"/>
                  <a:gd name="T38" fmla="*/ 16 w 225"/>
                  <a:gd name="T39" fmla="*/ 121 h 285"/>
                  <a:gd name="T40" fmla="*/ 16 w 225"/>
                  <a:gd name="T41" fmla="*/ 1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285">
                    <a:moveTo>
                      <a:pt x="16" y="16"/>
                    </a:moveTo>
                    <a:cubicBezTo>
                      <a:pt x="210" y="16"/>
                      <a:pt x="210" y="16"/>
                      <a:pt x="210" y="16"/>
                    </a:cubicBezTo>
                    <a:cubicBezTo>
                      <a:pt x="210" y="241"/>
                      <a:pt x="210" y="241"/>
                      <a:pt x="210" y="241"/>
                    </a:cubicBezTo>
                    <a:cubicBezTo>
                      <a:pt x="210" y="241"/>
                      <a:pt x="210" y="241"/>
                      <a:pt x="210" y="241"/>
                    </a:cubicBezTo>
                    <a:cubicBezTo>
                      <a:pt x="210" y="241"/>
                      <a:pt x="210" y="241"/>
                      <a:pt x="209" y="241"/>
                    </a:cubicBezTo>
                    <a:cubicBezTo>
                      <a:pt x="194" y="241"/>
                      <a:pt x="194" y="241"/>
                      <a:pt x="194" y="241"/>
                    </a:cubicBezTo>
                    <a:cubicBezTo>
                      <a:pt x="187" y="241"/>
                      <a:pt x="183" y="245"/>
                      <a:pt x="183" y="252"/>
                    </a:cubicBezTo>
                    <a:cubicBezTo>
                      <a:pt x="183" y="269"/>
                      <a:pt x="183" y="269"/>
                      <a:pt x="183" y="269"/>
                    </a:cubicBezTo>
                    <a:cubicBezTo>
                      <a:pt x="183" y="269"/>
                      <a:pt x="183" y="270"/>
                      <a:pt x="183" y="270"/>
                    </a:cubicBezTo>
                    <a:cubicBezTo>
                      <a:pt x="183" y="270"/>
                      <a:pt x="182" y="270"/>
                      <a:pt x="182" y="270"/>
                    </a:cubicBezTo>
                    <a:cubicBezTo>
                      <a:pt x="164" y="270"/>
                      <a:pt x="147" y="270"/>
                      <a:pt x="131" y="270"/>
                    </a:cubicBezTo>
                    <a:cubicBezTo>
                      <a:pt x="131" y="285"/>
                      <a:pt x="131" y="285"/>
                      <a:pt x="131" y="285"/>
                    </a:cubicBezTo>
                    <a:cubicBezTo>
                      <a:pt x="185" y="285"/>
                      <a:pt x="185" y="285"/>
                      <a:pt x="185" y="285"/>
                    </a:cubicBezTo>
                    <a:cubicBezTo>
                      <a:pt x="189" y="285"/>
                      <a:pt x="192" y="284"/>
                      <a:pt x="194" y="282"/>
                    </a:cubicBezTo>
                    <a:cubicBezTo>
                      <a:pt x="223" y="252"/>
                      <a:pt x="223" y="252"/>
                      <a:pt x="223" y="252"/>
                    </a:cubicBezTo>
                    <a:cubicBezTo>
                      <a:pt x="225" y="250"/>
                      <a:pt x="225" y="247"/>
                      <a:pt x="225" y="245"/>
                    </a:cubicBezTo>
                    <a:cubicBezTo>
                      <a:pt x="225" y="0"/>
                      <a:pt x="225" y="0"/>
                      <a:pt x="225" y="0"/>
                    </a:cubicBezTo>
                    <a:cubicBezTo>
                      <a:pt x="0" y="0"/>
                      <a:pt x="0" y="0"/>
                      <a:pt x="0" y="0"/>
                    </a:cubicBezTo>
                    <a:cubicBezTo>
                      <a:pt x="0" y="123"/>
                      <a:pt x="0" y="123"/>
                      <a:pt x="0" y="123"/>
                    </a:cubicBezTo>
                    <a:cubicBezTo>
                      <a:pt x="5" y="122"/>
                      <a:pt x="11" y="121"/>
                      <a:pt x="16" y="121"/>
                    </a:cubicBezTo>
                    <a:lnTo>
                      <a:pt x="16"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56"/>
              <p:cNvSpPr>
                <a:spLocks noChangeArrowheads="1"/>
              </p:cNvSpPr>
              <p:nvPr/>
            </p:nvSpPr>
            <p:spPr bwMode="auto">
              <a:xfrm>
                <a:off x="2578100" y="2311400"/>
                <a:ext cx="4064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57"/>
              <p:cNvSpPr>
                <a:spLocks noChangeArrowheads="1"/>
              </p:cNvSpPr>
              <p:nvPr/>
            </p:nvSpPr>
            <p:spPr bwMode="auto">
              <a:xfrm>
                <a:off x="2578100" y="2400300"/>
                <a:ext cx="4064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7" name="Content Placeholder 2">
              <a:extLst>
                <a:ext uri="{FF2B5EF4-FFF2-40B4-BE49-F238E27FC236}">
                  <a16:creationId xmlns:a16="http://schemas.microsoft.com/office/drawing/2014/main" xmlns="" id="{CA4541C4-B83D-4AE7-9FDD-D33FB3170993}"/>
                </a:ext>
              </a:extLst>
            </p:cNvPr>
            <p:cNvSpPr txBox="1">
              <a:spLocks/>
            </p:cNvSpPr>
            <p:nvPr/>
          </p:nvSpPr>
          <p:spPr>
            <a:xfrm>
              <a:off x="4179782" y="4542991"/>
              <a:ext cx="2841479" cy="13068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t>Interested educators and administrators can learn about </a:t>
              </a:r>
              <a:r>
                <a:rPr lang="en-US" sz="1600" b="1" dirty="0">
                  <a:solidFill>
                    <a:srgbClr val="F4BC53"/>
                  </a:solidFill>
                </a:rPr>
                <a:t>Present</a:t>
              </a:r>
              <a:r>
                <a:rPr lang="en-US" sz="1600" dirty="0">
                  <a:solidFill>
                    <a:srgbClr val="F4BC53"/>
                  </a:solidFill>
                </a:rPr>
                <a:t> </a:t>
              </a:r>
              <a:r>
                <a:rPr lang="en-US" sz="1600" dirty="0"/>
                <a:t>online and complete the sales process by talking with an account executive.</a:t>
              </a:r>
            </a:p>
          </p:txBody>
        </p:sp>
      </p:grpSp>
      <p:grpSp>
        <p:nvGrpSpPr>
          <p:cNvPr id="51" name="Group 50"/>
          <p:cNvGrpSpPr/>
          <p:nvPr/>
        </p:nvGrpSpPr>
        <p:grpSpPr>
          <a:xfrm>
            <a:off x="8165013" y="2466549"/>
            <a:ext cx="2841479" cy="3383264"/>
            <a:chOff x="8165013" y="2466549"/>
            <a:chExt cx="2841479" cy="3383264"/>
          </a:xfrm>
        </p:grpSpPr>
        <p:sp>
          <p:nvSpPr>
            <p:cNvPr id="9" name="Content Placeholder 2">
              <a:extLst>
                <a:ext uri="{FF2B5EF4-FFF2-40B4-BE49-F238E27FC236}">
                  <a16:creationId xmlns:a16="http://schemas.microsoft.com/office/drawing/2014/main" xmlns="" id="{023CC34F-BE61-46CB-831A-FAEB7617F783}"/>
                </a:ext>
              </a:extLst>
            </p:cNvPr>
            <p:cNvSpPr txBox="1">
              <a:spLocks/>
            </p:cNvSpPr>
            <p:nvPr/>
          </p:nvSpPr>
          <p:spPr>
            <a:xfrm>
              <a:off x="8426407" y="2466549"/>
              <a:ext cx="2318691" cy="4711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0000"/>
                </a:lnSpc>
                <a:buFont typeface="Arial" panose="020B0604020202020204" pitchFamily="34" charset="0"/>
                <a:buNone/>
              </a:pPr>
              <a:r>
                <a:rPr lang="en-US" sz="2200" b="1" dirty="0">
                  <a:solidFill>
                    <a:srgbClr val="04465F"/>
                  </a:solidFill>
                </a:rPr>
                <a:t>Enterprise Sales</a:t>
              </a:r>
            </a:p>
          </p:txBody>
        </p:sp>
        <p:grpSp>
          <p:nvGrpSpPr>
            <p:cNvPr id="26" name="Group 25"/>
            <p:cNvGrpSpPr/>
            <p:nvPr/>
          </p:nvGrpSpPr>
          <p:grpSpPr>
            <a:xfrm>
              <a:off x="9051559" y="3186245"/>
              <a:ext cx="1068387" cy="965201"/>
              <a:chOff x="2284413" y="657225"/>
              <a:chExt cx="1068387" cy="965201"/>
            </a:xfrm>
            <a:solidFill>
              <a:srgbClr val="F15D59"/>
            </a:solidFill>
          </p:grpSpPr>
          <p:sp>
            <p:nvSpPr>
              <p:cNvPr id="27" name="Freeform 7"/>
              <p:cNvSpPr>
                <a:spLocks/>
              </p:cNvSpPr>
              <p:nvPr/>
            </p:nvSpPr>
            <p:spPr bwMode="auto">
              <a:xfrm>
                <a:off x="2284413" y="1081088"/>
                <a:ext cx="612775" cy="538163"/>
              </a:xfrm>
              <a:custGeom>
                <a:avLst/>
                <a:gdLst>
                  <a:gd name="T0" fmla="*/ 152 w 214"/>
                  <a:gd name="T1" fmla="*/ 0 h 188"/>
                  <a:gd name="T2" fmla="*/ 152 w 214"/>
                  <a:gd name="T3" fmla="*/ 1 h 188"/>
                  <a:gd name="T4" fmla="*/ 160 w 214"/>
                  <a:gd name="T5" fmla="*/ 23 h 188"/>
                  <a:gd name="T6" fmla="*/ 157 w 214"/>
                  <a:gd name="T7" fmla="*/ 29 h 188"/>
                  <a:gd name="T8" fmla="*/ 139 w 214"/>
                  <a:gd name="T9" fmla="*/ 34 h 188"/>
                  <a:gd name="T10" fmla="*/ 138 w 214"/>
                  <a:gd name="T11" fmla="*/ 39 h 188"/>
                  <a:gd name="T12" fmla="*/ 147 w 214"/>
                  <a:gd name="T13" fmla="*/ 50 h 188"/>
                  <a:gd name="T14" fmla="*/ 147 w 214"/>
                  <a:gd name="T15" fmla="*/ 58 h 188"/>
                  <a:gd name="T16" fmla="*/ 110 w 214"/>
                  <a:gd name="T17" fmla="*/ 136 h 188"/>
                  <a:gd name="T18" fmla="*/ 105 w 214"/>
                  <a:gd name="T19" fmla="*/ 136 h 188"/>
                  <a:gd name="T20" fmla="*/ 67 w 214"/>
                  <a:gd name="T21" fmla="*/ 58 h 188"/>
                  <a:gd name="T22" fmla="*/ 68 w 214"/>
                  <a:gd name="T23" fmla="*/ 50 h 188"/>
                  <a:gd name="T24" fmla="*/ 77 w 214"/>
                  <a:gd name="T25" fmla="*/ 39 h 188"/>
                  <a:gd name="T26" fmla="*/ 76 w 214"/>
                  <a:gd name="T27" fmla="*/ 34 h 188"/>
                  <a:gd name="T28" fmla="*/ 57 w 214"/>
                  <a:gd name="T29" fmla="*/ 29 h 188"/>
                  <a:gd name="T30" fmla="*/ 55 w 214"/>
                  <a:gd name="T31" fmla="*/ 23 h 188"/>
                  <a:gd name="T32" fmla="*/ 63 w 214"/>
                  <a:gd name="T33" fmla="*/ 2 h 188"/>
                  <a:gd name="T34" fmla="*/ 1 w 214"/>
                  <a:gd name="T35" fmla="*/ 34 h 188"/>
                  <a:gd name="T36" fmla="*/ 1 w 214"/>
                  <a:gd name="T37" fmla="*/ 53 h 188"/>
                  <a:gd name="T38" fmla="*/ 9 w 214"/>
                  <a:gd name="T39" fmla="*/ 74 h 188"/>
                  <a:gd name="T40" fmla="*/ 14 w 214"/>
                  <a:gd name="T41" fmla="*/ 78 h 188"/>
                  <a:gd name="T42" fmla="*/ 26 w 214"/>
                  <a:gd name="T43" fmla="*/ 98 h 188"/>
                  <a:gd name="T44" fmla="*/ 50 w 214"/>
                  <a:gd name="T45" fmla="*/ 177 h 188"/>
                  <a:gd name="T46" fmla="*/ 66 w 214"/>
                  <a:gd name="T47" fmla="*/ 188 h 188"/>
                  <a:gd name="T48" fmla="*/ 149 w 214"/>
                  <a:gd name="T49" fmla="*/ 188 h 188"/>
                  <a:gd name="T50" fmla="*/ 164 w 214"/>
                  <a:gd name="T51" fmla="*/ 177 h 188"/>
                  <a:gd name="T52" fmla="*/ 189 w 214"/>
                  <a:gd name="T53" fmla="*/ 98 h 188"/>
                  <a:gd name="T54" fmla="*/ 201 w 214"/>
                  <a:gd name="T55" fmla="*/ 78 h 188"/>
                  <a:gd name="T56" fmla="*/ 206 w 214"/>
                  <a:gd name="T57" fmla="*/ 74 h 188"/>
                  <a:gd name="T58" fmla="*/ 214 w 214"/>
                  <a:gd name="T59" fmla="*/ 53 h 188"/>
                  <a:gd name="T60" fmla="*/ 214 w 214"/>
                  <a:gd name="T61" fmla="*/ 34 h 188"/>
                  <a:gd name="T62" fmla="*/ 152 w 214"/>
                  <a:gd name="T63"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4" h="188">
                    <a:moveTo>
                      <a:pt x="152" y="0"/>
                    </a:moveTo>
                    <a:cubicBezTo>
                      <a:pt x="152" y="1"/>
                      <a:pt x="152" y="1"/>
                      <a:pt x="152" y="1"/>
                    </a:cubicBezTo>
                    <a:cubicBezTo>
                      <a:pt x="160" y="23"/>
                      <a:pt x="160" y="23"/>
                      <a:pt x="160" y="23"/>
                    </a:cubicBezTo>
                    <a:cubicBezTo>
                      <a:pt x="161" y="25"/>
                      <a:pt x="160" y="28"/>
                      <a:pt x="157" y="29"/>
                    </a:cubicBezTo>
                    <a:cubicBezTo>
                      <a:pt x="139" y="34"/>
                      <a:pt x="139" y="34"/>
                      <a:pt x="139" y="34"/>
                    </a:cubicBezTo>
                    <a:cubicBezTo>
                      <a:pt x="137" y="35"/>
                      <a:pt x="136" y="37"/>
                      <a:pt x="138" y="39"/>
                    </a:cubicBezTo>
                    <a:cubicBezTo>
                      <a:pt x="147" y="50"/>
                      <a:pt x="147" y="50"/>
                      <a:pt x="147" y="50"/>
                    </a:cubicBezTo>
                    <a:cubicBezTo>
                      <a:pt x="148" y="52"/>
                      <a:pt x="149" y="56"/>
                      <a:pt x="147" y="58"/>
                    </a:cubicBezTo>
                    <a:cubicBezTo>
                      <a:pt x="110" y="136"/>
                      <a:pt x="110" y="136"/>
                      <a:pt x="110" y="136"/>
                    </a:cubicBezTo>
                    <a:cubicBezTo>
                      <a:pt x="108" y="138"/>
                      <a:pt x="107" y="138"/>
                      <a:pt x="105" y="136"/>
                    </a:cubicBezTo>
                    <a:cubicBezTo>
                      <a:pt x="67" y="58"/>
                      <a:pt x="67" y="58"/>
                      <a:pt x="67" y="58"/>
                    </a:cubicBezTo>
                    <a:cubicBezTo>
                      <a:pt x="66" y="56"/>
                      <a:pt x="67" y="52"/>
                      <a:pt x="68" y="50"/>
                    </a:cubicBezTo>
                    <a:cubicBezTo>
                      <a:pt x="77" y="39"/>
                      <a:pt x="77" y="39"/>
                      <a:pt x="77" y="39"/>
                    </a:cubicBezTo>
                    <a:cubicBezTo>
                      <a:pt x="79" y="37"/>
                      <a:pt x="78" y="35"/>
                      <a:pt x="76" y="34"/>
                    </a:cubicBezTo>
                    <a:cubicBezTo>
                      <a:pt x="57" y="29"/>
                      <a:pt x="57" y="29"/>
                      <a:pt x="57" y="29"/>
                    </a:cubicBezTo>
                    <a:cubicBezTo>
                      <a:pt x="55" y="28"/>
                      <a:pt x="54" y="25"/>
                      <a:pt x="55" y="23"/>
                    </a:cubicBezTo>
                    <a:cubicBezTo>
                      <a:pt x="63" y="2"/>
                      <a:pt x="63" y="2"/>
                      <a:pt x="63" y="2"/>
                    </a:cubicBezTo>
                    <a:cubicBezTo>
                      <a:pt x="0" y="9"/>
                      <a:pt x="1" y="29"/>
                      <a:pt x="1" y="34"/>
                    </a:cubicBezTo>
                    <a:cubicBezTo>
                      <a:pt x="1" y="53"/>
                      <a:pt x="1" y="53"/>
                      <a:pt x="1" y="53"/>
                    </a:cubicBezTo>
                    <a:cubicBezTo>
                      <a:pt x="1" y="60"/>
                      <a:pt x="4" y="69"/>
                      <a:pt x="9" y="74"/>
                    </a:cubicBezTo>
                    <a:cubicBezTo>
                      <a:pt x="14" y="78"/>
                      <a:pt x="14" y="78"/>
                      <a:pt x="14" y="78"/>
                    </a:cubicBezTo>
                    <a:cubicBezTo>
                      <a:pt x="18" y="83"/>
                      <a:pt x="24" y="92"/>
                      <a:pt x="26" y="98"/>
                    </a:cubicBezTo>
                    <a:cubicBezTo>
                      <a:pt x="50" y="177"/>
                      <a:pt x="50" y="177"/>
                      <a:pt x="50" y="177"/>
                    </a:cubicBezTo>
                    <a:cubicBezTo>
                      <a:pt x="52" y="183"/>
                      <a:pt x="59" y="188"/>
                      <a:pt x="66" y="188"/>
                    </a:cubicBezTo>
                    <a:cubicBezTo>
                      <a:pt x="149" y="188"/>
                      <a:pt x="149" y="188"/>
                      <a:pt x="149" y="188"/>
                    </a:cubicBezTo>
                    <a:cubicBezTo>
                      <a:pt x="156" y="188"/>
                      <a:pt x="162" y="183"/>
                      <a:pt x="164" y="177"/>
                    </a:cubicBezTo>
                    <a:cubicBezTo>
                      <a:pt x="189" y="98"/>
                      <a:pt x="189" y="98"/>
                      <a:pt x="189" y="98"/>
                    </a:cubicBezTo>
                    <a:cubicBezTo>
                      <a:pt x="191" y="92"/>
                      <a:pt x="197" y="83"/>
                      <a:pt x="201" y="78"/>
                    </a:cubicBezTo>
                    <a:cubicBezTo>
                      <a:pt x="206" y="74"/>
                      <a:pt x="206" y="74"/>
                      <a:pt x="206" y="74"/>
                    </a:cubicBezTo>
                    <a:cubicBezTo>
                      <a:pt x="210" y="69"/>
                      <a:pt x="214" y="60"/>
                      <a:pt x="214" y="53"/>
                    </a:cubicBezTo>
                    <a:cubicBezTo>
                      <a:pt x="214" y="34"/>
                      <a:pt x="214" y="34"/>
                      <a:pt x="214" y="34"/>
                    </a:cubicBezTo>
                    <a:cubicBezTo>
                      <a:pt x="214" y="29"/>
                      <a:pt x="214" y="6"/>
                      <a:pt x="15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8"/>
              <p:cNvSpPr>
                <a:spLocks/>
              </p:cNvSpPr>
              <p:nvPr/>
            </p:nvSpPr>
            <p:spPr bwMode="auto">
              <a:xfrm>
                <a:off x="2547938" y="1071563"/>
                <a:ext cx="88900" cy="298450"/>
              </a:xfrm>
              <a:custGeom>
                <a:avLst/>
                <a:gdLst>
                  <a:gd name="T0" fmla="*/ 29 w 31"/>
                  <a:gd name="T1" fmla="*/ 13 h 104"/>
                  <a:gd name="T2" fmla="*/ 28 w 31"/>
                  <a:gd name="T3" fmla="*/ 7 h 104"/>
                  <a:gd name="T4" fmla="*/ 19 w 31"/>
                  <a:gd name="T5" fmla="*/ 1 h 104"/>
                  <a:gd name="T6" fmla="*/ 12 w 31"/>
                  <a:gd name="T7" fmla="*/ 1 h 104"/>
                  <a:gd name="T8" fmla="*/ 3 w 31"/>
                  <a:gd name="T9" fmla="*/ 7 h 104"/>
                  <a:gd name="T10" fmla="*/ 2 w 31"/>
                  <a:gd name="T11" fmla="*/ 13 h 104"/>
                  <a:gd name="T12" fmla="*/ 7 w 31"/>
                  <a:gd name="T13" fmla="*/ 17 h 104"/>
                  <a:gd name="T14" fmla="*/ 8 w 31"/>
                  <a:gd name="T15" fmla="*/ 24 h 104"/>
                  <a:gd name="T16" fmla="*/ 2 w 31"/>
                  <a:gd name="T17" fmla="*/ 33 h 104"/>
                  <a:gd name="T18" fmla="*/ 0 w 31"/>
                  <a:gd name="T19" fmla="*/ 40 h 104"/>
                  <a:gd name="T20" fmla="*/ 15 w 31"/>
                  <a:gd name="T21" fmla="*/ 102 h 104"/>
                  <a:gd name="T22" fmla="*/ 16 w 31"/>
                  <a:gd name="T23" fmla="*/ 102 h 104"/>
                  <a:gd name="T24" fmla="*/ 31 w 31"/>
                  <a:gd name="T25" fmla="*/ 40 h 104"/>
                  <a:gd name="T26" fmla="*/ 29 w 31"/>
                  <a:gd name="T27" fmla="*/ 33 h 104"/>
                  <a:gd name="T28" fmla="*/ 23 w 31"/>
                  <a:gd name="T29" fmla="*/ 24 h 104"/>
                  <a:gd name="T30" fmla="*/ 24 w 31"/>
                  <a:gd name="T31" fmla="*/ 17 h 104"/>
                  <a:gd name="T32" fmla="*/ 29 w 31"/>
                  <a:gd name="T33" fmla="*/ 1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 h="104">
                    <a:moveTo>
                      <a:pt x="29" y="13"/>
                    </a:moveTo>
                    <a:cubicBezTo>
                      <a:pt x="30" y="11"/>
                      <a:pt x="30" y="9"/>
                      <a:pt x="28" y="7"/>
                    </a:cubicBezTo>
                    <a:cubicBezTo>
                      <a:pt x="19" y="1"/>
                      <a:pt x="19" y="1"/>
                      <a:pt x="19" y="1"/>
                    </a:cubicBezTo>
                    <a:cubicBezTo>
                      <a:pt x="17" y="0"/>
                      <a:pt x="14" y="0"/>
                      <a:pt x="12" y="1"/>
                    </a:cubicBezTo>
                    <a:cubicBezTo>
                      <a:pt x="3" y="7"/>
                      <a:pt x="3" y="7"/>
                      <a:pt x="3" y="7"/>
                    </a:cubicBezTo>
                    <a:cubicBezTo>
                      <a:pt x="1" y="9"/>
                      <a:pt x="1" y="11"/>
                      <a:pt x="2" y="13"/>
                    </a:cubicBezTo>
                    <a:cubicBezTo>
                      <a:pt x="7" y="17"/>
                      <a:pt x="7" y="17"/>
                      <a:pt x="7" y="17"/>
                    </a:cubicBezTo>
                    <a:cubicBezTo>
                      <a:pt x="9" y="19"/>
                      <a:pt x="9" y="22"/>
                      <a:pt x="8" y="24"/>
                    </a:cubicBezTo>
                    <a:cubicBezTo>
                      <a:pt x="2" y="33"/>
                      <a:pt x="2" y="33"/>
                      <a:pt x="2" y="33"/>
                    </a:cubicBezTo>
                    <a:cubicBezTo>
                      <a:pt x="0" y="35"/>
                      <a:pt x="0" y="38"/>
                      <a:pt x="0" y="40"/>
                    </a:cubicBezTo>
                    <a:cubicBezTo>
                      <a:pt x="15" y="102"/>
                      <a:pt x="15" y="102"/>
                      <a:pt x="15" y="102"/>
                    </a:cubicBezTo>
                    <a:cubicBezTo>
                      <a:pt x="15" y="104"/>
                      <a:pt x="16" y="104"/>
                      <a:pt x="16" y="102"/>
                    </a:cubicBezTo>
                    <a:cubicBezTo>
                      <a:pt x="31" y="40"/>
                      <a:pt x="31" y="40"/>
                      <a:pt x="31" y="40"/>
                    </a:cubicBezTo>
                    <a:cubicBezTo>
                      <a:pt x="31" y="38"/>
                      <a:pt x="30" y="35"/>
                      <a:pt x="29" y="33"/>
                    </a:cubicBezTo>
                    <a:cubicBezTo>
                      <a:pt x="23" y="24"/>
                      <a:pt x="23" y="24"/>
                      <a:pt x="23" y="24"/>
                    </a:cubicBezTo>
                    <a:cubicBezTo>
                      <a:pt x="22" y="22"/>
                      <a:pt x="22" y="19"/>
                      <a:pt x="24" y="17"/>
                    </a:cubicBezTo>
                    <a:lnTo>
                      <a:pt x="29"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9"/>
              <p:cNvSpPr>
                <a:spLocks noEditPoints="1"/>
              </p:cNvSpPr>
              <p:nvPr/>
            </p:nvSpPr>
            <p:spPr bwMode="auto">
              <a:xfrm>
                <a:off x="2397125" y="657225"/>
                <a:ext cx="388937" cy="385763"/>
              </a:xfrm>
              <a:custGeom>
                <a:avLst/>
                <a:gdLst>
                  <a:gd name="T0" fmla="*/ 134 w 136"/>
                  <a:gd name="T1" fmla="*/ 52 h 135"/>
                  <a:gd name="T2" fmla="*/ 68 w 136"/>
                  <a:gd name="T3" fmla="*/ 0 h 135"/>
                  <a:gd name="T4" fmla="*/ 1 w 136"/>
                  <a:gd name="T5" fmla="*/ 61 h 135"/>
                  <a:gd name="T6" fmla="*/ 0 w 136"/>
                  <a:gd name="T7" fmla="*/ 68 h 135"/>
                  <a:gd name="T8" fmla="*/ 68 w 136"/>
                  <a:gd name="T9" fmla="*/ 135 h 135"/>
                  <a:gd name="T10" fmla="*/ 136 w 136"/>
                  <a:gd name="T11" fmla="*/ 68 h 135"/>
                  <a:gd name="T12" fmla="*/ 134 w 136"/>
                  <a:gd name="T13" fmla="*/ 52 h 135"/>
                  <a:gd name="T14" fmla="*/ 68 w 136"/>
                  <a:gd name="T15" fmla="*/ 129 h 135"/>
                  <a:gd name="T16" fmla="*/ 14 w 136"/>
                  <a:gd name="T17" fmla="*/ 96 h 135"/>
                  <a:gd name="T18" fmla="*/ 45 w 136"/>
                  <a:gd name="T19" fmla="*/ 47 h 135"/>
                  <a:gd name="T20" fmla="*/ 101 w 136"/>
                  <a:gd name="T21" fmla="*/ 25 h 135"/>
                  <a:gd name="T22" fmla="*/ 129 w 136"/>
                  <a:gd name="T23" fmla="*/ 65 h 135"/>
                  <a:gd name="T24" fmla="*/ 129 w 136"/>
                  <a:gd name="T25" fmla="*/ 68 h 135"/>
                  <a:gd name="T26" fmla="*/ 68 w 136"/>
                  <a:gd name="T27" fmla="*/ 129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6" h="135">
                    <a:moveTo>
                      <a:pt x="134" y="52"/>
                    </a:moveTo>
                    <a:cubicBezTo>
                      <a:pt x="127" y="22"/>
                      <a:pt x="100" y="0"/>
                      <a:pt x="68" y="0"/>
                    </a:cubicBezTo>
                    <a:cubicBezTo>
                      <a:pt x="33" y="0"/>
                      <a:pt x="4" y="27"/>
                      <a:pt x="1" y="61"/>
                    </a:cubicBezTo>
                    <a:cubicBezTo>
                      <a:pt x="0" y="63"/>
                      <a:pt x="0" y="65"/>
                      <a:pt x="0" y="68"/>
                    </a:cubicBezTo>
                    <a:cubicBezTo>
                      <a:pt x="0" y="105"/>
                      <a:pt x="31" y="135"/>
                      <a:pt x="68" y="135"/>
                    </a:cubicBezTo>
                    <a:cubicBezTo>
                      <a:pt x="105" y="135"/>
                      <a:pt x="136" y="105"/>
                      <a:pt x="136" y="68"/>
                    </a:cubicBezTo>
                    <a:cubicBezTo>
                      <a:pt x="136" y="62"/>
                      <a:pt x="135" y="57"/>
                      <a:pt x="134" y="52"/>
                    </a:cubicBezTo>
                    <a:moveTo>
                      <a:pt x="68" y="129"/>
                    </a:moveTo>
                    <a:cubicBezTo>
                      <a:pt x="45" y="129"/>
                      <a:pt x="24" y="115"/>
                      <a:pt x="14" y="96"/>
                    </a:cubicBezTo>
                    <a:cubicBezTo>
                      <a:pt x="17" y="80"/>
                      <a:pt x="30" y="47"/>
                      <a:pt x="45" y="47"/>
                    </a:cubicBezTo>
                    <a:cubicBezTo>
                      <a:pt x="96" y="47"/>
                      <a:pt x="104" y="8"/>
                      <a:pt x="101" y="25"/>
                    </a:cubicBezTo>
                    <a:cubicBezTo>
                      <a:pt x="99" y="39"/>
                      <a:pt x="123" y="42"/>
                      <a:pt x="129" y="65"/>
                    </a:cubicBezTo>
                    <a:cubicBezTo>
                      <a:pt x="129" y="66"/>
                      <a:pt x="129" y="67"/>
                      <a:pt x="129" y="68"/>
                    </a:cubicBezTo>
                    <a:cubicBezTo>
                      <a:pt x="129" y="101"/>
                      <a:pt x="102" y="129"/>
                      <a:pt x="68" y="12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0"/>
              <p:cNvSpPr>
                <a:spLocks/>
              </p:cNvSpPr>
              <p:nvPr/>
            </p:nvSpPr>
            <p:spPr bwMode="auto">
              <a:xfrm>
                <a:off x="2976563" y="889000"/>
                <a:ext cx="20637" cy="68263"/>
              </a:xfrm>
              <a:custGeom>
                <a:avLst/>
                <a:gdLst>
                  <a:gd name="T0" fmla="*/ 2 w 7"/>
                  <a:gd name="T1" fmla="*/ 24 h 24"/>
                  <a:gd name="T2" fmla="*/ 5 w 7"/>
                  <a:gd name="T3" fmla="*/ 24 h 24"/>
                  <a:gd name="T4" fmla="*/ 7 w 7"/>
                  <a:gd name="T5" fmla="*/ 21 h 24"/>
                  <a:gd name="T6" fmla="*/ 7 w 7"/>
                  <a:gd name="T7" fmla="*/ 1 h 24"/>
                  <a:gd name="T8" fmla="*/ 7 w 7"/>
                  <a:gd name="T9" fmla="*/ 0 h 24"/>
                  <a:gd name="T10" fmla="*/ 2 w 7"/>
                  <a:gd name="T11" fmla="*/ 4 h 24"/>
                  <a:gd name="T12" fmla="*/ 0 w 7"/>
                  <a:gd name="T13" fmla="*/ 3 h 24"/>
                  <a:gd name="T14" fmla="*/ 0 w 7"/>
                  <a:gd name="T15" fmla="*/ 21 h 24"/>
                  <a:gd name="T16" fmla="*/ 2 w 7"/>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24">
                    <a:moveTo>
                      <a:pt x="2" y="24"/>
                    </a:moveTo>
                    <a:cubicBezTo>
                      <a:pt x="5" y="24"/>
                      <a:pt x="5" y="24"/>
                      <a:pt x="5" y="24"/>
                    </a:cubicBezTo>
                    <a:cubicBezTo>
                      <a:pt x="6" y="24"/>
                      <a:pt x="7" y="23"/>
                      <a:pt x="7" y="21"/>
                    </a:cubicBezTo>
                    <a:cubicBezTo>
                      <a:pt x="7" y="1"/>
                      <a:pt x="7" y="1"/>
                      <a:pt x="7" y="1"/>
                    </a:cubicBezTo>
                    <a:cubicBezTo>
                      <a:pt x="7" y="1"/>
                      <a:pt x="7" y="0"/>
                      <a:pt x="7" y="0"/>
                    </a:cubicBezTo>
                    <a:cubicBezTo>
                      <a:pt x="4" y="2"/>
                      <a:pt x="2" y="4"/>
                      <a:pt x="2" y="4"/>
                    </a:cubicBezTo>
                    <a:cubicBezTo>
                      <a:pt x="1" y="4"/>
                      <a:pt x="0" y="4"/>
                      <a:pt x="0" y="3"/>
                    </a:cubicBezTo>
                    <a:cubicBezTo>
                      <a:pt x="0" y="21"/>
                      <a:pt x="0" y="21"/>
                      <a:pt x="0" y="21"/>
                    </a:cubicBezTo>
                    <a:cubicBezTo>
                      <a:pt x="0" y="23"/>
                      <a:pt x="1" y="24"/>
                      <a:pt x="2"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1"/>
              <p:cNvSpPr>
                <a:spLocks/>
              </p:cNvSpPr>
              <p:nvPr/>
            </p:nvSpPr>
            <p:spPr bwMode="auto">
              <a:xfrm>
                <a:off x="2954338" y="779463"/>
                <a:ext cx="260350" cy="212725"/>
              </a:xfrm>
              <a:custGeom>
                <a:avLst/>
                <a:gdLst>
                  <a:gd name="T0" fmla="*/ 2 w 91"/>
                  <a:gd name="T1" fmla="*/ 74 h 74"/>
                  <a:gd name="T2" fmla="*/ 90 w 91"/>
                  <a:gd name="T3" fmla="*/ 74 h 74"/>
                  <a:gd name="T4" fmla="*/ 91 w 91"/>
                  <a:gd name="T5" fmla="*/ 72 h 74"/>
                  <a:gd name="T6" fmla="*/ 90 w 91"/>
                  <a:gd name="T7" fmla="*/ 69 h 74"/>
                  <a:gd name="T8" fmla="*/ 5 w 91"/>
                  <a:gd name="T9" fmla="*/ 69 h 74"/>
                  <a:gd name="T10" fmla="*/ 4 w 91"/>
                  <a:gd name="T11" fmla="*/ 67 h 74"/>
                  <a:gd name="T12" fmla="*/ 4 w 91"/>
                  <a:gd name="T13" fmla="*/ 2 h 74"/>
                  <a:gd name="T14" fmla="*/ 2 w 91"/>
                  <a:gd name="T15" fmla="*/ 0 h 74"/>
                  <a:gd name="T16" fmla="*/ 0 w 91"/>
                  <a:gd name="T17" fmla="*/ 2 h 74"/>
                  <a:gd name="T18" fmla="*/ 0 w 91"/>
                  <a:gd name="T19" fmla="*/ 72 h 74"/>
                  <a:gd name="T20" fmla="*/ 2 w 91"/>
                  <a:gd name="T21"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74">
                    <a:moveTo>
                      <a:pt x="2" y="74"/>
                    </a:moveTo>
                    <a:cubicBezTo>
                      <a:pt x="90" y="74"/>
                      <a:pt x="90" y="74"/>
                      <a:pt x="90" y="74"/>
                    </a:cubicBezTo>
                    <a:cubicBezTo>
                      <a:pt x="91" y="74"/>
                      <a:pt x="91" y="73"/>
                      <a:pt x="91" y="72"/>
                    </a:cubicBezTo>
                    <a:cubicBezTo>
                      <a:pt x="91" y="70"/>
                      <a:pt x="91" y="69"/>
                      <a:pt x="90" y="69"/>
                    </a:cubicBezTo>
                    <a:cubicBezTo>
                      <a:pt x="5" y="69"/>
                      <a:pt x="5" y="69"/>
                      <a:pt x="5" y="69"/>
                    </a:cubicBezTo>
                    <a:cubicBezTo>
                      <a:pt x="4" y="69"/>
                      <a:pt x="4" y="68"/>
                      <a:pt x="4" y="67"/>
                    </a:cubicBezTo>
                    <a:cubicBezTo>
                      <a:pt x="4" y="2"/>
                      <a:pt x="4" y="2"/>
                      <a:pt x="4" y="2"/>
                    </a:cubicBezTo>
                    <a:cubicBezTo>
                      <a:pt x="4" y="1"/>
                      <a:pt x="3" y="0"/>
                      <a:pt x="2" y="0"/>
                    </a:cubicBezTo>
                    <a:cubicBezTo>
                      <a:pt x="1" y="0"/>
                      <a:pt x="0" y="1"/>
                      <a:pt x="0" y="2"/>
                    </a:cubicBezTo>
                    <a:cubicBezTo>
                      <a:pt x="0" y="72"/>
                      <a:pt x="0" y="72"/>
                      <a:pt x="0" y="72"/>
                    </a:cubicBezTo>
                    <a:cubicBezTo>
                      <a:pt x="0" y="73"/>
                      <a:pt x="1" y="74"/>
                      <a:pt x="2"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2"/>
              <p:cNvSpPr>
                <a:spLocks/>
              </p:cNvSpPr>
              <p:nvPr/>
            </p:nvSpPr>
            <p:spPr bwMode="auto">
              <a:xfrm>
                <a:off x="2779713" y="703263"/>
                <a:ext cx="573087" cy="919163"/>
              </a:xfrm>
              <a:custGeom>
                <a:avLst/>
                <a:gdLst>
                  <a:gd name="T0" fmla="*/ 199 w 200"/>
                  <a:gd name="T1" fmla="*/ 310 h 321"/>
                  <a:gd name="T2" fmla="*/ 155 w 200"/>
                  <a:gd name="T3" fmla="*/ 190 h 321"/>
                  <a:gd name="T4" fmla="*/ 172 w 200"/>
                  <a:gd name="T5" fmla="*/ 190 h 321"/>
                  <a:gd name="T6" fmla="*/ 185 w 200"/>
                  <a:gd name="T7" fmla="*/ 177 h 321"/>
                  <a:gd name="T8" fmla="*/ 185 w 200"/>
                  <a:gd name="T9" fmla="*/ 14 h 321"/>
                  <a:gd name="T10" fmla="*/ 172 w 200"/>
                  <a:gd name="T11" fmla="*/ 0 h 321"/>
                  <a:gd name="T12" fmla="*/ 0 w 200"/>
                  <a:gd name="T13" fmla="*/ 0 h 321"/>
                  <a:gd name="T14" fmla="*/ 8 w 200"/>
                  <a:gd name="T15" fmla="*/ 14 h 321"/>
                  <a:gd name="T16" fmla="*/ 172 w 200"/>
                  <a:gd name="T17" fmla="*/ 14 h 321"/>
                  <a:gd name="T18" fmla="*/ 172 w 200"/>
                  <a:gd name="T19" fmla="*/ 177 h 321"/>
                  <a:gd name="T20" fmla="*/ 57 w 200"/>
                  <a:gd name="T21" fmla="*/ 177 h 321"/>
                  <a:gd name="T22" fmla="*/ 57 w 200"/>
                  <a:gd name="T23" fmla="*/ 185 h 321"/>
                  <a:gd name="T24" fmla="*/ 57 w 200"/>
                  <a:gd name="T25" fmla="*/ 190 h 321"/>
                  <a:gd name="T26" fmla="*/ 58 w 200"/>
                  <a:gd name="T27" fmla="*/ 190 h 321"/>
                  <a:gd name="T28" fmla="*/ 58 w 200"/>
                  <a:gd name="T29" fmla="*/ 264 h 321"/>
                  <a:gd name="T30" fmla="*/ 64 w 200"/>
                  <a:gd name="T31" fmla="*/ 267 h 321"/>
                  <a:gd name="T32" fmla="*/ 69 w 200"/>
                  <a:gd name="T33" fmla="*/ 267 h 321"/>
                  <a:gd name="T34" fmla="*/ 76 w 200"/>
                  <a:gd name="T35" fmla="*/ 264 h 321"/>
                  <a:gd name="T36" fmla="*/ 76 w 200"/>
                  <a:gd name="T37" fmla="*/ 190 h 321"/>
                  <a:gd name="T38" fmla="*/ 136 w 200"/>
                  <a:gd name="T39" fmla="*/ 190 h 321"/>
                  <a:gd name="T40" fmla="*/ 182 w 200"/>
                  <a:gd name="T41" fmla="*/ 316 h 321"/>
                  <a:gd name="T42" fmla="*/ 191 w 200"/>
                  <a:gd name="T43" fmla="*/ 320 h 321"/>
                  <a:gd name="T44" fmla="*/ 195 w 200"/>
                  <a:gd name="T45" fmla="*/ 318 h 321"/>
                  <a:gd name="T46" fmla="*/ 199 w 200"/>
                  <a:gd name="T47" fmla="*/ 310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321">
                    <a:moveTo>
                      <a:pt x="199" y="310"/>
                    </a:moveTo>
                    <a:cubicBezTo>
                      <a:pt x="155" y="190"/>
                      <a:pt x="155" y="190"/>
                      <a:pt x="155" y="190"/>
                    </a:cubicBezTo>
                    <a:cubicBezTo>
                      <a:pt x="172" y="190"/>
                      <a:pt x="172" y="190"/>
                      <a:pt x="172" y="190"/>
                    </a:cubicBezTo>
                    <a:cubicBezTo>
                      <a:pt x="179" y="190"/>
                      <a:pt x="185" y="184"/>
                      <a:pt x="185" y="177"/>
                    </a:cubicBezTo>
                    <a:cubicBezTo>
                      <a:pt x="185" y="14"/>
                      <a:pt x="185" y="14"/>
                      <a:pt x="185" y="14"/>
                    </a:cubicBezTo>
                    <a:cubicBezTo>
                      <a:pt x="185" y="6"/>
                      <a:pt x="179" y="0"/>
                      <a:pt x="172" y="0"/>
                    </a:cubicBezTo>
                    <a:cubicBezTo>
                      <a:pt x="0" y="0"/>
                      <a:pt x="0" y="0"/>
                      <a:pt x="0" y="0"/>
                    </a:cubicBezTo>
                    <a:cubicBezTo>
                      <a:pt x="3" y="4"/>
                      <a:pt x="6" y="9"/>
                      <a:pt x="8" y="14"/>
                    </a:cubicBezTo>
                    <a:cubicBezTo>
                      <a:pt x="172" y="14"/>
                      <a:pt x="172" y="14"/>
                      <a:pt x="172" y="14"/>
                    </a:cubicBezTo>
                    <a:cubicBezTo>
                      <a:pt x="172" y="177"/>
                      <a:pt x="172" y="177"/>
                      <a:pt x="172" y="177"/>
                    </a:cubicBezTo>
                    <a:cubicBezTo>
                      <a:pt x="57" y="177"/>
                      <a:pt x="57" y="177"/>
                      <a:pt x="57" y="177"/>
                    </a:cubicBezTo>
                    <a:cubicBezTo>
                      <a:pt x="57" y="185"/>
                      <a:pt x="57" y="185"/>
                      <a:pt x="57" y="185"/>
                    </a:cubicBezTo>
                    <a:cubicBezTo>
                      <a:pt x="57" y="187"/>
                      <a:pt x="57" y="188"/>
                      <a:pt x="57" y="190"/>
                    </a:cubicBezTo>
                    <a:cubicBezTo>
                      <a:pt x="58" y="190"/>
                      <a:pt x="58" y="190"/>
                      <a:pt x="58" y="190"/>
                    </a:cubicBezTo>
                    <a:cubicBezTo>
                      <a:pt x="58" y="264"/>
                      <a:pt x="58" y="264"/>
                      <a:pt x="58" y="264"/>
                    </a:cubicBezTo>
                    <a:cubicBezTo>
                      <a:pt x="58" y="266"/>
                      <a:pt x="61" y="267"/>
                      <a:pt x="64" y="267"/>
                    </a:cubicBezTo>
                    <a:cubicBezTo>
                      <a:pt x="69" y="267"/>
                      <a:pt x="69" y="267"/>
                      <a:pt x="69" y="267"/>
                    </a:cubicBezTo>
                    <a:cubicBezTo>
                      <a:pt x="73" y="267"/>
                      <a:pt x="76" y="266"/>
                      <a:pt x="76" y="264"/>
                    </a:cubicBezTo>
                    <a:cubicBezTo>
                      <a:pt x="76" y="190"/>
                      <a:pt x="76" y="190"/>
                      <a:pt x="76" y="190"/>
                    </a:cubicBezTo>
                    <a:cubicBezTo>
                      <a:pt x="136" y="190"/>
                      <a:pt x="136" y="190"/>
                      <a:pt x="136" y="190"/>
                    </a:cubicBezTo>
                    <a:cubicBezTo>
                      <a:pt x="182" y="316"/>
                      <a:pt x="182" y="316"/>
                      <a:pt x="182" y="316"/>
                    </a:cubicBezTo>
                    <a:cubicBezTo>
                      <a:pt x="183" y="319"/>
                      <a:pt x="187" y="321"/>
                      <a:pt x="191" y="320"/>
                    </a:cubicBezTo>
                    <a:cubicBezTo>
                      <a:pt x="195" y="318"/>
                      <a:pt x="195" y="318"/>
                      <a:pt x="195" y="318"/>
                    </a:cubicBezTo>
                    <a:cubicBezTo>
                      <a:pt x="198" y="317"/>
                      <a:pt x="200" y="313"/>
                      <a:pt x="199" y="31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3"/>
              <p:cNvSpPr>
                <a:spLocks/>
              </p:cNvSpPr>
              <p:nvPr/>
            </p:nvSpPr>
            <p:spPr bwMode="auto">
              <a:xfrm>
                <a:off x="2825750" y="857250"/>
                <a:ext cx="71437" cy="34925"/>
              </a:xfrm>
              <a:custGeom>
                <a:avLst/>
                <a:gdLst>
                  <a:gd name="T0" fmla="*/ 19 w 25"/>
                  <a:gd name="T1" fmla="*/ 12 h 12"/>
                  <a:gd name="T2" fmla="*/ 25 w 25"/>
                  <a:gd name="T3" fmla="*/ 6 h 12"/>
                  <a:gd name="T4" fmla="*/ 19 w 25"/>
                  <a:gd name="T5" fmla="*/ 0 h 12"/>
                  <a:gd name="T6" fmla="*/ 1 w 25"/>
                  <a:gd name="T7" fmla="*/ 0 h 12"/>
                  <a:gd name="T8" fmla="*/ 0 w 25"/>
                  <a:gd name="T9" fmla="*/ 12 h 12"/>
                  <a:gd name="T10" fmla="*/ 19 w 25"/>
                  <a:gd name="T11" fmla="*/ 12 h 12"/>
                </a:gdLst>
                <a:ahLst/>
                <a:cxnLst>
                  <a:cxn ang="0">
                    <a:pos x="T0" y="T1"/>
                  </a:cxn>
                  <a:cxn ang="0">
                    <a:pos x="T2" y="T3"/>
                  </a:cxn>
                  <a:cxn ang="0">
                    <a:pos x="T4" y="T5"/>
                  </a:cxn>
                  <a:cxn ang="0">
                    <a:pos x="T6" y="T7"/>
                  </a:cxn>
                  <a:cxn ang="0">
                    <a:pos x="T8" y="T9"/>
                  </a:cxn>
                  <a:cxn ang="0">
                    <a:pos x="T10" y="T11"/>
                  </a:cxn>
                </a:cxnLst>
                <a:rect l="0" t="0" r="r" b="b"/>
                <a:pathLst>
                  <a:path w="25" h="12">
                    <a:moveTo>
                      <a:pt x="19" y="12"/>
                    </a:moveTo>
                    <a:cubicBezTo>
                      <a:pt x="23" y="12"/>
                      <a:pt x="25" y="9"/>
                      <a:pt x="25" y="6"/>
                    </a:cubicBezTo>
                    <a:cubicBezTo>
                      <a:pt x="25" y="2"/>
                      <a:pt x="23" y="0"/>
                      <a:pt x="19" y="0"/>
                    </a:cubicBezTo>
                    <a:cubicBezTo>
                      <a:pt x="1" y="0"/>
                      <a:pt x="1" y="0"/>
                      <a:pt x="1" y="0"/>
                    </a:cubicBezTo>
                    <a:cubicBezTo>
                      <a:pt x="1" y="4"/>
                      <a:pt x="1" y="8"/>
                      <a:pt x="0" y="12"/>
                    </a:cubicBezTo>
                    <a:lnTo>
                      <a:pt x="19"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4"/>
              <p:cNvSpPr>
                <a:spLocks/>
              </p:cNvSpPr>
              <p:nvPr/>
            </p:nvSpPr>
            <p:spPr bwMode="auto">
              <a:xfrm>
                <a:off x="2803525" y="923925"/>
                <a:ext cx="93662" cy="33338"/>
              </a:xfrm>
              <a:custGeom>
                <a:avLst/>
                <a:gdLst>
                  <a:gd name="T0" fmla="*/ 27 w 33"/>
                  <a:gd name="T1" fmla="*/ 12 h 12"/>
                  <a:gd name="T2" fmla="*/ 33 w 33"/>
                  <a:gd name="T3" fmla="*/ 6 h 12"/>
                  <a:gd name="T4" fmla="*/ 27 w 33"/>
                  <a:gd name="T5" fmla="*/ 0 h 12"/>
                  <a:gd name="T6" fmla="*/ 5 w 33"/>
                  <a:gd name="T7" fmla="*/ 0 h 12"/>
                  <a:gd name="T8" fmla="*/ 0 w 33"/>
                  <a:gd name="T9" fmla="*/ 12 h 12"/>
                  <a:gd name="T10" fmla="*/ 27 w 33"/>
                  <a:gd name="T11" fmla="*/ 12 h 12"/>
                </a:gdLst>
                <a:ahLst/>
                <a:cxnLst>
                  <a:cxn ang="0">
                    <a:pos x="T0" y="T1"/>
                  </a:cxn>
                  <a:cxn ang="0">
                    <a:pos x="T2" y="T3"/>
                  </a:cxn>
                  <a:cxn ang="0">
                    <a:pos x="T4" y="T5"/>
                  </a:cxn>
                  <a:cxn ang="0">
                    <a:pos x="T6" y="T7"/>
                  </a:cxn>
                  <a:cxn ang="0">
                    <a:pos x="T8" y="T9"/>
                  </a:cxn>
                  <a:cxn ang="0">
                    <a:pos x="T10" y="T11"/>
                  </a:cxn>
                </a:cxnLst>
                <a:rect l="0" t="0" r="r" b="b"/>
                <a:pathLst>
                  <a:path w="33" h="12">
                    <a:moveTo>
                      <a:pt x="27" y="12"/>
                    </a:moveTo>
                    <a:cubicBezTo>
                      <a:pt x="31" y="12"/>
                      <a:pt x="33" y="10"/>
                      <a:pt x="33" y="6"/>
                    </a:cubicBezTo>
                    <a:cubicBezTo>
                      <a:pt x="33" y="3"/>
                      <a:pt x="31" y="0"/>
                      <a:pt x="27" y="0"/>
                    </a:cubicBezTo>
                    <a:cubicBezTo>
                      <a:pt x="5" y="0"/>
                      <a:pt x="5" y="0"/>
                      <a:pt x="5" y="0"/>
                    </a:cubicBezTo>
                    <a:cubicBezTo>
                      <a:pt x="4" y="4"/>
                      <a:pt x="2" y="8"/>
                      <a:pt x="0" y="12"/>
                    </a:cubicBezTo>
                    <a:lnTo>
                      <a:pt x="27"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5"/>
              <p:cNvSpPr>
                <a:spLocks/>
              </p:cNvSpPr>
              <p:nvPr/>
            </p:nvSpPr>
            <p:spPr bwMode="auto">
              <a:xfrm>
                <a:off x="3194050" y="803275"/>
                <a:ext cx="20637" cy="153988"/>
              </a:xfrm>
              <a:custGeom>
                <a:avLst/>
                <a:gdLst>
                  <a:gd name="T0" fmla="*/ 6 w 7"/>
                  <a:gd name="T1" fmla="*/ 0 h 54"/>
                  <a:gd name="T2" fmla="*/ 2 w 7"/>
                  <a:gd name="T3" fmla="*/ 5 h 54"/>
                  <a:gd name="T4" fmla="*/ 0 w 7"/>
                  <a:gd name="T5" fmla="*/ 6 h 54"/>
                  <a:gd name="T6" fmla="*/ 0 w 7"/>
                  <a:gd name="T7" fmla="*/ 49 h 54"/>
                  <a:gd name="T8" fmla="*/ 2 w 7"/>
                  <a:gd name="T9" fmla="*/ 54 h 54"/>
                  <a:gd name="T10" fmla="*/ 5 w 7"/>
                  <a:gd name="T11" fmla="*/ 54 h 54"/>
                  <a:gd name="T12" fmla="*/ 7 w 7"/>
                  <a:gd name="T13" fmla="*/ 49 h 54"/>
                  <a:gd name="T14" fmla="*/ 7 w 7"/>
                  <a:gd name="T15" fmla="*/ 5 h 54"/>
                  <a:gd name="T16" fmla="*/ 6 w 7"/>
                  <a:gd name="T1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54">
                    <a:moveTo>
                      <a:pt x="6" y="0"/>
                    </a:moveTo>
                    <a:cubicBezTo>
                      <a:pt x="2" y="5"/>
                      <a:pt x="2" y="5"/>
                      <a:pt x="2" y="5"/>
                    </a:cubicBezTo>
                    <a:cubicBezTo>
                      <a:pt x="1" y="6"/>
                      <a:pt x="1" y="6"/>
                      <a:pt x="0" y="6"/>
                    </a:cubicBezTo>
                    <a:cubicBezTo>
                      <a:pt x="0" y="49"/>
                      <a:pt x="0" y="49"/>
                      <a:pt x="0" y="49"/>
                    </a:cubicBezTo>
                    <a:cubicBezTo>
                      <a:pt x="0" y="51"/>
                      <a:pt x="1" y="54"/>
                      <a:pt x="2" y="54"/>
                    </a:cubicBezTo>
                    <a:cubicBezTo>
                      <a:pt x="5" y="54"/>
                      <a:pt x="5" y="54"/>
                      <a:pt x="5" y="54"/>
                    </a:cubicBezTo>
                    <a:cubicBezTo>
                      <a:pt x="6" y="54"/>
                      <a:pt x="7" y="51"/>
                      <a:pt x="7" y="49"/>
                    </a:cubicBezTo>
                    <a:cubicBezTo>
                      <a:pt x="7" y="5"/>
                      <a:pt x="7" y="5"/>
                      <a:pt x="7" y="5"/>
                    </a:cubicBezTo>
                    <a:cubicBezTo>
                      <a:pt x="7" y="2"/>
                      <a:pt x="7"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6"/>
              <p:cNvSpPr>
                <a:spLocks/>
              </p:cNvSpPr>
              <p:nvPr/>
            </p:nvSpPr>
            <p:spPr bwMode="auto">
              <a:xfrm>
                <a:off x="2819400" y="788988"/>
                <a:ext cx="77787" cy="33338"/>
              </a:xfrm>
              <a:custGeom>
                <a:avLst/>
                <a:gdLst>
                  <a:gd name="T0" fmla="*/ 3 w 27"/>
                  <a:gd name="T1" fmla="*/ 12 h 12"/>
                  <a:gd name="T2" fmla="*/ 21 w 27"/>
                  <a:gd name="T3" fmla="*/ 12 h 12"/>
                  <a:gd name="T4" fmla="*/ 27 w 27"/>
                  <a:gd name="T5" fmla="*/ 6 h 12"/>
                  <a:gd name="T6" fmla="*/ 21 w 27"/>
                  <a:gd name="T7" fmla="*/ 0 h 12"/>
                  <a:gd name="T8" fmla="*/ 0 w 27"/>
                  <a:gd name="T9" fmla="*/ 0 h 12"/>
                  <a:gd name="T10" fmla="*/ 1 w 27"/>
                  <a:gd name="T11" fmla="*/ 2 h 12"/>
                  <a:gd name="T12" fmla="*/ 3 w 2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 h="12">
                    <a:moveTo>
                      <a:pt x="3" y="12"/>
                    </a:moveTo>
                    <a:cubicBezTo>
                      <a:pt x="21" y="12"/>
                      <a:pt x="21" y="12"/>
                      <a:pt x="21" y="12"/>
                    </a:cubicBezTo>
                    <a:cubicBezTo>
                      <a:pt x="25" y="12"/>
                      <a:pt x="27" y="9"/>
                      <a:pt x="27" y="6"/>
                    </a:cubicBezTo>
                    <a:cubicBezTo>
                      <a:pt x="27" y="3"/>
                      <a:pt x="25" y="0"/>
                      <a:pt x="21" y="0"/>
                    </a:cubicBezTo>
                    <a:cubicBezTo>
                      <a:pt x="0" y="0"/>
                      <a:pt x="0" y="0"/>
                      <a:pt x="0" y="0"/>
                    </a:cubicBezTo>
                    <a:cubicBezTo>
                      <a:pt x="1" y="1"/>
                      <a:pt x="1" y="1"/>
                      <a:pt x="1" y="2"/>
                    </a:cubicBezTo>
                    <a:cubicBezTo>
                      <a:pt x="2" y="5"/>
                      <a:pt x="2" y="9"/>
                      <a:pt x="3"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17"/>
              <p:cNvSpPr>
                <a:spLocks/>
              </p:cNvSpPr>
              <p:nvPr/>
            </p:nvSpPr>
            <p:spPr bwMode="auto">
              <a:xfrm>
                <a:off x="2976563" y="774700"/>
                <a:ext cx="241300" cy="117475"/>
              </a:xfrm>
              <a:custGeom>
                <a:avLst/>
                <a:gdLst>
                  <a:gd name="T0" fmla="*/ 0 w 84"/>
                  <a:gd name="T1" fmla="*/ 40 h 41"/>
                  <a:gd name="T2" fmla="*/ 2 w 84"/>
                  <a:gd name="T3" fmla="*/ 40 h 41"/>
                  <a:gd name="T4" fmla="*/ 33 w 84"/>
                  <a:gd name="T5" fmla="*/ 18 h 41"/>
                  <a:gd name="T6" fmla="*/ 34 w 84"/>
                  <a:gd name="T7" fmla="*/ 19 h 41"/>
                  <a:gd name="T8" fmla="*/ 39 w 84"/>
                  <a:gd name="T9" fmla="*/ 33 h 41"/>
                  <a:gd name="T10" fmla="*/ 41 w 84"/>
                  <a:gd name="T11" fmla="*/ 33 h 41"/>
                  <a:gd name="T12" fmla="*/ 77 w 84"/>
                  <a:gd name="T13" fmla="*/ 7 h 41"/>
                  <a:gd name="T14" fmla="*/ 75 w 84"/>
                  <a:gd name="T15" fmla="*/ 10 h 41"/>
                  <a:gd name="T16" fmla="*/ 75 w 84"/>
                  <a:gd name="T17" fmla="*/ 12 h 41"/>
                  <a:gd name="T18" fmla="*/ 76 w 84"/>
                  <a:gd name="T19" fmla="*/ 12 h 41"/>
                  <a:gd name="T20" fmla="*/ 77 w 84"/>
                  <a:gd name="T21" fmla="*/ 12 h 41"/>
                  <a:gd name="T22" fmla="*/ 83 w 84"/>
                  <a:gd name="T23" fmla="*/ 3 h 41"/>
                  <a:gd name="T24" fmla="*/ 83 w 84"/>
                  <a:gd name="T25" fmla="*/ 1 h 41"/>
                  <a:gd name="T26" fmla="*/ 82 w 84"/>
                  <a:gd name="T27" fmla="*/ 0 h 41"/>
                  <a:gd name="T28" fmla="*/ 73 w 84"/>
                  <a:gd name="T29" fmla="*/ 2 h 41"/>
                  <a:gd name="T30" fmla="*/ 72 w 84"/>
                  <a:gd name="T31" fmla="*/ 4 h 41"/>
                  <a:gd name="T32" fmla="*/ 72 w 84"/>
                  <a:gd name="T33" fmla="*/ 4 h 41"/>
                  <a:gd name="T34" fmla="*/ 73 w 84"/>
                  <a:gd name="T35" fmla="*/ 5 h 41"/>
                  <a:gd name="T36" fmla="*/ 76 w 84"/>
                  <a:gd name="T37" fmla="*/ 5 h 41"/>
                  <a:gd name="T38" fmla="*/ 42 w 84"/>
                  <a:gd name="T39" fmla="*/ 29 h 41"/>
                  <a:gd name="T40" fmla="*/ 40 w 84"/>
                  <a:gd name="T41" fmla="*/ 29 h 41"/>
                  <a:gd name="T42" fmla="*/ 36 w 84"/>
                  <a:gd name="T43" fmla="*/ 17 h 41"/>
                  <a:gd name="T44" fmla="*/ 35 w 84"/>
                  <a:gd name="T45" fmla="*/ 14 h 41"/>
                  <a:gd name="T46" fmla="*/ 34 w 84"/>
                  <a:gd name="T47" fmla="*/ 14 h 41"/>
                  <a:gd name="T48" fmla="*/ 0 w 84"/>
                  <a:gd name="T49" fmla="*/ 38 h 41"/>
                  <a:gd name="T50" fmla="*/ 0 w 84"/>
                  <a:gd name="T51" fmla="*/ 39 h 41"/>
                  <a:gd name="T52" fmla="*/ 0 w 84"/>
                  <a:gd name="T53" fmla="*/ 4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41">
                    <a:moveTo>
                      <a:pt x="0" y="40"/>
                    </a:moveTo>
                    <a:cubicBezTo>
                      <a:pt x="0" y="40"/>
                      <a:pt x="1" y="41"/>
                      <a:pt x="2" y="40"/>
                    </a:cubicBezTo>
                    <a:cubicBezTo>
                      <a:pt x="33" y="18"/>
                      <a:pt x="33" y="18"/>
                      <a:pt x="33" y="18"/>
                    </a:cubicBezTo>
                    <a:cubicBezTo>
                      <a:pt x="33" y="18"/>
                      <a:pt x="34" y="18"/>
                      <a:pt x="34" y="19"/>
                    </a:cubicBezTo>
                    <a:cubicBezTo>
                      <a:pt x="39" y="33"/>
                      <a:pt x="39" y="33"/>
                      <a:pt x="39" y="33"/>
                    </a:cubicBezTo>
                    <a:cubicBezTo>
                      <a:pt x="40" y="33"/>
                      <a:pt x="40" y="34"/>
                      <a:pt x="41" y="33"/>
                    </a:cubicBezTo>
                    <a:cubicBezTo>
                      <a:pt x="77" y="7"/>
                      <a:pt x="77" y="7"/>
                      <a:pt x="77" y="7"/>
                    </a:cubicBezTo>
                    <a:cubicBezTo>
                      <a:pt x="75" y="10"/>
                      <a:pt x="75" y="10"/>
                      <a:pt x="75" y="10"/>
                    </a:cubicBezTo>
                    <a:cubicBezTo>
                      <a:pt x="75" y="11"/>
                      <a:pt x="75" y="12"/>
                      <a:pt x="75" y="12"/>
                    </a:cubicBezTo>
                    <a:cubicBezTo>
                      <a:pt x="76" y="12"/>
                      <a:pt x="76" y="12"/>
                      <a:pt x="76" y="12"/>
                    </a:cubicBezTo>
                    <a:cubicBezTo>
                      <a:pt x="76" y="13"/>
                      <a:pt x="77" y="13"/>
                      <a:pt x="77" y="12"/>
                    </a:cubicBezTo>
                    <a:cubicBezTo>
                      <a:pt x="83" y="3"/>
                      <a:pt x="83" y="3"/>
                      <a:pt x="83" y="3"/>
                    </a:cubicBezTo>
                    <a:cubicBezTo>
                      <a:pt x="84" y="2"/>
                      <a:pt x="84" y="2"/>
                      <a:pt x="83" y="1"/>
                    </a:cubicBezTo>
                    <a:cubicBezTo>
                      <a:pt x="83" y="1"/>
                      <a:pt x="83" y="0"/>
                      <a:pt x="82" y="0"/>
                    </a:cubicBezTo>
                    <a:cubicBezTo>
                      <a:pt x="73" y="2"/>
                      <a:pt x="73" y="2"/>
                      <a:pt x="73" y="2"/>
                    </a:cubicBezTo>
                    <a:cubicBezTo>
                      <a:pt x="73" y="2"/>
                      <a:pt x="72" y="3"/>
                      <a:pt x="72" y="4"/>
                    </a:cubicBezTo>
                    <a:cubicBezTo>
                      <a:pt x="72" y="4"/>
                      <a:pt x="72" y="4"/>
                      <a:pt x="72" y="4"/>
                    </a:cubicBezTo>
                    <a:cubicBezTo>
                      <a:pt x="72" y="5"/>
                      <a:pt x="73" y="5"/>
                      <a:pt x="73" y="5"/>
                    </a:cubicBezTo>
                    <a:cubicBezTo>
                      <a:pt x="76" y="5"/>
                      <a:pt x="76" y="5"/>
                      <a:pt x="76" y="5"/>
                    </a:cubicBezTo>
                    <a:cubicBezTo>
                      <a:pt x="42" y="29"/>
                      <a:pt x="42" y="29"/>
                      <a:pt x="42" y="29"/>
                    </a:cubicBezTo>
                    <a:cubicBezTo>
                      <a:pt x="41" y="29"/>
                      <a:pt x="41" y="29"/>
                      <a:pt x="40" y="29"/>
                    </a:cubicBezTo>
                    <a:cubicBezTo>
                      <a:pt x="36" y="17"/>
                      <a:pt x="36" y="17"/>
                      <a:pt x="36" y="17"/>
                    </a:cubicBezTo>
                    <a:cubicBezTo>
                      <a:pt x="36" y="16"/>
                      <a:pt x="35" y="15"/>
                      <a:pt x="35" y="14"/>
                    </a:cubicBezTo>
                    <a:cubicBezTo>
                      <a:pt x="35" y="14"/>
                      <a:pt x="34" y="14"/>
                      <a:pt x="34" y="14"/>
                    </a:cubicBezTo>
                    <a:cubicBezTo>
                      <a:pt x="0" y="38"/>
                      <a:pt x="0" y="38"/>
                      <a:pt x="0" y="38"/>
                    </a:cubicBezTo>
                    <a:cubicBezTo>
                      <a:pt x="0" y="38"/>
                      <a:pt x="0" y="39"/>
                      <a:pt x="0" y="39"/>
                    </a:cubicBez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18"/>
              <p:cNvSpPr>
                <a:spLocks/>
              </p:cNvSpPr>
              <p:nvPr/>
            </p:nvSpPr>
            <p:spPr bwMode="auto">
              <a:xfrm>
                <a:off x="2965450" y="1060450"/>
                <a:ext cx="255587" cy="34925"/>
              </a:xfrm>
              <a:custGeom>
                <a:avLst/>
                <a:gdLst>
                  <a:gd name="T0" fmla="*/ 80 w 89"/>
                  <a:gd name="T1" fmla="*/ 0 h 12"/>
                  <a:gd name="T2" fmla="*/ 9 w 89"/>
                  <a:gd name="T3" fmla="*/ 0 h 12"/>
                  <a:gd name="T4" fmla="*/ 0 w 89"/>
                  <a:gd name="T5" fmla="*/ 6 h 12"/>
                  <a:gd name="T6" fmla="*/ 9 w 89"/>
                  <a:gd name="T7" fmla="*/ 12 h 12"/>
                  <a:gd name="T8" fmla="*/ 80 w 89"/>
                  <a:gd name="T9" fmla="*/ 12 h 12"/>
                  <a:gd name="T10" fmla="*/ 89 w 89"/>
                  <a:gd name="T11" fmla="*/ 6 h 12"/>
                  <a:gd name="T12" fmla="*/ 80 w 89"/>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0" y="0"/>
                    </a:moveTo>
                    <a:cubicBezTo>
                      <a:pt x="9" y="0"/>
                      <a:pt x="9" y="0"/>
                      <a:pt x="9" y="0"/>
                    </a:cubicBezTo>
                    <a:cubicBezTo>
                      <a:pt x="4" y="0"/>
                      <a:pt x="0" y="2"/>
                      <a:pt x="0" y="6"/>
                    </a:cubicBezTo>
                    <a:cubicBezTo>
                      <a:pt x="0" y="9"/>
                      <a:pt x="4" y="12"/>
                      <a:pt x="9" y="12"/>
                    </a:cubicBezTo>
                    <a:cubicBezTo>
                      <a:pt x="80" y="12"/>
                      <a:pt x="80" y="12"/>
                      <a:pt x="80" y="12"/>
                    </a:cubicBezTo>
                    <a:cubicBezTo>
                      <a:pt x="85" y="12"/>
                      <a:pt x="89" y="9"/>
                      <a:pt x="89" y="6"/>
                    </a:cubicBezTo>
                    <a:cubicBezTo>
                      <a:pt x="89" y="2"/>
                      <a:pt x="85" y="0"/>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19"/>
              <p:cNvSpPr>
                <a:spLocks/>
              </p:cNvSpPr>
              <p:nvPr/>
            </p:nvSpPr>
            <p:spPr bwMode="auto">
              <a:xfrm>
                <a:off x="2965450" y="1127125"/>
                <a:ext cx="255587" cy="33338"/>
              </a:xfrm>
              <a:custGeom>
                <a:avLst/>
                <a:gdLst>
                  <a:gd name="T0" fmla="*/ 80 w 89"/>
                  <a:gd name="T1" fmla="*/ 0 h 12"/>
                  <a:gd name="T2" fmla="*/ 9 w 89"/>
                  <a:gd name="T3" fmla="*/ 0 h 12"/>
                  <a:gd name="T4" fmla="*/ 0 w 89"/>
                  <a:gd name="T5" fmla="*/ 6 h 12"/>
                  <a:gd name="T6" fmla="*/ 9 w 89"/>
                  <a:gd name="T7" fmla="*/ 12 h 12"/>
                  <a:gd name="T8" fmla="*/ 80 w 89"/>
                  <a:gd name="T9" fmla="*/ 12 h 12"/>
                  <a:gd name="T10" fmla="*/ 89 w 89"/>
                  <a:gd name="T11" fmla="*/ 6 h 12"/>
                  <a:gd name="T12" fmla="*/ 80 w 89"/>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0" y="0"/>
                    </a:moveTo>
                    <a:cubicBezTo>
                      <a:pt x="9" y="0"/>
                      <a:pt x="9" y="0"/>
                      <a:pt x="9" y="0"/>
                    </a:cubicBezTo>
                    <a:cubicBezTo>
                      <a:pt x="4" y="0"/>
                      <a:pt x="0" y="3"/>
                      <a:pt x="0" y="6"/>
                    </a:cubicBezTo>
                    <a:cubicBezTo>
                      <a:pt x="0" y="10"/>
                      <a:pt x="4" y="12"/>
                      <a:pt x="9" y="12"/>
                    </a:cubicBezTo>
                    <a:cubicBezTo>
                      <a:pt x="80" y="12"/>
                      <a:pt x="80" y="12"/>
                      <a:pt x="80" y="12"/>
                    </a:cubicBezTo>
                    <a:cubicBezTo>
                      <a:pt x="85" y="12"/>
                      <a:pt x="89" y="10"/>
                      <a:pt x="89" y="6"/>
                    </a:cubicBezTo>
                    <a:cubicBezTo>
                      <a:pt x="89" y="3"/>
                      <a:pt x="85" y="0"/>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0"/>
              <p:cNvSpPr>
                <a:spLocks/>
              </p:cNvSpPr>
              <p:nvPr/>
            </p:nvSpPr>
            <p:spPr bwMode="auto">
              <a:xfrm>
                <a:off x="3049588" y="836613"/>
                <a:ext cx="22225" cy="120650"/>
              </a:xfrm>
              <a:custGeom>
                <a:avLst/>
                <a:gdLst>
                  <a:gd name="T0" fmla="*/ 0 w 8"/>
                  <a:gd name="T1" fmla="*/ 38 h 42"/>
                  <a:gd name="T2" fmla="*/ 3 w 8"/>
                  <a:gd name="T3" fmla="*/ 42 h 42"/>
                  <a:gd name="T4" fmla="*/ 5 w 8"/>
                  <a:gd name="T5" fmla="*/ 42 h 42"/>
                  <a:gd name="T6" fmla="*/ 8 w 8"/>
                  <a:gd name="T7" fmla="*/ 38 h 42"/>
                  <a:gd name="T8" fmla="*/ 8 w 8"/>
                  <a:gd name="T9" fmla="*/ 2 h 42"/>
                  <a:gd name="T10" fmla="*/ 7 w 8"/>
                  <a:gd name="T11" fmla="*/ 0 h 42"/>
                  <a:gd name="T12" fmla="*/ 0 w 8"/>
                  <a:gd name="T13" fmla="*/ 5 h 42"/>
                  <a:gd name="T14" fmla="*/ 0 w 8"/>
                  <a:gd name="T15" fmla="*/ 38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42">
                    <a:moveTo>
                      <a:pt x="0" y="38"/>
                    </a:moveTo>
                    <a:cubicBezTo>
                      <a:pt x="0" y="40"/>
                      <a:pt x="1" y="42"/>
                      <a:pt x="3" y="42"/>
                    </a:cubicBezTo>
                    <a:cubicBezTo>
                      <a:pt x="5" y="42"/>
                      <a:pt x="5" y="42"/>
                      <a:pt x="5" y="42"/>
                    </a:cubicBezTo>
                    <a:cubicBezTo>
                      <a:pt x="7" y="42"/>
                      <a:pt x="8" y="40"/>
                      <a:pt x="8" y="38"/>
                    </a:cubicBezTo>
                    <a:cubicBezTo>
                      <a:pt x="8" y="2"/>
                      <a:pt x="8" y="2"/>
                      <a:pt x="8" y="2"/>
                    </a:cubicBezTo>
                    <a:cubicBezTo>
                      <a:pt x="8" y="2"/>
                      <a:pt x="7" y="1"/>
                      <a:pt x="7" y="0"/>
                    </a:cubicBezTo>
                    <a:cubicBezTo>
                      <a:pt x="6" y="1"/>
                      <a:pt x="3" y="3"/>
                      <a:pt x="0" y="5"/>
                    </a:cubicBezTo>
                    <a:lnTo>
                      <a:pt x="0"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1"/>
              <p:cNvSpPr>
                <a:spLocks/>
              </p:cNvSpPr>
              <p:nvPr/>
            </p:nvSpPr>
            <p:spPr bwMode="auto">
              <a:xfrm>
                <a:off x="2754313" y="992188"/>
                <a:ext cx="142875" cy="33338"/>
              </a:xfrm>
              <a:custGeom>
                <a:avLst/>
                <a:gdLst>
                  <a:gd name="T0" fmla="*/ 0 w 50"/>
                  <a:gd name="T1" fmla="*/ 12 h 12"/>
                  <a:gd name="T2" fmla="*/ 44 w 50"/>
                  <a:gd name="T3" fmla="*/ 12 h 12"/>
                  <a:gd name="T4" fmla="*/ 50 w 50"/>
                  <a:gd name="T5" fmla="*/ 6 h 12"/>
                  <a:gd name="T6" fmla="*/ 44 w 50"/>
                  <a:gd name="T7" fmla="*/ 0 h 12"/>
                  <a:gd name="T8" fmla="*/ 10 w 50"/>
                  <a:gd name="T9" fmla="*/ 0 h 12"/>
                  <a:gd name="T10" fmla="*/ 0 w 50"/>
                  <a:gd name="T11" fmla="*/ 12 h 12"/>
                </a:gdLst>
                <a:ahLst/>
                <a:cxnLst>
                  <a:cxn ang="0">
                    <a:pos x="T0" y="T1"/>
                  </a:cxn>
                  <a:cxn ang="0">
                    <a:pos x="T2" y="T3"/>
                  </a:cxn>
                  <a:cxn ang="0">
                    <a:pos x="T4" y="T5"/>
                  </a:cxn>
                  <a:cxn ang="0">
                    <a:pos x="T6" y="T7"/>
                  </a:cxn>
                  <a:cxn ang="0">
                    <a:pos x="T8" y="T9"/>
                  </a:cxn>
                  <a:cxn ang="0">
                    <a:pos x="T10" y="T11"/>
                  </a:cxn>
                </a:cxnLst>
                <a:rect l="0" t="0" r="r" b="b"/>
                <a:pathLst>
                  <a:path w="50" h="12">
                    <a:moveTo>
                      <a:pt x="0" y="12"/>
                    </a:moveTo>
                    <a:cubicBezTo>
                      <a:pt x="44" y="12"/>
                      <a:pt x="44" y="12"/>
                      <a:pt x="44" y="12"/>
                    </a:cubicBezTo>
                    <a:cubicBezTo>
                      <a:pt x="48" y="12"/>
                      <a:pt x="50" y="9"/>
                      <a:pt x="50" y="6"/>
                    </a:cubicBezTo>
                    <a:cubicBezTo>
                      <a:pt x="50" y="3"/>
                      <a:pt x="48" y="0"/>
                      <a:pt x="44" y="0"/>
                    </a:cubicBezTo>
                    <a:cubicBezTo>
                      <a:pt x="10" y="0"/>
                      <a:pt x="10" y="0"/>
                      <a:pt x="10" y="0"/>
                    </a:cubicBezTo>
                    <a:cubicBezTo>
                      <a:pt x="7" y="4"/>
                      <a:pt x="3"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2"/>
              <p:cNvSpPr>
                <a:spLocks/>
              </p:cNvSpPr>
              <p:nvPr/>
            </p:nvSpPr>
            <p:spPr bwMode="auto">
              <a:xfrm>
                <a:off x="3086100" y="871538"/>
                <a:ext cx="20637" cy="85725"/>
              </a:xfrm>
              <a:custGeom>
                <a:avLst/>
                <a:gdLst>
                  <a:gd name="T0" fmla="*/ 0 w 7"/>
                  <a:gd name="T1" fmla="*/ 1 h 30"/>
                  <a:gd name="T2" fmla="*/ 0 w 7"/>
                  <a:gd name="T3" fmla="*/ 0 h 30"/>
                  <a:gd name="T4" fmla="*/ 0 w 7"/>
                  <a:gd name="T5" fmla="*/ 0 h 30"/>
                  <a:gd name="T6" fmla="*/ 0 w 7"/>
                  <a:gd name="T7" fmla="*/ 27 h 30"/>
                  <a:gd name="T8" fmla="*/ 2 w 7"/>
                  <a:gd name="T9" fmla="*/ 30 h 30"/>
                  <a:gd name="T10" fmla="*/ 5 w 7"/>
                  <a:gd name="T11" fmla="*/ 30 h 30"/>
                  <a:gd name="T12" fmla="*/ 7 w 7"/>
                  <a:gd name="T13" fmla="*/ 27 h 30"/>
                  <a:gd name="T14" fmla="*/ 7 w 7"/>
                  <a:gd name="T15" fmla="*/ 0 h 30"/>
                  <a:gd name="T16" fmla="*/ 7 w 7"/>
                  <a:gd name="T17" fmla="*/ 0 h 30"/>
                  <a:gd name="T18" fmla="*/ 3 w 7"/>
                  <a:gd name="T19" fmla="*/ 3 h 30"/>
                  <a:gd name="T20" fmla="*/ 0 w 7"/>
                  <a:gd name="T21"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30">
                    <a:moveTo>
                      <a:pt x="0" y="1"/>
                    </a:moveTo>
                    <a:cubicBezTo>
                      <a:pt x="0" y="1"/>
                      <a:pt x="0" y="1"/>
                      <a:pt x="0" y="0"/>
                    </a:cubicBezTo>
                    <a:cubicBezTo>
                      <a:pt x="0" y="0"/>
                      <a:pt x="0" y="0"/>
                      <a:pt x="0" y="0"/>
                    </a:cubicBezTo>
                    <a:cubicBezTo>
                      <a:pt x="0" y="27"/>
                      <a:pt x="0" y="27"/>
                      <a:pt x="0" y="27"/>
                    </a:cubicBezTo>
                    <a:cubicBezTo>
                      <a:pt x="0" y="28"/>
                      <a:pt x="1" y="30"/>
                      <a:pt x="2" y="30"/>
                    </a:cubicBezTo>
                    <a:cubicBezTo>
                      <a:pt x="5" y="30"/>
                      <a:pt x="5" y="30"/>
                      <a:pt x="5" y="30"/>
                    </a:cubicBezTo>
                    <a:cubicBezTo>
                      <a:pt x="6" y="30"/>
                      <a:pt x="7" y="28"/>
                      <a:pt x="7" y="27"/>
                    </a:cubicBezTo>
                    <a:cubicBezTo>
                      <a:pt x="7" y="0"/>
                      <a:pt x="7" y="0"/>
                      <a:pt x="7" y="0"/>
                    </a:cubicBezTo>
                    <a:cubicBezTo>
                      <a:pt x="7" y="0"/>
                      <a:pt x="7" y="0"/>
                      <a:pt x="7" y="0"/>
                    </a:cubicBezTo>
                    <a:cubicBezTo>
                      <a:pt x="5" y="1"/>
                      <a:pt x="3" y="3"/>
                      <a:pt x="3" y="3"/>
                    </a:cubicBezTo>
                    <a:cubicBezTo>
                      <a:pt x="2" y="3"/>
                      <a:pt x="1"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3"/>
              <p:cNvSpPr>
                <a:spLocks/>
              </p:cNvSpPr>
              <p:nvPr/>
            </p:nvSpPr>
            <p:spPr bwMode="auto">
              <a:xfrm>
                <a:off x="3011488" y="863600"/>
                <a:ext cx="23812" cy="93663"/>
              </a:xfrm>
              <a:custGeom>
                <a:avLst/>
                <a:gdLst>
                  <a:gd name="T0" fmla="*/ 0 w 8"/>
                  <a:gd name="T1" fmla="*/ 30 h 33"/>
                  <a:gd name="T2" fmla="*/ 3 w 8"/>
                  <a:gd name="T3" fmla="*/ 33 h 33"/>
                  <a:gd name="T4" fmla="*/ 6 w 8"/>
                  <a:gd name="T5" fmla="*/ 33 h 33"/>
                  <a:gd name="T6" fmla="*/ 8 w 8"/>
                  <a:gd name="T7" fmla="*/ 30 h 33"/>
                  <a:gd name="T8" fmla="*/ 8 w 8"/>
                  <a:gd name="T9" fmla="*/ 2 h 33"/>
                  <a:gd name="T10" fmla="*/ 8 w 8"/>
                  <a:gd name="T11" fmla="*/ 0 h 33"/>
                  <a:gd name="T12" fmla="*/ 0 w 8"/>
                  <a:gd name="T13" fmla="*/ 5 h 33"/>
                  <a:gd name="T14" fmla="*/ 0 w 8"/>
                  <a:gd name="T15" fmla="*/ 3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33">
                    <a:moveTo>
                      <a:pt x="0" y="30"/>
                    </a:moveTo>
                    <a:cubicBezTo>
                      <a:pt x="0" y="31"/>
                      <a:pt x="2" y="33"/>
                      <a:pt x="3" y="33"/>
                    </a:cubicBezTo>
                    <a:cubicBezTo>
                      <a:pt x="6" y="33"/>
                      <a:pt x="6" y="33"/>
                      <a:pt x="6" y="33"/>
                    </a:cubicBezTo>
                    <a:cubicBezTo>
                      <a:pt x="7" y="33"/>
                      <a:pt x="8" y="31"/>
                      <a:pt x="8" y="30"/>
                    </a:cubicBezTo>
                    <a:cubicBezTo>
                      <a:pt x="8" y="2"/>
                      <a:pt x="8" y="2"/>
                      <a:pt x="8" y="2"/>
                    </a:cubicBezTo>
                    <a:cubicBezTo>
                      <a:pt x="8" y="1"/>
                      <a:pt x="8" y="1"/>
                      <a:pt x="8" y="0"/>
                    </a:cubicBezTo>
                    <a:cubicBezTo>
                      <a:pt x="5" y="2"/>
                      <a:pt x="3" y="4"/>
                      <a:pt x="0" y="5"/>
                    </a:cubicBezTo>
                    <a:lnTo>
                      <a:pt x="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
              <p:cNvSpPr>
                <a:spLocks/>
              </p:cNvSpPr>
              <p:nvPr/>
            </p:nvSpPr>
            <p:spPr bwMode="auto">
              <a:xfrm>
                <a:off x="3157538" y="820738"/>
                <a:ext cx="22225" cy="136525"/>
              </a:xfrm>
              <a:custGeom>
                <a:avLst/>
                <a:gdLst>
                  <a:gd name="T0" fmla="*/ 0 w 8"/>
                  <a:gd name="T1" fmla="*/ 43 h 48"/>
                  <a:gd name="T2" fmla="*/ 3 w 8"/>
                  <a:gd name="T3" fmla="*/ 48 h 48"/>
                  <a:gd name="T4" fmla="*/ 5 w 8"/>
                  <a:gd name="T5" fmla="*/ 48 h 48"/>
                  <a:gd name="T6" fmla="*/ 8 w 8"/>
                  <a:gd name="T7" fmla="*/ 43 h 48"/>
                  <a:gd name="T8" fmla="*/ 8 w 8"/>
                  <a:gd name="T9" fmla="*/ 3 h 48"/>
                  <a:gd name="T10" fmla="*/ 7 w 8"/>
                  <a:gd name="T11" fmla="*/ 0 h 48"/>
                  <a:gd name="T12" fmla="*/ 0 w 8"/>
                  <a:gd name="T13" fmla="*/ 5 h 48"/>
                  <a:gd name="T14" fmla="*/ 0 w 8"/>
                  <a:gd name="T15" fmla="*/ 43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48">
                    <a:moveTo>
                      <a:pt x="0" y="43"/>
                    </a:moveTo>
                    <a:cubicBezTo>
                      <a:pt x="0" y="46"/>
                      <a:pt x="1" y="48"/>
                      <a:pt x="3" y="48"/>
                    </a:cubicBezTo>
                    <a:cubicBezTo>
                      <a:pt x="5" y="48"/>
                      <a:pt x="5" y="48"/>
                      <a:pt x="5" y="48"/>
                    </a:cubicBezTo>
                    <a:cubicBezTo>
                      <a:pt x="7" y="48"/>
                      <a:pt x="8" y="46"/>
                      <a:pt x="8" y="43"/>
                    </a:cubicBezTo>
                    <a:cubicBezTo>
                      <a:pt x="8" y="3"/>
                      <a:pt x="8" y="3"/>
                      <a:pt x="8" y="3"/>
                    </a:cubicBezTo>
                    <a:cubicBezTo>
                      <a:pt x="8" y="2"/>
                      <a:pt x="8" y="1"/>
                      <a:pt x="7" y="0"/>
                    </a:cubicBezTo>
                    <a:cubicBezTo>
                      <a:pt x="5" y="1"/>
                      <a:pt x="3" y="3"/>
                      <a:pt x="0" y="5"/>
                    </a:cubicBezTo>
                    <a:lnTo>
                      <a:pt x="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5"/>
              <p:cNvSpPr>
                <a:spLocks/>
              </p:cNvSpPr>
              <p:nvPr/>
            </p:nvSpPr>
            <p:spPr bwMode="auto">
              <a:xfrm>
                <a:off x="3122613" y="846138"/>
                <a:ext cx="20637" cy="111125"/>
              </a:xfrm>
              <a:custGeom>
                <a:avLst/>
                <a:gdLst>
                  <a:gd name="T0" fmla="*/ 0 w 7"/>
                  <a:gd name="T1" fmla="*/ 35 h 39"/>
                  <a:gd name="T2" fmla="*/ 2 w 7"/>
                  <a:gd name="T3" fmla="*/ 39 h 39"/>
                  <a:gd name="T4" fmla="*/ 5 w 7"/>
                  <a:gd name="T5" fmla="*/ 39 h 39"/>
                  <a:gd name="T6" fmla="*/ 7 w 7"/>
                  <a:gd name="T7" fmla="*/ 35 h 39"/>
                  <a:gd name="T8" fmla="*/ 7 w 7"/>
                  <a:gd name="T9" fmla="*/ 2 h 39"/>
                  <a:gd name="T10" fmla="*/ 7 w 7"/>
                  <a:gd name="T11" fmla="*/ 0 h 39"/>
                  <a:gd name="T12" fmla="*/ 0 w 7"/>
                  <a:gd name="T13" fmla="*/ 5 h 39"/>
                  <a:gd name="T14" fmla="*/ 0 w 7"/>
                  <a:gd name="T15" fmla="*/ 35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39">
                    <a:moveTo>
                      <a:pt x="0" y="35"/>
                    </a:moveTo>
                    <a:cubicBezTo>
                      <a:pt x="0" y="37"/>
                      <a:pt x="1" y="39"/>
                      <a:pt x="2" y="39"/>
                    </a:cubicBezTo>
                    <a:cubicBezTo>
                      <a:pt x="5" y="39"/>
                      <a:pt x="5" y="39"/>
                      <a:pt x="5" y="39"/>
                    </a:cubicBezTo>
                    <a:cubicBezTo>
                      <a:pt x="6" y="39"/>
                      <a:pt x="7" y="37"/>
                      <a:pt x="7" y="35"/>
                    </a:cubicBezTo>
                    <a:cubicBezTo>
                      <a:pt x="7" y="2"/>
                      <a:pt x="7" y="2"/>
                      <a:pt x="7" y="2"/>
                    </a:cubicBezTo>
                    <a:cubicBezTo>
                      <a:pt x="7" y="1"/>
                      <a:pt x="7" y="1"/>
                      <a:pt x="7" y="0"/>
                    </a:cubicBezTo>
                    <a:cubicBezTo>
                      <a:pt x="4" y="2"/>
                      <a:pt x="2" y="3"/>
                      <a:pt x="0" y="5"/>
                    </a:cubicBez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 name="Content Placeholder 2">
              <a:extLst>
                <a:ext uri="{FF2B5EF4-FFF2-40B4-BE49-F238E27FC236}">
                  <a16:creationId xmlns:a16="http://schemas.microsoft.com/office/drawing/2014/main" xmlns="" id="{CA4541C4-B83D-4AE7-9FDD-D33FB3170993}"/>
                </a:ext>
              </a:extLst>
            </p:cNvPr>
            <p:cNvSpPr txBox="1">
              <a:spLocks/>
            </p:cNvSpPr>
            <p:nvPr/>
          </p:nvSpPr>
          <p:spPr>
            <a:xfrm>
              <a:off x="8165013" y="4542991"/>
              <a:ext cx="2841479" cy="130682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b="1" dirty="0">
                  <a:solidFill>
                    <a:srgbClr val="F4BC53"/>
                  </a:solidFill>
                </a:rPr>
                <a:t>Present’s </a:t>
              </a:r>
              <a:r>
                <a:rPr lang="en-US" sz="1600" dirty="0"/>
                <a:t>sales team will identify key decision makers, selling through cross-state purchasing consortiums and directly to high-value school districts.</a:t>
              </a:r>
            </a:p>
          </p:txBody>
        </p:sp>
      </p:grpSp>
    </p:spTree>
    <p:extLst>
      <p:ext uri="{BB962C8B-B14F-4D97-AF65-F5344CB8AC3E}">
        <p14:creationId xmlns:p14="http://schemas.microsoft.com/office/powerpoint/2010/main" val="95319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xmlns="" id="{178C5919-4221-446C-A25E-20778C8A4E80}"/>
              </a:ext>
            </a:extLst>
          </p:cNvPr>
          <p:cNvSpPr/>
          <p:nvPr/>
        </p:nvSpPr>
        <p:spPr>
          <a:xfrm>
            <a:off x="1" y="375127"/>
            <a:ext cx="6071666"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
        <p:nvSpPr>
          <p:cNvPr id="2" name="Title 1">
            <a:extLst>
              <a:ext uri="{FF2B5EF4-FFF2-40B4-BE49-F238E27FC236}">
                <a16:creationId xmlns:a16="http://schemas.microsoft.com/office/drawing/2014/main" xmlns="" id="{FA366C83-5684-4C6A-B418-A5147B2CD069}"/>
              </a:ext>
            </a:extLst>
          </p:cNvPr>
          <p:cNvSpPr>
            <a:spLocks noGrp="1"/>
          </p:cNvSpPr>
          <p:nvPr>
            <p:ph type="title"/>
          </p:nvPr>
        </p:nvSpPr>
        <p:spPr/>
        <p:txBody>
          <a:bodyPr/>
          <a:lstStyle/>
          <a:p>
            <a:r>
              <a:rPr lang="en-US" dirty="0">
                <a:latin typeface="Century Gothic"/>
                <a:cs typeface="Century Gothic"/>
              </a:rPr>
              <a:t>Competitors</a:t>
            </a:r>
          </a:p>
        </p:txBody>
      </p:sp>
      <p:cxnSp>
        <p:nvCxnSpPr>
          <p:cNvPr id="49" name="Straight Arrow Connector 48">
            <a:extLst>
              <a:ext uri="{FF2B5EF4-FFF2-40B4-BE49-F238E27FC236}">
                <a16:creationId xmlns:a16="http://schemas.microsoft.com/office/drawing/2014/main" xmlns="" id="{9071F351-664B-46DF-A863-0796A4D94A52}"/>
              </a:ext>
            </a:extLst>
          </p:cNvPr>
          <p:cNvCxnSpPr>
            <a:cxnSpLocks/>
          </p:cNvCxnSpPr>
          <p:nvPr/>
        </p:nvCxnSpPr>
        <p:spPr>
          <a:xfrm>
            <a:off x="5873618" y="1576615"/>
            <a:ext cx="0" cy="4160511"/>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xmlns="" id="{3A9FA965-1E7B-457B-B453-5D42D7044522}"/>
              </a:ext>
            </a:extLst>
          </p:cNvPr>
          <p:cNvCxnSpPr>
            <a:cxnSpLocks/>
          </p:cNvCxnSpPr>
          <p:nvPr/>
        </p:nvCxnSpPr>
        <p:spPr>
          <a:xfrm flipH="1">
            <a:off x="383182" y="3446267"/>
            <a:ext cx="10980873" cy="0"/>
          </a:xfrm>
          <a:prstGeom prst="straightConnector1">
            <a:avLst/>
          </a:prstGeom>
          <a:ln>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xmlns="" id="{AD62D751-B33B-4A4B-A2D7-29A7A27D3983}"/>
              </a:ext>
            </a:extLst>
          </p:cNvPr>
          <p:cNvSpPr txBox="1"/>
          <p:nvPr/>
        </p:nvSpPr>
        <p:spPr>
          <a:xfrm>
            <a:off x="5169364" y="1221781"/>
            <a:ext cx="1366442" cy="369332"/>
          </a:xfrm>
          <a:prstGeom prst="rect">
            <a:avLst/>
          </a:prstGeom>
          <a:noFill/>
        </p:spPr>
        <p:txBody>
          <a:bodyPr wrap="none" rtlCol="0">
            <a:spAutoFit/>
          </a:bodyPr>
          <a:lstStyle/>
          <a:p>
            <a:r>
              <a:rPr lang="en-US" b="1" dirty="0">
                <a:solidFill>
                  <a:srgbClr val="04465F"/>
                </a:solidFill>
                <a:latin typeface="Century Gothic"/>
                <a:cs typeface="Century Gothic"/>
              </a:rPr>
              <a:t>Affordable</a:t>
            </a:r>
          </a:p>
        </p:txBody>
      </p:sp>
      <p:sp>
        <p:nvSpPr>
          <p:cNvPr id="54" name="TextBox 53">
            <a:extLst>
              <a:ext uri="{FF2B5EF4-FFF2-40B4-BE49-F238E27FC236}">
                <a16:creationId xmlns:a16="http://schemas.microsoft.com/office/drawing/2014/main" xmlns="" id="{267A4F1D-590E-4EFB-ACEA-3A8C2FFD9F4D}"/>
              </a:ext>
            </a:extLst>
          </p:cNvPr>
          <p:cNvSpPr txBox="1"/>
          <p:nvPr/>
        </p:nvSpPr>
        <p:spPr>
          <a:xfrm>
            <a:off x="5235022" y="5743524"/>
            <a:ext cx="1306593" cy="369332"/>
          </a:xfrm>
          <a:prstGeom prst="rect">
            <a:avLst/>
          </a:prstGeom>
          <a:noFill/>
        </p:spPr>
        <p:txBody>
          <a:bodyPr wrap="none" rtlCol="0">
            <a:spAutoFit/>
          </a:bodyPr>
          <a:lstStyle/>
          <a:p>
            <a:r>
              <a:rPr lang="en-US" b="1" dirty="0">
                <a:solidFill>
                  <a:srgbClr val="04465F"/>
                </a:solidFill>
                <a:latin typeface="Century Gothic"/>
                <a:cs typeface="Century Gothic"/>
              </a:rPr>
              <a:t>Expensive</a:t>
            </a:r>
          </a:p>
        </p:txBody>
      </p:sp>
      <p:sp>
        <p:nvSpPr>
          <p:cNvPr id="55" name="TextBox 54">
            <a:extLst>
              <a:ext uri="{FF2B5EF4-FFF2-40B4-BE49-F238E27FC236}">
                <a16:creationId xmlns:a16="http://schemas.microsoft.com/office/drawing/2014/main" xmlns="" id="{A6C596B6-33A0-4DED-B7B5-ECEFC7BD8815}"/>
              </a:ext>
            </a:extLst>
          </p:cNvPr>
          <p:cNvSpPr txBox="1"/>
          <p:nvPr/>
        </p:nvSpPr>
        <p:spPr>
          <a:xfrm>
            <a:off x="9043642" y="3053534"/>
            <a:ext cx="2322120" cy="369332"/>
          </a:xfrm>
          <a:prstGeom prst="rect">
            <a:avLst/>
          </a:prstGeom>
          <a:noFill/>
        </p:spPr>
        <p:txBody>
          <a:bodyPr wrap="none" rtlCol="0">
            <a:spAutoFit/>
          </a:bodyPr>
          <a:lstStyle/>
          <a:p>
            <a:r>
              <a:rPr lang="en-US" b="1" dirty="0">
                <a:solidFill>
                  <a:srgbClr val="04465F"/>
                </a:solidFill>
                <a:latin typeface="Century Gothic"/>
                <a:cs typeface="Century Gothic"/>
              </a:rPr>
              <a:t>Addresses Problem</a:t>
            </a:r>
          </a:p>
        </p:txBody>
      </p:sp>
      <p:sp>
        <p:nvSpPr>
          <p:cNvPr id="56" name="TextBox 55">
            <a:extLst>
              <a:ext uri="{FF2B5EF4-FFF2-40B4-BE49-F238E27FC236}">
                <a16:creationId xmlns:a16="http://schemas.microsoft.com/office/drawing/2014/main" xmlns="" id="{EDEDD490-6ED6-48B2-AA79-729E84C09B9D}"/>
              </a:ext>
            </a:extLst>
          </p:cNvPr>
          <p:cNvSpPr txBox="1"/>
          <p:nvPr/>
        </p:nvSpPr>
        <p:spPr>
          <a:xfrm>
            <a:off x="471660" y="3075431"/>
            <a:ext cx="2317612" cy="369332"/>
          </a:xfrm>
          <a:prstGeom prst="rect">
            <a:avLst/>
          </a:prstGeom>
          <a:noFill/>
        </p:spPr>
        <p:txBody>
          <a:bodyPr wrap="none" rtlCol="0">
            <a:spAutoFit/>
          </a:bodyPr>
          <a:lstStyle/>
          <a:p>
            <a:r>
              <a:rPr lang="en-US" b="1" dirty="0">
                <a:solidFill>
                  <a:srgbClr val="04465F"/>
                </a:solidFill>
                <a:latin typeface="Century Gothic"/>
                <a:cs typeface="Century Gothic"/>
              </a:rPr>
              <a:t>Lacks Key Features</a:t>
            </a:r>
          </a:p>
        </p:txBody>
      </p:sp>
      <p:pic>
        <p:nvPicPr>
          <p:cNvPr id="60" name="Picture 59">
            <a:extLst>
              <a:ext uri="{FF2B5EF4-FFF2-40B4-BE49-F238E27FC236}">
                <a16:creationId xmlns:a16="http://schemas.microsoft.com/office/drawing/2014/main" xmlns="" id="{56B57C93-D4ED-4CCD-A12E-9E060368C2D0}"/>
              </a:ext>
            </a:extLst>
          </p:cNvPr>
          <p:cNvPicPr>
            <a:picLocks noChangeAspect="1"/>
          </p:cNvPicPr>
          <p:nvPr/>
        </p:nvPicPr>
        <p:blipFill rotWithShape="1">
          <a:blip r:embed="rId3">
            <a:extLst>
              <a:ext uri="{28A0092B-C50C-407E-A947-70E740481C1C}">
                <a14:useLocalDpi xmlns:a14="http://schemas.microsoft.com/office/drawing/2010/main" val="0"/>
              </a:ext>
            </a:extLst>
          </a:blip>
          <a:srcRect l="20075" t="27590" r="16952" b="35925"/>
          <a:stretch/>
        </p:blipFill>
        <p:spPr>
          <a:xfrm>
            <a:off x="3472662" y="1632814"/>
            <a:ext cx="1069601" cy="348420"/>
          </a:xfrm>
          <a:prstGeom prst="rect">
            <a:avLst/>
          </a:prstGeom>
        </p:spPr>
      </p:pic>
      <p:pic>
        <p:nvPicPr>
          <p:cNvPr id="61" name="Picture 60">
            <a:extLst>
              <a:ext uri="{FF2B5EF4-FFF2-40B4-BE49-F238E27FC236}">
                <a16:creationId xmlns:a16="http://schemas.microsoft.com/office/drawing/2014/main" xmlns="" id="{3D130DAC-9D65-42BA-B854-99583DA2CB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8240" y="3087700"/>
            <a:ext cx="872345" cy="222016"/>
          </a:xfrm>
          <a:prstGeom prst="rect">
            <a:avLst/>
          </a:prstGeom>
        </p:spPr>
      </p:pic>
      <p:pic>
        <p:nvPicPr>
          <p:cNvPr id="62" name="Picture 61">
            <a:extLst>
              <a:ext uri="{FF2B5EF4-FFF2-40B4-BE49-F238E27FC236}">
                <a16:creationId xmlns:a16="http://schemas.microsoft.com/office/drawing/2014/main" xmlns="" id="{C85FD9B5-F806-487E-91BF-5FDD65122A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79367" y="2402295"/>
            <a:ext cx="968498" cy="328079"/>
          </a:xfrm>
          <a:prstGeom prst="rect">
            <a:avLst/>
          </a:prstGeom>
        </p:spPr>
      </p:pic>
      <p:pic>
        <p:nvPicPr>
          <p:cNvPr id="63" name="Picture 62">
            <a:extLst>
              <a:ext uri="{FF2B5EF4-FFF2-40B4-BE49-F238E27FC236}">
                <a16:creationId xmlns:a16="http://schemas.microsoft.com/office/drawing/2014/main" xmlns="" id="{EF94F695-1A56-43DD-B10F-E2BE15F2FAFA}"/>
              </a:ext>
            </a:extLst>
          </p:cNvPr>
          <p:cNvPicPr>
            <a:picLocks noChangeAspect="1"/>
          </p:cNvPicPr>
          <p:nvPr/>
        </p:nvPicPr>
        <p:blipFill rotWithShape="1">
          <a:blip r:embed="rId6">
            <a:extLst>
              <a:ext uri="{28A0092B-C50C-407E-A947-70E740481C1C}">
                <a14:useLocalDpi xmlns:a14="http://schemas.microsoft.com/office/drawing/2010/main" val="0"/>
              </a:ext>
            </a:extLst>
          </a:blip>
          <a:srcRect l="10482" t="16305" r="15143" b="19445"/>
          <a:stretch/>
        </p:blipFill>
        <p:spPr>
          <a:xfrm>
            <a:off x="6027569" y="4458206"/>
            <a:ext cx="879894" cy="399056"/>
          </a:xfrm>
          <a:prstGeom prst="rect">
            <a:avLst/>
          </a:prstGeom>
        </p:spPr>
      </p:pic>
      <p:pic>
        <p:nvPicPr>
          <p:cNvPr id="64" name="Picture 63">
            <a:extLst>
              <a:ext uri="{FF2B5EF4-FFF2-40B4-BE49-F238E27FC236}">
                <a16:creationId xmlns:a16="http://schemas.microsoft.com/office/drawing/2014/main" xmlns="" id="{5A56803E-587F-4AC8-8B55-89C80DE636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46863" y="3026902"/>
            <a:ext cx="1616659" cy="271239"/>
          </a:xfrm>
          <a:prstGeom prst="rect">
            <a:avLst/>
          </a:prstGeom>
        </p:spPr>
      </p:pic>
      <p:pic>
        <p:nvPicPr>
          <p:cNvPr id="65" name="Picture 64">
            <a:extLst>
              <a:ext uri="{FF2B5EF4-FFF2-40B4-BE49-F238E27FC236}">
                <a16:creationId xmlns:a16="http://schemas.microsoft.com/office/drawing/2014/main" xmlns="" id="{A4F60CB2-DAE7-4B1E-B151-80934939C33A}"/>
              </a:ext>
            </a:extLst>
          </p:cNvPr>
          <p:cNvPicPr>
            <a:picLocks noChangeAspect="1"/>
          </p:cNvPicPr>
          <p:nvPr/>
        </p:nvPicPr>
        <p:blipFill rotWithShape="1">
          <a:blip r:embed="rId8">
            <a:extLst>
              <a:ext uri="{28A0092B-C50C-407E-A947-70E740481C1C}">
                <a14:useLocalDpi xmlns:a14="http://schemas.microsoft.com/office/drawing/2010/main" val="0"/>
              </a:ext>
            </a:extLst>
          </a:blip>
          <a:srcRect t="41277" b="34337"/>
          <a:stretch/>
        </p:blipFill>
        <p:spPr>
          <a:xfrm>
            <a:off x="1682262" y="2349508"/>
            <a:ext cx="1317686" cy="321331"/>
          </a:xfrm>
          <a:prstGeom prst="rect">
            <a:avLst/>
          </a:prstGeom>
        </p:spPr>
      </p:pic>
      <p:pic>
        <p:nvPicPr>
          <p:cNvPr id="67" name="Picture 66">
            <a:extLst>
              <a:ext uri="{FF2B5EF4-FFF2-40B4-BE49-F238E27FC236}">
                <a16:creationId xmlns:a16="http://schemas.microsoft.com/office/drawing/2014/main" xmlns="" id="{604513D3-C388-4166-925E-27799B63C47D}"/>
              </a:ext>
            </a:extLst>
          </p:cNvPr>
          <p:cNvPicPr>
            <a:picLocks noChangeAspect="1"/>
          </p:cNvPicPr>
          <p:nvPr/>
        </p:nvPicPr>
        <p:blipFill>
          <a:blip r:embed="rId9"/>
          <a:stretch>
            <a:fillRect/>
          </a:stretch>
        </p:blipFill>
        <p:spPr>
          <a:xfrm>
            <a:off x="6238896" y="3760178"/>
            <a:ext cx="1242003" cy="399055"/>
          </a:xfrm>
          <a:prstGeom prst="rect">
            <a:avLst/>
          </a:prstGeom>
        </p:spPr>
      </p:pic>
      <p:pic>
        <p:nvPicPr>
          <p:cNvPr id="68" name="Picture 67">
            <a:extLst>
              <a:ext uri="{FF2B5EF4-FFF2-40B4-BE49-F238E27FC236}">
                <a16:creationId xmlns:a16="http://schemas.microsoft.com/office/drawing/2014/main" xmlns="" id="{3ED92F83-8ABB-4D3E-92E4-D5A2BF6516FF}"/>
              </a:ext>
            </a:extLst>
          </p:cNvPr>
          <p:cNvPicPr>
            <a:picLocks noChangeAspect="1"/>
          </p:cNvPicPr>
          <p:nvPr/>
        </p:nvPicPr>
        <p:blipFill>
          <a:blip r:embed="rId10"/>
          <a:stretch>
            <a:fillRect/>
          </a:stretch>
        </p:blipFill>
        <p:spPr>
          <a:xfrm>
            <a:off x="7339136" y="5008039"/>
            <a:ext cx="1227604" cy="452275"/>
          </a:xfrm>
          <a:prstGeom prst="rect">
            <a:avLst/>
          </a:prstGeom>
        </p:spPr>
      </p:pic>
      <p:pic>
        <p:nvPicPr>
          <p:cNvPr id="69" name="Picture 2" descr="Image result for yondr logo">
            <a:extLst>
              <a:ext uri="{FF2B5EF4-FFF2-40B4-BE49-F238E27FC236}">
                <a16:creationId xmlns:a16="http://schemas.microsoft.com/office/drawing/2014/main" xmlns="" id="{CD3AD296-1993-45BA-AC0F-36637C44E9A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5785" y="3800127"/>
            <a:ext cx="706109" cy="70610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Kahoot logo6.gif"/>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933833" y="1576614"/>
            <a:ext cx="617535" cy="562795"/>
          </a:xfrm>
          <a:prstGeom prst="rect">
            <a:avLst/>
          </a:prstGeom>
        </p:spPr>
      </p:pic>
      <p:pic>
        <p:nvPicPr>
          <p:cNvPr id="12" name="Picture 11" descr="PRSTlogo-large-w.jpg"/>
          <p:cNvPicPr>
            <a:picLocks noChangeAspect="1"/>
          </p:cNvPicPr>
          <p:nvPr/>
        </p:nvPicPr>
        <p:blipFill rotWithShape="1">
          <a:blip r:embed="rId13">
            <a:extLst>
              <a:ext uri="{28A0092B-C50C-407E-A947-70E740481C1C}">
                <a14:useLocalDpi xmlns:a14="http://schemas.microsoft.com/office/drawing/2010/main" val="0"/>
              </a:ext>
            </a:extLst>
          </a:blip>
          <a:srcRect l="13542" t="33207" r="15996" b="32149"/>
          <a:stretch/>
        </p:blipFill>
        <p:spPr>
          <a:xfrm>
            <a:off x="9796216" y="1532820"/>
            <a:ext cx="1498012" cy="569332"/>
          </a:xfrm>
          <a:prstGeom prst="rect">
            <a:avLst/>
          </a:prstGeom>
        </p:spPr>
      </p:pic>
      <p:pic>
        <p:nvPicPr>
          <p:cNvPr id="14" name="Picture 13" descr="Flipd_Logo_H_Cream512-1.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576278" y="4836584"/>
            <a:ext cx="1211126" cy="578151"/>
          </a:xfrm>
          <a:prstGeom prst="rect">
            <a:avLst/>
          </a:prstGeom>
        </p:spPr>
      </p:pic>
    </p:spTree>
    <p:extLst>
      <p:ext uri="{BB962C8B-B14F-4D97-AF65-F5344CB8AC3E}">
        <p14:creationId xmlns:p14="http://schemas.microsoft.com/office/powerpoint/2010/main" val="1009484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xmlns="" id="{178C5919-4221-446C-A25E-20778C8A4E80}"/>
              </a:ext>
            </a:extLst>
          </p:cNvPr>
          <p:cNvSpPr/>
          <p:nvPr/>
        </p:nvSpPr>
        <p:spPr>
          <a:xfrm>
            <a:off x="1" y="375127"/>
            <a:ext cx="6071666"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a:cs typeface="Century Gothic"/>
            </a:endParaRPr>
          </a:p>
        </p:txBody>
      </p:sp>
      <p:sp>
        <p:nvSpPr>
          <p:cNvPr id="2" name="Title 1">
            <a:extLst>
              <a:ext uri="{FF2B5EF4-FFF2-40B4-BE49-F238E27FC236}">
                <a16:creationId xmlns:a16="http://schemas.microsoft.com/office/drawing/2014/main" xmlns="" id="{FA366C83-5684-4C6A-B418-A5147B2CD069}"/>
              </a:ext>
            </a:extLst>
          </p:cNvPr>
          <p:cNvSpPr>
            <a:spLocks noGrp="1"/>
          </p:cNvSpPr>
          <p:nvPr>
            <p:ph type="title"/>
          </p:nvPr>
        </p:nvSpPr>
        <p:spPr/>
        <p:txBody>
          <a:bodyPr/>
          <a:lstStyle/>
          <a:p>
            <a:r>
              <a:rPr lang="en-US" dirty="0">
                <a:latin typeface="Century Gothic"/>
                <a:cs typeface="Century Gothic"/>
              </a:rPr>
              <a:t>Differentiation</a:t>
            </a:r>
          </a:p>
        </p:txBody>
      </p:sp>
      <p:pic>
        <p:nvPicPr>
          <p:cNvPr id="62" name="Picture 61">
            <a:extLst>
              <a:ext uri="{FF2B5EF4-FFF2-40B4-BE49-F238E27FC236}">
                <a16:creationId xmlns:a16="http://schemas.microsoft.com/office/drawing/2014/main" xmlns="" id="{C85FD9B5-F806-487E-91BF-5FDD65122A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951" y="1570179"/>
            <a:ext cx="968498" cy="328079"/>
          </a:xfrm>
          <a:prstGeom prst="rect">
            <a:avLst/>
          </a:prstGeom>
        </p:spPr>
      </p:pic>
      <p:pic>
        <p:nvPicPr>
          <p:cNvPr id="69" name="Picture 2" descr="Image result for yondr logo">
            <a:extLst>
              <a:ext uri="{FF2B5EF4-FFF2-40B4-BE49-F238E27FC236}">
                <a16:creationId xmlns:a16="http://schemas.microsoft.com/office/drawing/2014/main" xmlns="" id="{CD3AD296-1993-45BA-AC0F-36637C44E9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74329" y="1194328"/>
            <a:ext cx="771797" cy="77179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Kahoot logo6.gi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52554" y="1292641"/>
            <a:ext cx="748912" cy="682526"/>
          </a:xfrm>
          <a:prstGeom prst="rect">
            <a:avLst/>
          </a:prstGeom>
        </p:spPr>
      </p:pic>
      <p:pic>
        <p:nvPicPr>
          <p:cNvPr id="14" name="Picture 13" descr="Flipd_Logo_H_Cream512-1.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353" y="1409624"/>
            <a:ext cx="1211126" cy="578151"/>
          </a:xfrm>
          <a:prstGeom prst="rect">
            <a:avLst/>
          </a:prstGeom>
        </p:spPr>
      </p:pic>
      <p:pic>
        <p:nvPicPr>
          <p:cNvPr id="24" name="Picture 23">
            <a:extLst>
              <a:ext uri="{FF2B5EF4-FFF2-40B4-BE49-F238E27FC236}">
                <a16:creationId xmlns:a16="http://schemas.microsoft.com/office/drawing/2014/main" xmlns="" id="{587F8151-239B-4FEF-A3E9-CADCC43FBFC0}"/>
              </a:ext>
            </a:extLst>
          </p:cNvPr>
          <p:cNvPicPr>
            <a:picLocks/>
          </p:cNvPicPr>
          <p:nvPr/>
        </p:nvPicPr>
        <p:blipFill rotWithShape="1">
          <a:blip r:embed="rId7">
            <a:extLst>
              <a:ext uri="{28A0092B-C50C-407E-A947-70E740481C1C}">
                <a14:useLocalDpi xmlns:a14="http://schemas.microsoft.com/office/drawing/2010/main" val="0"/>
              </a:ext>
            </a:extLst>
          </a:blip>
          <a:srcRect l="25461" t="19524" r="27914" b="20981"/>
          <a:stretch/>
        </p:blipFill>
        <p:spPr>
          <a:xfrm>
            <a:off x="4440740" y="1193395"/>
            <a:ext cx="770522" cy="756703"/>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3051659226"/>
              </p:ext>
            </p:extLst>
          </p:nvPr>
        </p:nvGraphicFramePr>
        <p:xfrm>
          <a:off x="602139" y="1705037"/>
          <a:ext cx="11265756" cy="4485640"/>
        </p:xfrm>
        <a:graphic>
          <a:graphicData uri="http://schemas.openxmlformats.org/drawingml/2006/table">
            <a:tbl>
              <a:tblPr firstRow="1" bandRow="1">
                <a:tableStyleId>{5C22544A-7EE6-4342-B048-85BDC9FD1C3A}</a:tableStyleId>
              </a:tblPr>
              <a:tblGrid>
                <a:gridCol w="3481476">
                  <a:extLst>
                    <a:ext uri="{9D8B030D-6E8A-4147-A177-3AD203B41FA5}">
                      <a16:colId xmlns:a16="http://schemas.microsoft.com/office/drawing/2014/main" xmlns="" val="20000"/>
                    </a:ext>
                  </a:extLst>
                </a:gridCol>
                <a:gridCol w="1556856">
                  <a:extLst>
                    <a:ext uri="{9D8B030D-6E8A-4147-A177-3AD203B41FA5}">
                      <a16:colId xmlns:a16="http://schemas.microsoft.com/office/drawing/2014/main" xmlns="" val="20001"/>
                    </a:ext>
                  </a:extLst>
                </a:gridCol>
                <a:gridCol w="1556856">
                  <a:extLst>
                    <a:ext uri="{9D8B030D-6E8A-4147-A177-3AD203B41FA5}">
                      <a16:colId xmlns:a16="http://schemas.microsoft.com/office/drawing/2014/main" xmlns="" val="20002"/>
                    </a:ext>
                  </a:extLst>
                </a:gridCol>
                <a:gridCol w="1556856">
                  <a:extLst>
                    <a:ext uri="{9D8B030D-6E8A-4147-A177-3AD203B41FA5}">
                      <a16:colId xmlns:a16="http://schemas.microsoft.com/office/drawing/2014/main" xmlns="" val="20003"/>
                    </a:ext>
                  </a:extLst>
                </a:gridCol>
                <a:gridCol w="1556856">
                  <a:extLst>
                    <a:ext uri="{9D8B030D-6E8A-4147-A177-3AD203B41FA5}">
                      <a16:colId xmlns:a16="http://schemas.microsoft.com/office/drawing/2014/main" xmlns="" val="20004"/>
                    </a:ext>
                  </a:extLst>
                </a:gridCol>
                <a:gridCol w="1556856">
                  <a:extLst>
                    <a:ext uri="{9D8B030D-6E8A-4147-A177-3AD203B41FA5}">
                      <a16:colId xmlns:a16="http://schemas.microsoft.com/office/drawing/2014/main" xmlns="" val="20005"/>
                    </a:ext>
                  </a:extLst>
                </a:gridCol>
              </a:tblGrid>
              <a:tr h="370840">
                <a:tc>
                  <a:txBody>
                    <a:bodyPr/>
                    <a:lstStyle/>
                    <a:p>
                      <a:endParaRPr lang="en-US" sz="1400" dirty="0">
                        <a:latin typeface="Century Gothic"/>
                        <a:cs typeface="Century Gothic"/>
                      </a:endParaRPr>
                    </a:p>
                  </a:txBody>
                  <a:tcP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endParaRPr lang="en-US" sz="1400" dirty="0">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endParaRPr lang="en-US" sz="1400">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endParaRPr lang="en-US" sz="1400">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endParaRPr lang="en-US" sz="1400">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endParaRPr lang="en-US" sz="1400" dirty="0">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0"/>
                  </a:ext>
                </a:extLst>
              </a:tr>
              <a:tr h="370840">
                <a:tc>
                  <a:txBody>
                    <a:bodyPr/>
                    <a:lstStyle/>
                    <a:p>
                      <a:r>
                        <a:rPr lang="en-US" sz="1400" dirty="0">
                          <a:latin typeface="Century Gothic"/>
                          <a:cs typeface="Century Gothic"/>
                        </a:rPr>
                        <a:t>Designed</a:t>
                      </a:r>
                      <a:r>
                        <a:rPr lang="en-US" sz="1400" baseline="0" dirty="0">
                          <a:latin typeface="Century Gothic"/>
                          <a:cs typeface="Century Gothic"/>
                        </a:rPr>
                        <a:t> for </a:t>
                      </a:r>
                      <a:r>
                        <a:rPr lang="en-US" sz="1400" dirty="0">
                          <a:latin typeface="Century Gothic"/>
                          <a:cs typeface="Century Gothic"/>
                        </a:rPr>
                        <a:t>student owned devices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algn="ct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 </a:t>
                      </a:r>
                      <a:r>
                        <a:rPr lang="en-US" sz="2400" dirty="0">
                          <a:solidFill>
                            <a:srgbClr val="04465F"/>
                          </a:solidFill>
                          <a:latin typeface="Century Gothic"/>
                          <a:ea typeface="+mn-ea"/>
                          <a:cs typeface="Century Gothic"/>
                          <a:sym typeface="Zapf Dingbats"/>
                        </a:rPr>
                        <a:t>/ </a:t>
                      </a: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1"/>
                  </a:ext>
                </a:extLst>
              </a:tr>
              <a:tr h="370840">
                <a:tc>
                  <a:txBody>
                    <a:bodyPr/>
                    <a:lstStyle/>
                    <a:p>
                      <a:r>
                        <a:rPr lang="en-US" sz="1400" b="1" dirty="0">
                          <a:solidFill>
                            <a:srgbClr val="F4BC53"/>
                          </a:solidFill>
                          <a:latin typeface="Century Gothic"/>
                          <a:cs typeface="Century Gothic"/>
                        </a:rPr>
                        <a:t>Addresses smartphone distractions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 </a:t>
                      </a:r>
                      <a:r>
                        <a:rPr lang="en-US" sz="2400" dirty="0">
                          <a:solidFill>
                            <a:srgbClr val="04465F"/>
                          </a:solidFill>
                          <a:latin typeface="Century Gothic"/>
                          <a:ea typeface="+mn-ea"/>
                          <a:cs typeface="Century Gothic"/>
                          <a:sym typeface="Zapf Dingbats"/>
                        </a:rPr>
                        <a:t>/ </a:t>
                      </a: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 </a:t>
                      </a:r>
                      <a:r>
                        <a:rPr lang="en-US" sz="2400" dirty="0">
                          <a:solidFill>
                            <a:srgbClr val="04465F"/>
                          </a:solidFill>
                          <a:latin typeface="Century Gothic"/>
                          <a:ea typeface="+mn-ea"/>
                          <a:cs typeface="Century Gothic"/>
                          <a:sym typeface="Zapf Dingbats"/>
                        </a:rPr>
                        <a:t>/ </a:t>
                      </a: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2"/>
                  </a:ext>
                </a:extLst>
              </a:tr>
              <a:tr h="370840">
                <a:tc>
                  <a:txBody>
                    <a:bodyPr/>
                    <a:lstStyle/>
                    <a:p>
                      <a:r>
                        <a:rPr lang="en-US" sz="1400" dirty="0">
                          <a:latin typeface="Century Gothic"/>
                          <a:cs typeface="Century Gothic"/>
                        </a:rPr>
                        <a:t>Prevent</a:t>
                      </a:r>
                      <a:r>
                        <a:rPr lang="en-US" sz="1400" baseline="0" dirty="0">
                          <a:latin typeface="Century Gothic"/>
                          <a:cs typeface="Century Gothic"/>
                        </a:rPr>
                        <a:t> 3</a:t>
                      </a:r>
                      <a:r>
                        <a:rPr lang="en-US" sz="1400" baseline="30000" dirty="0">
                          <a:latin typeface="Century Gothic"/>
                          <a:cs typeface="Century Gothic"/>
                        </a:rPr>
                        <a:t>rd</a:t>
                      </a:r>
                      <a:r>
                        <a:rPr lang="en-US" sz="1400" baseline="0" dirty="0">
                          <a:latin typeface="Century Gothic"/>
                          <a:cs typeface="Century Gothic"/>
                        </a:rPr>
                        <a:t> party app distractions</a:t>
                      </a:r>
                      <a:endParaRPr lang="en-US" sz="1400" dirty="0">
                        <a:latin typeface="Century Gothic"/>
                        <a:cs typeface="Century Gothic"/>
                      </a:endParaRP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3"/>
                  </a:ext>
                </a:extLst>
              </a:tr>
              <a:tr h="370840">
                <a:tc>
                  <a:txBody>
                    <a:bodyPr/>
                    <a:lstStyle/>
                    <a:p>
                      <a:r>
                        <a:rPr lang="en-US" sz="1400" dirty="0">
                          <a:latin typeface="Century Gothic"/>
                          <a:cs typeface="Century Gothic"/>
                        </a:rPr>
                        <a:t>Prevent native app distractions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4"/>
                  </a:ext>
                </a:extLst>
              </a:tr>
              <a:tr h="370840">
                <a:tc>
                  <a:txBody>
                    <a:bodyPr/>
                    <a:lstStyle/>
                    <a:p>
                      <a:r>
                        <a:rPr lang="en-US" sz="1400" dirty="0">
                          <a:latin typeface="Century Gothic"/>
                          <a:cs typeface="Century Gothic"/>
                        </a:rPr>
                        <a:t>Phone</a:t>
                      </a:r>
                      <a:r>
                        <a:rPr lang="en-US" sz="1400" baseline="0" dirty="0">
                          <a:latin typeface="Century Gothic"/>
                          <a:cs typeface="Century Gothic"/>
                        </a:rPr>
                        <a:t> lock non-</a:t>
                      </a:r>
                      <a:r>
                        <a:rPr lang="en-US" sz="1400" baseline="0" dirty="0" err="1">
                          <a:latin typeface="Century Gothic"/>
                          <a:cs typeface="Century Gothic"/>
                        </a:rPr>
                        <a:t>circumnavigable</a:t>
                      </a:r>
                      <a:endParaRPr lang="en-US" sz="1400" dirty="0">
                        <a:latin typeface="Century Gothic"/>
                        <a:cs typeface="Century Gothic"/>
                      </a:endParaRP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algn="ct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algn="ct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algn="ct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5"/>
                  </a:ext>
                </a:extLst>
              </a:tr>
              <a:tr h="370840">
                <a:tc>
                  <a:txBody>
                    <a:bodyPr/>
                    <a:lstStyle/>
                    <a:p>
                      <a:r>
                        <a:rPr lang="en-US" sz="1400" b="1" dirty="0">
                          <a:solidFill>
                            <a:srgbClr val="F4BC53"/>
                          </a:solidFill>
                          <a:latin typeface="Century Gothic"/>
                          <a:cs typeface="Century Gothic"/>
                        </a:rPr>
                        <a:t>Provides classroom engagement tools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6"/>
                  </a:ext>
                </a:extLst>
              </a:tr>
              <a:tr h="370840">
                <a:tc>
                  <a:txBody>
                    <a:bodyPr/>
                    <a:lstStyle/>
                    <a:p>
                      <a:r>
                        <a:rPr lang="en-US" sz="1400" dirty="0">
                          <a:latin typeface="Century Gothic"/>
                          <a:cs typeface="Century Gothic"/>
                        </a:rPr>
                        <a:t>Designed for teachers, not IT admins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7"/>
                  </a:ext>
                </a:extLst>
              </a:tr>
              <a:tr h="370840">
                <a:tc>
                  <a:txBody>
                    <a:bodyPr/>
                    <a:lstStyle/>
                    <a:p>
                      <a:r>
                        <a:rPr lang="en-US" sz="1400" dirty="0">
                          <a:latin typeface="Century Gothic"/>
                          <a:cs typeface="Century Gothic"/>
                        </a:rPr>
                        <a:t>Affordable for low-income districts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8"/>
                  </a:ext>
                </a:extLst>
              </a:tr>
              <a:tr h="370840">
                <a:tc>
                  <a:txBody>
                    <a:bodyPr/>
                    <a:lstStyle/>
                    <a:p>
                      <a:r>
                        <a:rPr lang="en-US" sz="1400" dirty="0">
                          <a:latin typeface="Century Gothic"/>
                          <a:cs typeface="Century Gothic"/>
                        </a:rPr>
                        <a:t>Emergency notification features</a:t>
                      </a:r>
                    </a:p>
                  </a:txBody>
                  <a:tcPr anchor="ctr">
                    <a:lnL w="12700" cap="flat" cmpd="sng" algn="ctr">
                      <a:no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04465F"/>
                          </a:solidFill>
                          <a:latin typeface="Zapf Dingbats"/>
                          <a:ea typeface="Zapf Dingbats"/>
                          <a:cs typeface="Zapf Dingbats"/>
                          <a:sym typeface="Zapf Dingbats"/>
                        </a:rPr>
                        <a:t>✔</a:t>
                      </a:r>
                      <a:endParaRPr lang="en-US" sz="2400" dirty="0">
                        <a:solidFill>
                          <a:srgbClr val="04465F"/>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solidFill>
                        <a:prstClr val="white">
                          <a:lumMod val="85000"/>
                        </a:prstClr>
                      </a:solid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15D5A"/>
                          </a:solidFill>
                          <a:latin typeface="Zapf Dingbats"/>
                          <a:ea typeface="Zapf Dingbats"/>
                          <a:cs typeface="Zapf Dingbats"/>
                          <a:sym typeface="Zapf Dingbats"/>
                        </a:rPr>
                        <a:t>✖</a:t>
                      </a:r>
                      <a:endParaRPr lang="en-US" sz="2400" dirty="0">
                        <a:solidFill>
                          <a:srgbClr val="F15D5A"/>
                        </a:solidFill>
                        <a:latin typeface="Century Gothic"/>
                        <a:cs typeface="Century Gothic"/>
                      </a:endParaRPr>
                    </a:p>
                  </a:txBody>
                  <a:tcPr>
                    <a:lnL w="12700" cap="flat" cmpd="sng" algn="ctr">
                      <a:solidFill>
                        <a:prstClr val="white">
                          <a:lumMod val="85000"/>
                        </a:prst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white">
                          <a:lumMod val="85000"/>
                        </a:prstClr>
                      </a:solidFill>
                      <a:prstDash val="solid"/>
                      <a:round/>
                      <a:headEnd type="none" w="med" len="med"/>
                      <a:tailEnd type="none" w="med" len="med"/>
                    </a:lnT>
                    <a:lnB w="12700" cap="flat" cmpd="sng" algn="ctr">
                      <a:solidFill>
                        <a:prstClr val="white">
                          <a:lumMod val="85000"/>
                        </a:prstClr>
                      </a:solidFill>
                      <a:prstDash val="solid"/>
                      <a:round/>
                      <a:headEnd type="none" w="med" len="med"/>
                      <a:tailEnd type="none" w="med" len="med"/>
                    </a:lnB>
                    <a:noFill/>
                  </a:tcPr>
                </a:tc>
                <a:extLst>
                  <a:ext uri="{0D108BD9-81ED-4DB2-BD59-A6C34878D82A}">
                    <a16:rowId xmlns:a16="http://schemas.microsoft.com/office/drawing/2014/main" xmlns="" val="10009"/>
                  </a:ext>
                </a:extLst>
              </a:tr>
            </a:tbl>
          </a:graphicData>
        </a:graphic>
      </p:graphicFrame>
      <p:sp>
        <p:nvSpPr>
          <p:cNvPr id="4" name="Left Bracket 3"/>
          <p:cNvSpPr/>
          <p:nvPr/>
        </p:nvSpPr>
        <p:spPr>
          <a:xfrm>
            <a:off x="208013" y="2759075"/>
            <a:ext cx="273700" cy="1817487"/>
          </a:xfrm>
          <a:prstGeom prst="leftBracket">
            <a:avLst/>
          </a:prstGeom>
          <a:ln w="57150" cmpd="sng">
            <a:solidFill>
              <a:srgbClr val="F4BC5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639533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xmlns="" id="{B71C94D1-FD1A-41F8-95F2-01EBAF6AD643}"/>
              </a:ext>
            </a:extLst>
          </p:cNvPr>
          <p:cNvGrpSpPr/>
          <p:nvPr/>
        </p:nvGrpSpPr>
        <p:grpSpPr>
          <a:xfrm>
            <a:off x="1251586" y="956855"/>
            <a:ext cx="2596189" cy="2596189"/>
            <a:chOff x="996287" y="2252485"/>
            <a:chExt cx="3411940" cy="3411940"/>
          </a:xfrm>
        </p:grpSpPr>
        <p:pic>
          <p:nvPicPr>
            <p:cNvPr id="15" name="Picture 4" descr="  Eli Coon   Eli is a Co-Founder and CEO of Present. Prior to co-founding Present, he led operations at a healthcare technology startup. Before that, Eli was a strategy consultant at Deloitte Consulting, where he advised Fortune-500 technology clients. Eli is also Faculty Advisor to the Mock Trial program The Catlin Gabel School. He received his Bachelor of Arts in Philosophy, Politics, and Economics from Claremont McKenna College. ">
              <a:extLst>
                <a:ext uri="{FF2B5EF4-FFF2-40B4-BE49-F238E27FC236}">
                  <a16:creationId xmlns:a16="http://schemas.microsoft.com/office/drawing/2014/main" xmlns="" id="{C38A5639-19A2-4AD0-8ED7-F47089A283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690" t="-1" r="7647" b="17708"/>
            <a:stretch/>
          </p:blipFill>
          <p:spPr bwMode="auto">
            <a:xfrm>
              <a:off x="1255594" y="2490787"/>
              <a:ext cx="2879679" cy="2937848"/>
            </a:xfrm>
            <a:prstGeom prst="rect">
              <a:avLst/>
            </a:prstGeom>
            <a:noFill/>
            <a:extLst>
              <a:ext uri="{909E8E84-426E-40dd-AFC4-6F175D3DCCD1}">
                <a14:hiddenFill xmlns:a14="http://schemas.microsoft.com/office/drawing/2010/main">
                  <a:solidFill>
                    <a:srgbClr val="FFFFFF"/>
                  </a:solidFill>
                </a14:hiddenFill>
              </a:ext>
            </a:extLst>
          </p:spPr>
        </p:pic>
        <p:sp>
          <p:nvSpPr>
            <p:cNvPr id="16" name="Oval 15">
              <a:extLst>
                <a:ext uri="{FF2B5EF4-FFF2-40B4-BE49-F238E27FC236}">
                  <a16:creationId xmlns:a16="http://schemas.microsoft.com/office/drawing/2014/main" xmlns="" id="{52D5C044-EDE7-42E2-9DB7-10AA1BBD38DF}"/>
                </a:ext>
              </a:extLst>
            </p:cNvPr>
            <p:cNvSpPr/>
            <p:nvPr/>
          </p:nvSpPr>
          <p:spPr>
            <a:xfrm>
              <a:off x="996287" y="2252485"/>
              <a:ext cx="3411940" cy="3411940"/>
            </a:xfrm>
            <a:prstGeom prst="ellipse">
              <a:avLst/>
            </a:prstGeom>
            <a:noFill/>
            <a:ln w="889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xmlns="" id="{4A5D24A4-5108-44CF-B4F5-DEF7E0C898BB}"/>
              </a:ext>
            </a:extLst>
          </p:cNvPr>
          <p:cNvGrpSpPr/>
          <p:nvPr/>
        </p:nvGrpSpPr>
        <p:grpSpPr>
          <a:xfrm>
            <a:off x="4797903" y="946737"/>
            <a:ext cx="2596191" cy="2596191"/>
            <a:chOff x="7056248" y="710624"/>
            <a:chExt cx="3411940" cy="3411940"/>
          </a:xfrm>
        </p:grpSpPr>
        <p:pic>
          <p:nvPicPr>
            <p:cNvPr id="18" name="Picture 6" descr="  Nauvin Ghorashian   Nauvin is a Co-Founder and the Head of Product at Present.&amp;nbsp;Prior to co-founding Present, Nauvin was an operations manager at Intel, where he led a semiconductor manufacturing team. Before that, he conducted research on User Experience for Intelâs experience group. He received his Bachelor of Science in Computer Engineering from Portland State University. ">
              <a:extLst>
                <a:ext uri="{FF2B5EF4-FFF2-40B4-BE49-F238E27FC236}">
                  <a16:creationId xmlns:a16="http://schemas.microsoft.com/office/drawing/2014/main" xmlns="" id="{13F062D5-7418-4C75-A905-5BF5A09AB07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t="4634" r="18548" b="24325"/>
            <a:stretch/>
          </p:blipFill>
          <p:spPr bwMode="auto">
            <a:xfrm>
              <a:off x="7083543" y="1100714"/>
              <a:ext cx="3056743" cy="2666068"/>
            </a:xfrm>
            <a:prstGeom prst="rect">
              <a:avLst/>
            </a:prstGeom>
            <a:noFill/>
            <a:extLst>
              <a:ext uri="{909E8E84-426E-40dd-AFC4-6F175D3DCCD1}">
                <a14:hiddenFill xmlns:a14="http://schemas.microsoft.com/office/drawing/2010/main">
                  <a:solidFill>
                    <a:srgbClr val="FFFFFF"/>
                  </a:solidFill>
                </a14:hiddenFill>
              </a:ext>
            </a:extLst>
          </p:spPr>
        </p:pic>
        <p:sp>
          <p:nvSpPr>
            <p:cNvPr id="19" name="Oval 18">
              <a:extLst>
                <a:ext uri="{FF2B5EF4-FFF2-40B4-BE49-F238E27FC236}">
                  <a16:creationId xmlns:a16="http://schemas.microsoft.com/office/drawing/2014/main" xmlns="" id="{518BF713-B328-47AB-A36E-15D9E6EDAD4B}"/>
                </a:ext>
              </a:extLst>
            </p:cNvPr>
            <p:cNvSpPr/>
            <p:nvPr/>
          </p:nvSpPr>
          <p:spPr>
            <a:xfrm>
              <a:off x="7056248" y="710624"/>
              <a:ext cx="3411940" cy="3411940"/>
            </a:xfrm>
            <a:prstGeom prst="ellipse">
              <a:avLst/>
            </a:prstGeom>
            <a:noFill/>
            <a:ln w="889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xmlns="" id="{EFBAD946-7CF5-4677-828F-22AD09FDF51C}"/>
              </a:ext>
            </a:extLst>
          </p:cNvPr>
          <p:cNvGrpSpPr/>
          <p:nvPr/>
        </p:nvGrpSpPr>
        <p:grpSpPr>
          <a:xfrm>
            <a:off x="8398962" y="951862"/>
            <a:ext cx="2596191" cy="2596191"/>
            <a:chOff x="4343969" y="1365151"/>
            <a:chExt cx="3411940" cy="3411940"/>
          </a:xfrm>
        </p:grpSpPr>
        <p:pic>
          <p:nvPicPr>
            <p:cNvPr id="21" name="Picture 8" descr="  Ian Garrett   Ian is a Co-Founder and the Head of Technology at Present. Prior to co-founding Present, Ian worked as a software project manager and developer at a number of different technology firms. He founded the IT Department at Emerald Media and took the company from paper based to fully digital. He received his Bachelor of Science in Computer Science from the University of Oregon. ">
              <a:extLst>
                <a:ext uri="{FF2B5EF4-FFF2-40B4-BE49-F238E27FC236}">
                  <a16:creationId xmlns:a16="http://schemas.microsoft.com/office/drawing/2014/main" xmlns="" id="{4788D03D-53A2-4C7B-9845-989FD45C54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845" t="5051" r="9085" b="23907"/>
            <a:stretch/>
          </p:blipFill>
          <p:spPr bwMode="auto">
            <a:xfrm>
              <a:off x="4476465" y="1778031"/>
              <a:ext cx="3155049" cy="2666068"/>
            </a:xfrm>
            <a:prstGeom prst="rect">
              <a:avLst/>
            </a:prstGeom>
            <a:noFill/>
            <a:extLst>
              <a:ext uri="{909E8E84-426E-40dd-AFC4-6F175D3DCCD1}">
                <a14:hiddenFill xmlns:a14="http://schemas.microsoft.com/office/drawing/2010/main">
                  <a:solidFill>
                    <a:srgbClr val="FFFFFF"/>
                  </a:solidFill>
                </a14:hiddenFill>
              </a:ext>
            </a:extLst>
          </p:spPr>
        </p:pic>
        <p:sp>
          <p:nvSpPr>
            <p:cNvPr id="22" name="Oval 21">
              <a:extLst>
                <a:ext uri="{FF2B5EF4-FFF2-40B4-BE49-F238E27FC236}">
                  <a16:creationId xmlns:a16="http://schemas.microsoft.com/office/drawing/2014/main" xmlns="" id="{8C860477-73E3-486E-AC36-B6788EEAEE5B}"/>
                </a:ext>
              </a:extLst>
            </p:cNvPr>
            <p:cNvSpPr/>
            <p:nvPr/>
          </p:nvSpPr>
          <p:spPr>
            <a:xfrm>
              <a:off x="4343969" y="1365151"/>
              <a:ext cx="3411940" cy="3411940"/>
            </a:xfrm>
            <a:prstGeom prst="ellipse">
              <a:avLst/>
            </a:prstGeom>
            <a:noFill/>
            <a:ln w="889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xmlns="" id="{084F5841-BEC9-4344-B813-A5771141A0A4}"/>
              </a:ext>
            </a:extLst>
          </p:cNvPr>
          <p:cNvSpPr>
            <a:spLocks noGrp="1"/>
          </p:cNvSpPr>
          <p:nvPr>
            <p:ph idx="1"/>
          </p:nvPr>
        </p:nvSpPr>
        <p:spPr>
          <a:xfrm>
            <a:off x="5016600" y="3138371"/>
            <a:ext cx="2865982" cy="2971019"/>
          </a:xfrm>
        </p:spPr>
        <p:txBody>
          <a:bodyPr>
            <a:normAutofit/>
          </a:bodyPr>
          <a:lstStyle/>
          <a:p>
            <a:pPr marL="0" indent="0">
              <a:lnSpc>
                <a:spcPct val="100000"/>
              </a:lnSpc>
              <a:buNone/>
            </a:pPr>
            <a:r>
              <a:rPr lang="en-US" sz="1800" b="1" dirty="0">
                <a:solidFill>
                  <a:srgbClr val="83CACC"/>
                </a:solidFill>
              </a:rPr>
              <a:t>Nauvin </a:t>
            </a:r>
            <a:r>
              <a:rPr lang="en-US" sz="1800" b="1" dirty="0" err="1">
                <a:solidFill>
                  <a:srgbClr val="83CACC"/>
                </a:solidFill>
              </a:rPr>
              <a:t>Ghorashian</a:t>
            </a:r>
            <a:endParaRPr lang="en-US" sz="1800" b="1" dirty="0">
              <a:solidFill>
                <a:srgbClr val="83CACC"/>
              </a:solidFill>
            </a:endParaRPr>
          </a:p>
          <a:p>
            <a:pPr marL="0" indent="0">
              <a:lnSpc>
                <a:spcPct val="100000"/>
              </a:lnSpc>
              <a:buNone/>
            </a:pPr>
            <a:r>
              <a:rPr lang="en-US" sz="1200" dirty="0">
                <a:solidFill>
                  <a:srgbClr val="F4BC53"/>
                </a:solidFill>
              </a:rPr>
              <a:t>Head of Product</a:t>
            </a:r>
            <a:r>
              <a:rPr lang="en-US" sz="1200" dirty="0">
                <a:solidFill>
                  <a:srgbClr val="04465F"/>
                </a:solidFill>
              </a:rPr>
              <a:t>. Operations manager at Intel for semiconductor manufacturing. User experience expert. B.S. in Computer Engineering from Portland State University.</a:t>
            </a:r>
          </a:p>
        </p:txBody>
      </p:sp>
      <p:sp>
        <p:nvSpPr>
          <p:cNvPr id="12" name="Arrow: Pentagon 11">
            <a:extLst>
              <a:ext uri="{FF2B5EF4-FFF2-40B4-BE49-F238E27FC236}">
                <a16:creationId xmlns:a16="http://schemas.microsoft.com/office/drawing/2014/main" xmlns="" id="{F53C49B3-9D0C-4EA4-BF8E-DD68C48A7F16}"/>
              </a:ext>
            </a:extLst>
          </p:cNvPr>
          <p:cNvSpPr/>
          <p:nvPr/>
        </p:nvSpPr>
        <p:spPr>
          <a:xfrm>
            <a:off x="1" y="375127"/>
            <a:ext cx="3538329"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E3A8044-8094-43EF-B28D-C0A804663B98}"/>
              </a:ext>
            </a:extLst>
          </p:cNvPr>
          <p:cNvSpPr>
            <a:spLocks noGrp="1"/>
          </p:cNvSpPr>
          <p:nvPr>
            <p:ph type="title"/>
          </p:nvPr>
        </p:nvSpPr>
        <p:spPr/>
        <p:txBody>
          <a:bodyPr/>
          <a:lstStyle/>
          <a:p>
            <a:r>
              <a:rPr lang="en-US" dirty="0"/>
              <a:t>Team</a:t>
            </a:r>
          </a:p>
        </p:txBody>
      </p:sp>
      <p:sp>
        <p:nvSpPr>
          <p:cNvPr id="23" name="Content Placeholder 2">
            <a:extLst>
              <a:ext uri="{FF2B5EF4-FFF2-40B4-BE49-F238E27FC236}">
                <a16:creationId xmlns:a16="http://schemas.microsoft.com/office/drawing/2014/main" xmlns="" id="{ED7F0907-065E-48EF-B401-30F565942623}"/>
              </a:ext>
            </a:extLst>
          </p:cNvPr>
          <p:cNvSpPr txBox="1">
            <a:spLocks/>
          </p:cNvSpPr>
          <p:nvPr/>
        </p:nvSpPr>
        <p:spPr>
          <a:xfrm>
            <a:off x="8619178" y="3148785"/>
            <a:ext cx="2952890" cy="2850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b="1" dirty="0">
                <a:solidFill>
                  <a:srgbClr val="83CACC"/>
                </a:solidFill>
              </a:rPr>
              <a:t>Ian Garrett</a:t>
            </a:r>
          </a:p>
          <a:p>
            <a:pPr marL="0" indent="0">
              <a:lnSpc>
                <a:spcPct val="100000"/>
              </a:lnSpc>
              <a:buNone/>
            </a:pPr>
            <a:r>
              <a:rPr lang="en-US" sz="1200" dirty="0">
                <a:solidFill>
                  <a:srgbClr val="F4BC53"/>
                </a:solidFill>
              </a:rPr>
              <a:t>Head of Technology</a:t>
            </a:r>
            <a:r>
              <a:rPr lang="en-US" sz="1200" dirty="0">
                <a:solidFill>
                  <a:srgbClr val="04465F"/>
                </a:solidFill>
              </a:rPr>
              <a:t>. Software engineer &amp; project manager. Founder of IT Department at Emerald Media. B.S. in Computer Science from the University of Oregon.</a:t>
            </a:r>
          </a:p>
        </p:txBody>
      </p:sp>
      <p:sp>
        <p:nvSpPr>
          <p:cNvPr id="24" name="Content Placeholder 2">
            <a:extLst>
              <a:ext uri="{FF2B5EF4-FFF2-40B4-BE49-F238E27FC236}">
                <a16:creationId xmlns:a16="http://schemas.microsoft.com/office/drawing/2014/main" xmlns="" id="{C7D5BDFF-FB8E-4D17-A3C3-5B4D3A488383}"/>
              </a:ext>
            </a:extLst>
          </p:cNvPr>
          <p:cNvSpPr txBox="1">
            <a:spLocks/>
          </p:cNvSpPr>
          <p:nvPr/>
        </p:nvSpPr>
        <p:spPr>
          <a:xfrm>
            <a:off x="1448896" y="3132226"/>
            <a:ext cx="2934683" cy="2741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b="1" dirty="0">
                <a:solidFill>
                  <a:srgbClr val="83CACC"/>
                </a:solidFill>
              </a:rPr>
              <a:t>Eli Coon</a:t>
            </a:r>
          </a:p>
          <a:p>
            <a:pPr marL="0" indent="0">
              <a:lnSpc>
                <a:spcPct val="100000"/>
              </a:lnSpc>
              <a:buNone/>
            </a:pPr>
            <a:r>
              <a:rPr lang="en-US" sz="1200" dirty="0">
                <a:solidFill>
                  <a:srgbClr val="F4BC53"/>
                </a:solidFill>
              </a:rPr>
              <a:t>Chief Executive Officer</a:t>
            </a:r>
            <a:r>
              <a:rPr lang="en-US" sz="1200" dirty="0">
                <a:solidFill>
                  <a:srgbClr val="04465F"/>
                </a:solidFill>
              </a:rPr>
              <a:t>. Strategy consultant at Deloitte, focusing on technology clients. Faculty member at The Catlin Gabel School. B.A. in Philosophy, Politics, and Economics from Claremont McKenna College.</a:t>
            </a:r>
          </a:p>
        </p:txBody>
      </p:sp>
    </p:spTree>
    <p:extLst>
      <p:ext uri="{BB962C8B-B14F-4D97-AF65-F5344CB8AC3E}">
        <p14:creationId xmlns:p14="http://schemas.microsoft.com/office/powerpoint/2010/main" val="661434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CE1047-8542-4555-8B50-8BD648E33E22}"/>
              </a:ext>
            </a:extLst>
          </p:cNvPr>
          <p:cNvSpPr>
            <a:spLocks noGrp="1"/>
          </p:cNvSpPr>
          <p:nvPr>
            <p:ph type="ctrTitle"/>
          </p:nvPr>
        </p:nvSpPr>
        <p:spPr/>
        <p:txBody>
          <a:bodyPr/>
          <a:lstStyle/>
          <a:p>
            <a:r>
              <a:rPr lang="en-US" dirty="0"/>
              <a:t>Appendix</a:t>
            </a:r>
          </a:p>
        </p:txBody>
      </p:sp>
      <p:sp>
        <p:nvSpPr>
          <p:cNvPr id="3" name="Subtitle 2">
            <a:extLst>
              <a:ext uri="{FF2B5EF4-FFF2-40B4-BE49-F238E27FC236}">
                <a16:creationId xmlns:a16="http://schemas.microsoft.com/office/drawing/2014/main" xmlns="" id="{6EFD2EE0-B9D1-46DA-A618-EB716A3258A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27797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rrow: Pentagon 24">
            <a:extLst>
              <a:ext uri="{FF2B5EF4-FFF2-40B4-BE49-F238E27FC236}">
                <a16:creationId xmlns:a16="http://schemas.microsoft.com/office/drawing/2014/main" xmlns="" id="{9201BB69-7855-48CB-95CD-3EADACEFC5F9}"/>
              </a:ext>
            </a:extLst>
          </p:cNvPr>
          <p:cNvSpPr/>
          <p:nvPr/>
        </p:nvSpPr>
        <p:spPr>
          <a:xfrm>
            <a:off x="1" y="375127"/>
            <a:ext cx="7953374"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83CE50E-40A2-4827-AA5C-6FF107E3B682}"/>
              </a:ext>
            </a:extLst>
          </p:cNvPr>
          <p:cNvSpPr>
            <a:spLocks noGrp="1"/>
          </p:cNvSpPr>
          <p:nvPr>
            <p:ph type="title"/>
          </p:nvPr>
        </p:nvSpPr>
        <p:spPr>
          <a:xfrm>
            <a:off x="838200" y="421570"/>
            <a:ext cx="10515600" cy="640241"/>
          </a:xfrm>
        </p:spPr>
        <p:txBody>
          <a:bodyPr/>
          <a:lstStyle/>
          <a:p>
            <a:r>
              <a:rPr lang="en-US" dirty="0"/>
              <a:t>How does Present work for…</a:t>
            </a:r>
          </a:p>
        </p:txBody>
      </p:sp>
      <p:sp>
        <p:nvSpPr>
          <p:cNvPr id="24" name="Content Placeholder 2">
            <a:extLst>
              <a:ext uri="{FF2B5EF4-FFF2-40B4-BE49-F238E27FC236}">
                <a16:creationId xmlns:a16="http://schemas.microsoft.com/office/drawing/2014/main" xmlns="" id="{21C9FA3A-F5A2-4A61-9DAD-25465DD4BF63}"/>
              </a:ext>
            </a:extLst>
          </p:cNvPr>
          <p:cNvSpPr txBox="1">
            <a:spLocks/>
          </p:cNvSpPr>
          <p:nvPr/>
        </p:nvSpPr>
        <p:spPr>
          <a:xfrm>
            <a:off x="495797" y="2092083"/>
            <a:ext cx="3714021" cy="39484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The Present App is an iOS and Android application that students install on their personal smartphones</a:t>
            </a:r>
          </a:p>
          <a:p>
            <a:r>
              <a:rPr lang="en-US" sz="1800" dirty="0"/>
              <a:t>As a teacher starts a class, each student gets an attendance request notification on their phone</a:t>
            </a:r>
          </a:p>
          <a:p>
            <a:r>
              <a:rPr lang="en-US" sz="1800" dirty="0"/>
              <a:t>When students mark their attendance with the Present App, they are locked out of accessing any other applications on their phone until the end of class</a:t>
            </a:r>
          </a:p>
        </p:txBody>
      </p:sp>
      <p:sp>
        <p:nvSpPr>
          <p:cNvPr id="27" name="Content Placeholder 2">
            <a:extLst>
              <a:ext uri="{FF2B5EF4-FFF2-40B4-BE49-F238E27FC236}">
                <a16:creationId xmlns:a16="http://schemas.microsoft.com/office/drawing/2014/main" xmlns="" id="{95EF4D3D-B6AD-44DA-9706-A37248F8229C}"/>
              </a:ext>
            </a:extLst>
          </p:cNvPr>
          <p:cNvSpPr txBox="1">
            <a:spLocks/>
          </p:cNvSpPr>
          <p:nvPr/>
        </p:nvSpPr>
        <p:spPr>
          <a:xfrm>
            <a:off x="4354667" y="2092083"/>
            <a:ext cx="3782104" cy="3948493"/>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The Present Dashboard is a website where teachers can see their class details and manage students’ phone lock status</a:t>
            </a:r>
          </a:p>
          <a:p>
            <a:r>
              <a:rPr lang="en-US" sz="1800" dirty="0"/>
              <a:t>When students mark their attendance at the start of class, their status is reflected on the dashboard</a:t>
            </a:r>
          </a:p>
          <a:p>
            <a:r>
              <a:rPr lang="en-US" sz="1800" dirty="0"/>
              <a:t>Teachers can also create and submit Learning Checks – live quiz questions that students answer on their phones. Real-time results show lesson understanding on the fly</a:t>
            </a:r>
          </a:p>
        </p:txBody>
      </p:sp>
      <p:sp>
        <p:nvSpPr>
          <p:cNvPr id="28" name="Content Placeholder 2">
            <a:extLst>
              <a:ext uri="{FF2B5EF4-FFF2-40B4-BE49-F238E27FC236}">
                <a16:creationId xmlns:a16="http://schemas.microsoft.com/office/drawing/2014/main" xmlns="" id="{174AD373-331A-4B43-84C8-4BB876F40078}"/>
              </a:ext>
            </a:extLst>
          </p:cNvPr>
          <p:cNvSpPr txBox="1">
            <a:spLocks/>
          </p:cNvSpPr>
          <p:nvPr/>
        </p:nvSpPr>
        <p:spPr>
          <a:xfrm>
            <a:off x="8277959" y="2092084"/>
            <a:ext cx="3764530" cy="39484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Admins log in to the Present Web Portal to manage Student, Teacher, Course, and School Information</a:t>
            </a:r>
          </a:p>
          <a:p>
            <a:r>
              <a:rPr lang="en-US" sz="1800" dirty="0"/>
              <a:t>New teacher and student accounts are created by admins</a:t>
            </a:r>
          </a:p>
          <a:p>
            <a:r>
              <a:rPr lang="en-US" sz="1800" dirty="0"/>
              <a:t>Admins can create new courses, assign classes to teachers, and manage course schedules</a:t>
            </a:r>
          </a:p>
        </p:txBody>
      </p:sp>
      <p:grpSp>
        <p:nvGrpSpPr>
          <p:cNvPr id="30" name="Group 29">
            <a:extLst>
              <a:ext uri="{FF2B5EF4-FFF2-40B4-BE49-F238E27FC236}">
                <a16:creationId xmlns:a16="http://schemas.microsoft.com/office/drawing/2014/main" xmlns="" id="{ABC79717-3497-4B64-B562-730A8ED40C9E}"/>
              </a:ext>
            </a:extLst>
          </p:cNvPr>
          <p:cNvGrpSpPr/>
          <p:nvPr/>
        </p:nvGrpSpPr>
        <p:grpSpPr>
          <a:xfrm>
            <a:off x="8584552" y="162441"/>
            <a:ext cx="3164103" cy="992488"/>
            <a:chOff x="7907774" y="492817"/>
            <a:chExt cx="3270537" cy="992488"/>
          </a:xfrm>
        </p:grpSpPr>
        <p:sp>
          <p:nvSpPr>
            <p:cNvPr id="5" name="Rectangle: Diagonal Corners Rounded 4">
              <a:extLst>
                <a:ext uri="{FF2B5EF4-FFF2-40B4-BE49-F238E27FC236}">
                  <a16:creationId xmlns:a16="http://schemas.microsoft.com/office/drawing/2014/main" xmlns="" id="{3883F1A5-9B4E-4950-BCF2-03A8EF319C98}"/>
                </a:ext>
              </a:extLst>
            </p:cNvPr>
            <p:cNvSpPr/>
            <p:nvPr/>
          </p:nvSpPr>
          <p:spPr>
            <a:xfrm flipH="1">
              <a:off x="8187462" y="668941"/>
              <a:ext cx="2990849" cy="816364"/>
            </a:xfrm>
            <a:prstGeom prst="round2DiagRect">
              <a:avLst/>
            </a:prstGeom>
            <a:solidFill>
              <a:schemeClr val="bg1"/>
            </a:solidFill>
            <a:ln w="19050">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50" dirty="0">
                  <a:solidFill>
                    <a:schemeClr val="tx1"/>
                  </a:solidFill>
                  <a:latin typeface="Century Gothic" panose="020B0502020202020204" pitchFamily="34" charset="0"/>
                </a:rPr>
                <a:t>Present is a classroom management tool and educational platform designed to eliminate smartphone distractions and improve student engagement</a:t>
              </a:r>
            </a:p>
          </p:txBody>
        </p:sp>
        <p:grpSp>
          <p:nvGrpSpPr>
            <p:cNvPr id="29" name="Group 28">
              <a:extLst>
                <a:ext uri="{FF2B5EF4-FFF2-40B4-BE49-F238E27FC236}">
                  <a16:creationId xmlns:a16="http://schemas.microsoft.com/office/drawing/2014/main" xmlns="" id="{6BDFF0AF-3770-4712-8050-A11A947F8EAF}"/>
                </a:ext>
              </a:extLst>
            </p:cNvPr>
            <p:cNvGrpSpPr/>
            <p:nvPr/>
          </p:nvGrpSpPr>
          <p:grpSpPr>
            <a:xfrm rot="20144693">
              <a:off x="7907774" y="492817"/>
              <a:ext cx="417580" cy="417580"/>
              <a:chOff x="5995203" y="1360583"/>
              <a:chExt cx="644468" cy="644468"/>
            </a:xfrm>
          </p:grpSpPr>
          <p:sp>
            <p:nvSpPr>
              <p:cNvPr id="18" name="Oval 17">
                <a:extLst>
                  <a:ext uri="{FF2B5EF4-FFF2-40B4-BE49-F238E27FC236}">
                    <a16:creationId xmlns:a16="http://schemas.microsoft.com/office/drawing/2014/main" xmlns="" id="{AA544EA2-E8BC-475F-957C-780AB3AC4A0A}"/>
                  </a:ext>
                </a:extLst>
              </p:cNvPr>
              <p:cNvSpPr/>
              <p:nvPr/>
            </p:nvSpPr>
            <p:spPr>
              <a:xfrm rot="1455307">
                <a:off x="5995203" y="1360583"/>
                <a:ext cx="644468" cy="644468"/>
              </a:xfrm>
              <a:prstGeom prst="ellipse">
                <a:avLst/>
              </a:prstGeom>
              <a:solidFill>
                <a:schemeClr val="bg1"/>
              </a:solidFill>
              <a:ln w="19050">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xmlns="" id="{676B395A-4546-4A72-ADAC-9651F0641370}"/>
                  </a:ext>
                </a:extLst>
              </p:cNvPr>
              <p:cNvPicPr>
                <a:picLocks noChangeAspect="1"/>
              </p:cNvPicPr>
              <p:nvPr/>
            </p:nvPicPr>
            <p:blipFill rotWithShape="1">
              <a:blip r:embed="rId2">
                <a:extLst>
                  <a:ext uri="{28A0092B-C50C-407E-A947-70E740481C1C}">
                    <a14:useLocalDpi xmlns:a14="http://schemas.microsoft.com/office/drawing/2010/main" val="0"/>
                  </a:ext>
                </a:extLst>
              </a:blip>
              <a:srcRect l="41380" t="6148" r="41650" b="20943"/>
              <a:stretch/>
            </p:blipFill>
            <p:spPr>
              <a:xfrm rot="905117">
                <a:off x="6255793" y="1417969"/>
                <a:ext cx="123287" cy="529696"/>
              </a:xfrm>
              <a:prstGeom prst="rect">
                <a:avLst/>
              </a:prstGeom>
            </p:spPr>
          </p:pic>
        </p:grpSp>
      </p:grpSp>
      <p:sp>
        <p:nvSpPr>
          <p:cNvPr id="31" name="Rectangle: Rounded Corners 30">
            <a:extLst>
              <a:ext uri="{FF2B5EF4-FFF2-40B4-BE49-F238E27FC236}">
                <a16:creationId xmlns:a16="http://schemas.microsoft.com/office/drawing/2014/main" xmlns="" id="{6EA507DE-FF03-4A8B-9215-D3BAF42CFF2B}"/>
              </a:ext>
            </a:extLst>
          </p:cNvPr>
          <p:cNvSpPr/>
          <p:nvPr/>
        </p:nvSpPr>
        <p:spPr>
          <a:xfrm>
            <a:off x="838200" y="1562099"/>
            <a:ext cx="2990850" cy="414881"/>
          </a:xfrm>
          <a:prstGeom prst="roundRect">
            <a:avLst/>
          </a:prstGeom>
          <a:solidFill>
            <a:srgbClr val="044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Students</a:t>
            </a:r>
          </a:p>
        </p:txBody>
      </p:sp>
      <p:sp>
        <p:nvSpPr>
          <p:cNvPr id="33" name="Rectangle: Rounded Corners 32">
            <a:extLst>
              <a:ext uri="{FF2B5EF4-FFF2-40B4-BE49-F238E27FC236}">
                <a16:creationId xmlns:a16="http://schemas.microsoft.com/office/drawing/2014/main" xmlns="" id="{C39E4645-A55F-445F-A049-3C436042CDDB}"/>
              </a:ext>
            </a:extLst>
          </p:cNvPr>
          <p:cNvSpPr/>
          <p:nvPr/>
        </p:nvSpPr>
        <p:spPr>
          <a:xfrm>
            <a:off x="8584552" y="1562100"/>
            <a:ext cx="2990850" cy="414881"/>
          </a:xfrm>
          <a:prstGeom prst="roundRect">
            <a:avLst/>
          </a:prstGeom>
          <a:solidFill>
            <a:srgbClr val="044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Admins</a:t>
            </a:r>
          </a:p>
        </p:txBody>
      </p:sp>
      <p:sp>
        <p:nvSpPr>
          <p:cNvPr id="37" name="Oval 36">
            <a:extLst>
              <a:ext uri="{FF2B5EF4-FFF2-40B4-BE49-F238E27FC236}">
                <a16:creationId xmlns:a16="http://schemas.microsoft.com/office/drawing/2014/main" xmlns="" id="{EF28C71A-2981-487A-8627-6DE7B644B6D4}"/>
              </a:ext>
            </a:extLst>
          </p:cNvPr>
          <p:cNvSpPr/>
          <p:nvPr/>
        </p:nvSpPr>
        <p:spPr>
          <a:xfrm rot="20884224">
            <a:off x="544591" y="1516108"/>
            <a:ext cx="527182" cy="527182"/>
          </a:xfrm>
          <a:prstGeom prst="ellipse">
            <a:avLst/>
          </a:prstGeom>
          <a:solidFill>
            <a:schemeClr val="bg1"/>
          </a:solidFill>
          <a:ln w="19050">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xmlns="" id="{728334FA-37C0-45F3-A495-F178A4230123}"/>
              </a:ext>
            </a:extLst>
          </p:cNvPr>
          <p:cNvSpPr/>
          <p:nvPr/>
        </p:nvSpPr>
        <p:spPr>
          <a:xfrm>
            <a:off x="4667052" y="1562097"/>
            <a:ext cx="2990850" cy="414881"/>
          </a:xfrm>
          <a:prstGeom prst="roundRect">
            <a:avLst/>
          </a:prstGeom>
          <a:solidFill>
            <a:srgbClr val="044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Teachers</a:t>
            </a:r>
          </a:p>
        </p:txBody>
      </p:sp>
      <p:sp>
        <p:nvSpPr>
          <p:cNvPr id="44" name="Oval 43">
            <a:extLst>
              <a:ext uri="{FF2B5EF4-FFF2-40B4-BE49-F238E27FC236}">
                <a16:creationId xmlns:a16="http://schemas.microsoft.com/office/drawing/2014/main" xmlns="" id="{5F8F24C5-0FA1-4AA1-8EE9-74B46EEEC82A}"/>
              </a:ext>
            </a:extLst>
          </p:cNvPr>
          <p:cNvSpPr/>
          <p:nvPr/>
        </p:nvSpPr>
        <p:spPr>
          <a:xfrm rot="20884224">
            <a:off x="4403461" y="1516107"/>
            <a:ext cx="527182" cy="527182"/>
          </a:xfrm>
          <a:prstGeom prst="ellipse">
            <a:avLst/>
          </a:prstGeom>
          <a:solidFill>
            <a:schemeClr val="bg1"/>
          </a:solidFill>
          <a:ln w="19050">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xmlns="" id="{80C0AB1B-03C2-40AE-9E0D-269B04E13941}"/>
              </a:ext>
            </a:extLst>
          </p:cNvPr>
          <p:cNvSpPr/>
          <p:nvPr/>
        </p:nvSpPr>
        <p:spPr>
          <a:xfrm rot="20884224">
            <a:off x="8326753" y="1516108"/>
            <a:ext cx="527182" cy="527182"/>
          </a:xfrm>
          <a:prstGeom prst="ellipse">
            <a:avLst/>
          </a:prstGeom>
          <a:solidFill>
            <a:schemeClr val="bg1"/>
          </a:solidFill>
          <a:ln w="19050">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0" name="Picture 49">
            <a:extLst>
              <a:ext uri="{FF2B5EF4-FFF2-40B4-BE49-F238E27FC236}">
                <a16:creationId xmlns:a16="http://schemas.microsoft.com/office/drawing/2014/main" xmlns="" id="{6D3AF7EA-DBE5-4A65-B5EE-56C976D13233}"/>
              </a:ext>
            </a:extLst>
          </p:cNvPr>
          <p:cNvPicPr>
            <a:picLocks noChangeAspect="1"/>
          </p:cNvPicPr>
          <p:nvPr/>
        </p:nvPicPr>
        <p:blipFill rotWithShape="1">
          <a:blip r:embed="rId3">
            <a:extLst>
              <a:ext uri="{28A0092B-C50C-407E-A947-70E740481C1C}">
                <a14:useLocalDpi xmlns:a14="http://schemas.microsoft.com/office/drawing/2010/main" val="0"/>
              </a:ext>
            </a:extLst>
          </a:blip>
          <a:srcRect l="6059" t="9245" r="6059" b="23501"/>
          <a:stretch/>
        </p:blipFill>
        <p:spPr>
          <a:xfrm>
            <a:off x="4467815" y="1628777"/>
            <a:ext cx="388947" cy="297653"/>
          </a:xfrm>
          <a:prstGeom prst="rect">
            <a:avLst/>
          </a:prstGeom>
        </p:spPr>
      </p:pic>
      <p:pic>
        <p:nvPicPr>
          <p:cNvPr id="52" name="Picture 51">
            <a:extLst>
              <a:ext uri="{FF2B5EF4-FFF2-40B4-BE49-F238E27FC236}">
                <a16:creationId xmlns:a16="http://schemas.microsoft.com/office/drawing/2014/main" xmlns="" id="{5A72F7D4-A986-4336-B6C9-23DC298F64CC}"/>
              </a:ext>
            </a:extLst>
          </p:cNvPr>
          <p:cNvPicPr>
            <a:picLocks noChangeAspect="1"/>
          </p:cNvPicPr>
          <p:nvPr/>
        </p:nvPicPr>
        <p:blipFill rotWithShape="1">
          <a:blip r:embed="rId4">
            <a:extLst>
              <a:ext uri="{28A0092B-C50C-407E-A947-70E740481C1C}">
                <a14:useLocalDpi xmlns:a14="http://schemas.microsoft.com/office/drawing/2010/main" val="0"/>
              </a:ext>
            </a:extLst>
          </a:blip>
          <a:srcRect l="6059" t="11046" r="6059" b="13012"/>
          <a:stretch/>
        </p:blipFill>
        <p:spPr>
          <a:xfrm>
            <a:off x="8390908" y="1609727"/>
            <a:ext cx="370633" cy="320276"/>
          </a:xfrm>
          <a:prstGeom prst="rect">
            <a:avLst/>
          </a:prstGeom>
        </p:spPr>
      </p:pic>
      <p:pic>
        <p:nvPicPr>
          <p:cNvPr id="54" name="Picture 53">
            <a:extLst>
              <a:ext uri="{FF2B5EF4-FFF2-40B4-BE49-F238E27FC236}">
                <a16:creationId xmlns:a16="http://schemas.microsoft.com/office/drawing/2014/main" xmlns="" id="{3AFB935E-D21B-4EBD-9DF3-BBA95FA1498A}"/>
              </a:ext>
            </a:extLst>
          </p:cNvPr>
          <p:cNvPicPr>
            <a:picLocks noChangeAspect="1"/>
          </p:cNvPicPr>
          <p:nvPr/>
        </p:nvPicPr>
        <p:blipFill rotWithShape="1">
          <a:blip r:embed="rId5">
            <a:extLst>
              <a:ext uri="{28A0092B-C50C-407E-A947-70E740481C1C}">
                <a14:useLocalDpi xmlns:a14="http://schemas.microsoft.com/office/drawing/2010/main" val="0"/>
              </a:ext>
            </a:extLst>
          </a:blip>
          <a:srcRect l="26168" t="4480" r="30112" b="20420"/>
          <a:stretch/>
        </p:blipFill>
        <p:spPr>
          <a:xfrm rot="21058788">
            <a:off x="677803" y="1557736"/>
            <a:ext cx="255996" cy="439732"/>
          </a:xfrm>
          <a:prstGeom prst="rect">
            <a:avLst/>
          </a:prstGeom>
        </p:spPr>
      </p:pic>
    </p:spTree>
    <p:extLst>
      <p:ext uri="{BB962C8B-B14F-4D97-AF65-F5344CB8AC3E}">
        <p14:creationId xmlns:p14="http://schemas.microsoft.com/office/powerpoint/2010/main" val="2702022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Arrow: Pentagon 24">
            <a:extLst>
              <a:ext uri="{FF2B5EF4-FFF2-40B4-BE49-F238E27FC236}">
                <a16:creationId xmlns:a16="http://schemas.microsoft.com/office/drawing/2014/main" xmlns="" id="{9201BB69-7855-48CB-95CD-3EADACEFC5F9}"/>
              </a:ext>
            </a:extLst>
          </p:cNvPr>
          <p:cNvSpPr/>
          <p:nvPr/>
        </p:nvSpPr>
        <p:spPr>
          <a:xfrm>
            <a:off x="2" y="375127"/>
            <a:ext cx="3148640"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83CE50E-40A2-4827-AA5C-6FF107E3B682}"/>
              </a:ext>
            </a:extLst>
          </p:cNvPr>
          <p:cNvSpPr>
            <a:spLocks noGrp="1"/>
          </p:cNvSpPr>
          <p:nvPr>
            <p:ph type="title"/>
          </p:nvPr>
        </p:nvSpPr>
        <p:spPr>
          <a:xfrm>
            <a:off x="838200" y="421570"/>
            <a:ext cx="10515600" cy="640241"/>
          </a:xfrm>
        </p:spPr>
        <p:txBody>
          <a:bodyPr/>
          <a:lstStyle/>
          <a:p>
            <a:r>
              <a:rPr lang="en-US" dirty="0"/>
              <a:t>Demo</a:t>
            </a:r>
          </a:p>
        </p:txBody>
      </p:sp>
      <p:pic>
        <p:nvPicPr>
          <p:cNvPr id="4" name="Picture 3">
            <a:extLst>
              <a:ext uri="{FF2B5EF4-FFF2-40B4-BE49-F238E27FC236}">
                <a16:creationId xmlns:a16="http://schemas.microsoft.com/office/drawing/2014/main" xmlns="" id="{A5C45B38-FFFB-45A3-898A-D0200A40E035}"/>
              </a:ext>
            </a:extLst>
          </p:cNvPr>
          <p:cNvPicPr>
            <a:picLocks noChangeAspect="1"/>
          </p:cNvPicPr>
          <p:nvPr/>
        </p:nvPicPr>
        <p:blipFill rotWithShape="1">
          <a:blip r:embed="rId2">
            <a:extLst>
              <a:ext uri="{28A0092B-C50C-407E-A947-70E740481C1C}">
                <a14:useLocalDpi xmlns:a14="http://schemas.microsoft.com/office/drawing/2010/main" val="0"/>
              </a:ext>
            </a:extLst>
          </a:blip>
          <a:srcRect r="54331" b="62467"/>
          <a:stretch/>
        </p:blipFill>
        <p:spPr>
          <a:xfrm>
            <a:off x="381538" y="1617498"/>
            <a:ext cx="3286357" cy="1518511"/>
          </a:xfrm>
          <a:prstGeom prst="rect">
            <a:avLst/>
          </a:prstGeom>
        </p:spPr>
      </p:pic>
      <p:grpSp>
        <p:nvGrpSpPr>
          <p:cNvPr id="6" name="Group 5">
            <a:extLst>
              <a:ext uri="{FF2B5EF4-FFF2-40B4-BE49-F238E27FC236}">
                <a16:creationId xmlns:a16="http://schemas.microsoft.com/office/drawing/2014/main" xmlns="" id="{B9E97E3E-D15F-4673-8F4E-023CC8FEDC94}"/>
              </a:ext>
            </a:extLst>
          </p:cNvPr>
          <p:cNvGrpSpPr/>
          <p:nvPr/>
        </p:nvGrpSpPr>
        <p:grpSpPr>
          <a:xfrm>
            <a:off x="5461791" y="3214801"/>
            <a:ext cx="1996828" cy="2787888"/>
            <a:chOff x="9473750" y="1140340"/>
            <a:chExt cx="2039815" cy="2885396"/>
          </a:xfrm>
          <a:effectLst>
            <a:outerShdw blurRad="50800" dist="38100" dir="2700000" algn="tl" rotWithShape="0">
              <a:prstClr val="black">
                <a:alpha val="40000"/>
              </a:prstClr>
            </a:outerShdw>
          </a:effectLst>
        </p:grpSpPr>
        <p:pic>
          <p:nvPicPr>
            <p:cNvPr id="10" name="Picture 2" descr="Image result for smartphone vector image">
              <a:extLst>
                <a:ext uri="{FF2B5EF4-FFF2-40B4-BE49-F238E27FC236}">
                  <a16:creationId xmlns:a16="http://schemas.microsoft.com/office/drawing/2014/main" xmlns="" id="{E20FCB72-E7F8-41A1-8B22-DF71B9CDC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3750" y="1140340"/>
              <a:ext cx="2039815" cy="288539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xmlns="" id="{8AB3C0A0-5A63-4275-B2C8-F80C42077D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7318" y="1519672"/>
              <a:ext cx="1197877" cy="2132626"/>
            </a:xfrm>
            <a:prstGeom prst="rect">
              <a:avLst/>
            </a:prstGeom>
          </p:spPr>
        </p:pic>
      </p:grpSp>
      <p:grpSp>
        <p:nvGrpSpPr>
          <p:cNvPr id="7" name="Group 6">
            <a:extLst>
              <a:ext uri="{FF2B5EF4-FFF2-40B4-BE49-F238E27FC236}">
                <a16:creationId xmlns:a16="http://schemas.microsoft.com/office/drawing/2014/main" xmlns="" id="{9F092B12-9EE4-4CA0-89B4-CDD114276DC1}"/>
              </a:ext>
            </a:extLst>
          </p:cNvPr>
          <p:cNvGrpSpPr/>
          <p:nvPr/>
        </p:nvGrpSpPr>
        <p:grpSpPr>
          <a:xfrm>
            <a:off x="3841847" y="3208383"/>
            <a:ext cx="1970882" cy="2787888"/>
            <a:chOff x="3319585" y="3240798"/>
            <a:chExt cx="2039815" cy="2885396"/>
          </a:xfrm>
          <a:effectLst>
            <a:outerShdw blurRad="50800" dist="38100" dir="2700000" algn="tl" rotWithShape="0">
              <a:prstClr val="black">
                <a:alpha val="40000"/>
              </a:prstClr>
            </a:outerShdw>
          </a:effectLst>
        </p:grpSpPr>
        <p:pic>
          <p:nvPicPr>
            <p:cNvPr id="8" name="Picture 2" descr="Image result for smartphone vector image">
              <a:extLst>
                <a:ext uri="{FF2B5EF4-FFF2-40B4-BE49-F238E27FC236}">
                  <a16:creationId xmlns:a16="http://schemas.microsoft.com/office/drawing/2014/main" xmlns="" id="{1F31EC71-DA40-46B7-9250-3A32D25002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9585" y="3240798"/>
              <a:ext cx="2039815" cy="288539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xmlns="" id="{E53EFF01-86BE-4148-8DAD-1D778223CD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1045" y="3622881"/>
              <a:ext cx="1204302" cy="2134516"/>
            </a:xfrm>
            <a:prstGeom prst="rect">
              <a:avLst/>
            </a:prstGeom>
          </p:spPr>
        </p:pic>
      </p:grpSp>
      <p:pic>
        <p:nvPicPr>
          <p:cNvPr id="13" name="Picture 12">
            <a:extLst>
              <a:ext uri="{FF2B5EF4-FFF2-40B4-BE49-F238E27FC236}">
                <a16:creationId xmlns:a16="http://schemas.microsoft.com/office/drawing/2014/main" xmlns="" id="{35EB492A-EFDB-4B3B-8753-0D6CC0627FE9}"/>
              </a:ext>
            </a:extLst>
          </p:cNvPr>
          <p:cNvPicPr>
            <a:picLocks noChangeAspect="1"/>
          </p:cNvPicPr>
          <p:nvPr/>
        </p:nvPicPr>
        <p:blipFill rotWithShape="1">
          <a:blip r:embed="rId6">
            <a:extLst>
              <a:ext uri="{28A0092B-C50C-407E-A947-70E740481C1C}">
                <a14:useLocalDpi xmlns:a14="http://schemas.microsoft.com/office/drawing/2010/main" val="0"/>
              </a:ext>
            </a:extLst>
          </a:blip>
          <a:srcRect r="54235" b="53349"/>
          <a:stretch/>
        </p:blipFill>
        <p:spPr>
          <a:xfrm>
            <a:off x="7241163" y="371698"/>
            <a:ext cx="4360332" cy="2498929"/>
          </a:xfrm>
          <a:prstGeom prst="rect">
            <a:avLst/>
          </a:prstGeom>
        </p:spPr>
      </p:pic>
      <p:sp>
        <p:nvSpPr>
          <p:cNvPr id="15" name="Oval 14">
            <a:extLst>
              <a:ext uri="{FF2B5EF4-FFF2-40B4-BE49-F238E27FC236}">
                <a16:creationId xmlns:a16="http://schemas.microsoft.com/office/drawing/2014/main" xmlns="" id="{2CEE3862-EE8A-4B5E-8E83-FB2F61302CCC}"/>
              </a:ext>
            </a:extLst>
          </p:cNvPr>
          <p:cNvSpPr/>
          <p:nvPr/>
        </p:nvSpPr>
        <p:spPr>
          <a:xfrm>
            <a:off x="81008" y="3214801"/>
            <a:ext cx="365365" cy="365365"/>
          </a:xfrm>
          <a:prstGeom prst="ellipse">
            <a:avLst/>
          </a:prstGeom>
          <a:solidFill>
            <a:schemeClr val="bg1"/>
          </a:solidFill>
          <a:ln w="28575">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16" name="Oval 15">
            <a:extLst>
              <a:ext uri="{FF2B5EF4-FFF2-40B4-BE49-F238E27FC236}">
                <a16:creationId xmlns:a16="http://schemas.microsoft.com/office/drawing/2014/main" xmlns="" id="{A6F36AC0-6D4B-498C-BA5A-16A23B3813D2}"/>
              </a:ext>
            </a:extLst>
          </p:cNvPr>
          <p:cNvSpPr/>
          <p:nvPr/>
        </p:nvSpPr>
        <p:spPr>
          <a:xfrm>
            <a:off x="3824913" y="1685711"/>
            <a:ext cx="365365" cy="365365"/>
          </a:xfrm>
          <a:prstGeom prst="ellipse">
            <a:avLst/>
          </a:prstGeom>
          <a:solidFill>
            <a:schemeClr val="bg1"/>
          </a:solidFill>
          <a:ln w="28575">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17" name="Oval 16">
            <a:extLst>
              <a:ext uri="{FF2B5EF4-FFF2-40B4-BE49-F238E27FC236}">
                <a16:creationId xmlns:a16="http://schemas.microsoft.com/office/drawing/2014/main" xmlns="" id="{2F8BF98B-16D2-443B-A618-52D290325AAA}"/>
              </a:ext>
            </a:extLst>
          </p:cNvPr>
          <p:cNvSpPr/>
          <p:nvPr/>
        </p:nvSpPr>
        <p:spPr>
          <a:xfrm>
            <a:off x="8367337" y="3206334"/>
            <a:ext cx="365365" cy="365365"/>
          </a:xfrm>
          <a:prstGeom prst="ellipse">
            <a:avLst/>
          </a:prstGeom>
          <a:solidFill>
            <a:schemeClr val="bg1"/>
          </a:solidFill>
          <a:ln w="28575">
            <a:solidFill>
              <a:srgbClr val="0446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19" name="Arrow: Right 18">
            <a:extLst>
              <a:ext uri="{FF2B5EF4-FFF2-40B4-BE49-F238E27FC236}">
                <a16:creationId xmlns:a16="http://schemas.microsoft.com/office/drawing/2014/main" xmlns="" id="{40598B2D-2C2E-4D4F-AE0A-C119A0333106}"/>
              </a:ext>
            </a:extLst>
          </p:cNvPr>
          <p:cNvSpPr/>
          <p:nvPr/>
        </p:nvSpPr>
        <p:spPr>
          <a:xfrm rot="1906775">
            <a:off x="2675160" y="2951927"/>
            <a:ext cx="1193489" cy="381000"/>
          </a:xfrm>
          <a:prstGeom prst="rightArrow">
            <a:avLst>
              <a:gd name="adj1" fmla="val 34353"/>
              <a:gd name="adj2" fmla="val 47577"/>
            </a:avLst>
          </a:prstGeom>
          <a:solidFill>
            <a:srgbClr val="044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xmlns="" id="{5E492033-658D-4131-A681-0C2F16DD8753}"/>
              </a:ext>
            </a:extLst>
          </p:cNvPr>
          <p:cNvSpPr/>
          <p:nvPr/>
        </p:nvSpPr>
        <p:spPr>
          <a:xfrm rot="19883708">
            <a:off x="7259530" y="3055817"/>
            <a:ext cx="1193489" cy="381000"/>
          </a:xfrm>
          <a:prstGeom prst="rightArrow">
            <a:avLst>
              <a:gd name="adj1" fmla="val 34353"/>
              <a:gd name="adj2" fmla="val 47577"/>
            </a:avLst>
          </a:prstGeom>
          <a:solidFill>
            <a:srgbClr val="044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xmlns="" id="{6B9C7948-EEC2-464F-9A30-5A8B5B6CBE4F}"/>
              </a:ext>
            </a:extLst>
          </p:cNvPr>
          <p:cNvSpPr txBox="1"/>
          <p:nvPr/>
        </p:nvSpPr>
        <p:spPr>
          <a:xfrm>
            <a:off x="492065" y="3235318"/>
            <a:ext cx="2916878" cy="923330"/>
          </a:xfrm>
          <a:prstGeom prst="rect">
            <a:avLst/>
          </a:prstGeom>
          <a:noFill/>
        </p:spPr>
        <p:txBody>
          <a:bodyPr wrap="square" rtlCol="0">
            <a:spAutoFit/>
          </a:bodyPr>
          <a:lstStyle/>
          <a:p>
            <a:r>
              <a:rPr lang="en-US" dirty="0"/>
              <a:t>The teacher starts class from the Present Dashboard on their computer or tablet</a:t>
            </a:r>
          </a:p>
        </p:txBody>
      </p:sp>
      <p:sp>
        <p:nvSpPr>
          <p:cNvPr id="22" name="TextBox 21">
            <a:extLst>
              <a:ext uri="{FF2B5EF4-FFF2-40B4-BE49-F238E27FC236}">
                <a16:creationId xmlns:a16="http://schemas.microsoft.com/office/drawing/2014/main" xmlns="" id="{F875D746-1E8F-4350-B585-3B9C695D6F61}"/>
              </a:ext>
            </a:extLst>
          </p:cNvPr>
          <p:cNvSpPr txBox="1"/>
          <p:nvPr/>
        </p:nvSpPr>
        <p:spPr>
          <a:xfrm>
            <a:off x="4191650" y="1699383"/>
            <a:ext cx="3012925" cy="1477328"/>
          </a:xfrm>
          <a:prstGeom prst="rect">
            <a:avLst/>
          </a:prstGeom>
          <a:noFill/>
        </p:spPr>
        <p:txBody>
          <a:bodyPr wrap="square" rtlCol="0">
            <a:spAutoFit/>
          </a:bodyPr>
          <a:lstStyle/>
          <a:p>
            <a:r>
              <a:rPr lang="en-US" dirty="0"/>
              <a:t>Students receive a notification in the Present App asking to mark attendance – once they are “Present” they can’t leave the application</a:t>
            </a:r>
          </a:p>
        </p:txBody>
      </p:sp>
      <p:sp>
        <p:nvSpPr>
          <p:cNvPr id="23" name="TextBox 22">
            <a:extLst>
              <a:ext uri="{FF2B5EF4-FFF2-40B4-BE49-F238E27FC236}">
                <a16:creationId xmlns:a16="http://schemas.microsoft.com/office/drawing/2014/main" xmlns="" id="{E7E5AEF7-1355-418B-A0BA-659721CA4E90}"/>
              </a:ext>
            </a:extLst>
          </p:cNvPr>
          <p:cNvSpPr txBox="1"/>
          <p:nvPr/>
        </p:nvSpPr>
        <p:spPr>
          <a:xfrm>
            <a:off x="8732702" y="3200404"/>
            <a:ext cx="3012925" cy="1477328"/>
          </a:xfrm>
          <a:prstGeom prst="rect">
            <a:avLst/>
          </a:prstGeom>
          <a:noFill/>
        </p:spPr>
        <p:txBody>
          <a:bodyPr wrap="square" rtlCol="0">
            <a:spAutoFit/>
          </a:bodyPr>
          <a:lstStyle/>
          <a:p>
            <a:r>
              <a:rPr lang="en-US" dirty="0"/>
              <a:t>The Present Dashboard shows attendance status in real-time, so the teacher can see which students are “Present” or “Absent”</a:t>
            </a:r>
          </a:p>
        </p:txBody>
      </p:sp>
    </p:spTree>
    <p:extLst>
      <p:ext uri="{BB962C8B-B14F-4D97-AF65-F5344CB8AC3E}">
        <p14:creationId xmlns:p14="http://schemas.microsoft.com/office/powerpoint/2010/main" val="3469813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Pentagon 4">
            <a:extLst>
              <a:ext uri="{FF2B5EF4-FFF2-40B4-BE49-F238E27FC236}">
                <a16:creationId xmlns:a16="http://schemas.microsoft.com/office/drawing/2014/main" xmlns="" id="{178C5919-4221-446C-A25E-20778C8A4E80}"/>
              </a:ext>
            </a:extLst>
          </p:cNvPr>
          <p:cNvSpPr/>
          <p:nvPr/>
        </p:nvSpPr>
        <p:spPr>
          <a:xfrm>
            <a:off x="0" y="375127"/>
            <a:ext cx="6535973" cy="725588"/>
          </a:xfrm>
          <a:prstGeom prst="homePlate">
            <a:avLst>
              <a:gd name="adj" fmla="val 34483"/>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FA366C83-5684-4C6A-B418-A5147B2CD069}"/>
              </a:ext>
            </a:extLst>
          </p:cNvPr>
          <p:cNvSpPr>
            <a:spLocks noGrp="1"/>
          </p:cNvSpPr>
          <p:nvPr>
            <p:ph type="title"/>
          </p:nvPr>
        </p:nvSpPr>
        <p:spPr/>
        <p:txBody>
          <a:bodyPr/>
          <a:lstStyle/>
          <a:p>
            <a:r>
              <a:rPr lang="en-US" dirty="0"/>
              <a:t>Geographic Growth</a:t>
            </a:r>
          </a:p>
        </p:txBody>
      </p:sp>
      <p:grpSp>
        <p:nvGrpSpPr>
          <p:cNvPr id="12" name="Group 11"/>
          <p:cNvGrpSpPr>
            <a:grpSpLocks noChangeAspect="1"/>
          </p:cNvGrpSpPr>
          <p:nvPr/>
        </p:nvGrpSpPr>
        <p:grpSpPr>
          <a:xfrm>
            <a:off x="7827845" y="2091271"/>
            <a:ext cx="3623251" cy="3996215"/>
            <a:chOff x="5988573" y="919755"/>
            <a:chExt cx="4595813" cy="5068888"/>
          </a:xfrm>
          <a:solidFill>
            <a:srgbClr val="83CACC"/>
          </a:solidFill>
        </p:grpSpPr>
        <p:sp>
          <p:nvSpPr>
            <p:cNvPr id="49" name="Freeform 12"/>
            <p:cNvSpPr>
              <a:spLocks/>
            </p:cNvSpPr>
            <p:nvPr/>
          </p:nvSpPr>
          <p:spPr bwMode="gray">
            <a:xfrm>
              <a:off x="7056961" y="3529605"/>
              <a:ext cx="1074738" cy="1246188"/>
            </a:xfrm>
            <a:custGeom>
              <a:avLst/>
              <a:gdLst>
                <a:gd name="T0" fmla="*/ 0 w 1357"/>
                <a:gd name="T1" fmla="*/ 537 h 1570"/>
                <a:gd name="T2" fmla="*/ 44 w 1357"/>
                <a:gd name="T3" fmla="*/ 499 h 1570"/>
                <a:gd name="T4" fmla="*/ 26 w 1357"/>
                <a:gd name="T5" fmla="*/ 469 h 1570"/>
                <a:gd name="T6" fmla="*/ 35 w 1357"/>
                <a:gd name="T7" fmla="*/ 426 h 1570"/>
                <a:gd name="T8" fmla="*/ 80 w 1357"/>
                <a:gd name="T9" fmla="*/ 353 h 1570"/>
                <a:gd name="T10" fmla="*/ 113 w 1357"/>
                <a:gd name="T11" fmla="*/ 332 h 1570"/>
                <a:gd name="T12" fmla="*/ 94 w 1357"/>
                <a:gd name="T13" fmla="*/ 306 h 1570"/>
                <a:gd name="T14" fmla="*/ 81 w 1357"/>
                <a:gd name="T15" fmla="*/ 232 h 1570"/>
                <a:gd name="T16" fmla="*/ 96 w 1357"/>
                <a:gd name="T17" fmla="*/ 101 h 1570"/>
                <a:gd name="T18" fmla="*/ 118 w 1357"/>
                <a:gd name="T19" fmla="*/ 94 h 1570"/>
                <a:gd name="T20" fmla="*/ 156 w 1357"/>
                <a:gd name="T21" fmla="*/ 116 h 1570"/>
                <a:gd name="T22" fmla="*/ 189 w 1357"/>
                <a:gd name="T23" fmla="*/ 0 h 1570"/>
                <a:gd name="T24" fmla="*/ 677 w 1357"/>
                <a:gd name="T25" fmla="*/ 84 h 1570"/>
                <a:gd name="T26" fmla="*/ 574 w 1357"/>
                <a:gd name="T27" fmla="*/ 785 h 1570"/>
                <a:gd name="T28" fmla="*/ 425 w 1357"/>
                <a:gd name="T29" fmla="*/ 763 h 1570"/>
                <a:gd name="T30" fmla="*/ 331 w 1357"/>
                <a:gd name="T31" fmla="*/ 736 h 1570"/>
                <a:gd name="T32" fmla="*/ 140 w 1357"/>
                <a:gd name="T33" fmla="*/ 623 h 1570"/>
                <a:gd name="T34" fmla="*/ 0 w 1357"/>
                <a:gd name="T35" fmla="*/ 537 h 157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57"/>
                <a:gd name="T55" fmla="*/ 0 h 1570"/>
                <a:gd name="T56" fmla="*/ 1357 w 1357"/>
                <a:gd name="T57" fmla="*/ 1570 h 157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57" h="1570">
                  <a:moveTo>
                    <a:pt x="0" y="1074"/>
                  </a:moveTo>
                  <a:lnTo>
                    <a:pt x="88" y="999"/>
                  </a:lnTo>
                  <a:lnTo>
                    <a:pt x="53" y="939"/>
                  </a:lnTo>
                  <a:lnTo>
                    <a:pt x="71" y="853"/>
                  </a:lnTo>
                  <a:lnTo>
                    <a:pt x="160" y="705"/>
                  </a:lnTo>
                  <a:lnTo>
                    <a:pt x="227" y="663"/>
                  </a:lnTo>
                  <a:lnTo>
                    <a:pt x="188" y="611"/>
                  </a:lnTo>
                  <a:lnTo>
                    <a:pt x="162" y="464"/>
                  </a:lnTo>
                  <a:lnTo>
                    <a:pt x="192" y="203"/>
                  </a:lnTo>
                  <a:lnTo>
                    <a:pt x="237" y="188"/>
                  </a:lnTo>
                  <a:lnTo>
                    <a:pt x="312" y="233"/>
                  </a:lnTo>
                  <a:lnTo>
                    <a:pt x="378" y="0"/>
                  </a:lnTo>
                  <a:lnTo>
                    <a:pt x="1357" y="168"/>
                  </a:lnTo>
                  <a:lnTo>
                    <a:pt x="1151" y="1570"/>
                  </a:lnTo>
                  <a:lnTo>
                    <a:pt x="852" y="1525"/>
                  </a:lnTo>
                  <a:lnTo>
                    <a:pt x="664" y="1471"/>
                  </a:lnTo>
                  <a:lnTo>
                    <a:pt x="281" y="1246"/>
                  </a:lnTo>
                  <a:lnTo>
                    <a:pt x="0" y="1074"/>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2" name="Freeform 14"/>
            <p:cNvSpPr>
              <a:spLocks/>
            </p:cNvSpPr>
            <p:nvPr/>
          </p:nvSpPr>
          <p:spPr bwMode="gray">
            <a:xfrm>
              <a:off x="5988573" y="2184993"/>
              <a:ext cx="1249363" cy="2138363"/>
            </a:xfrm>
            <a:custGeom>
              <a:avLst/>
              <a:gdLst>
                <a:gd name="T0" fmla="*/ 18 w 1575"/>
                <a:gd name="T1" fmla="*/ 245 h 2698"/>
                <a:gd name="T2" fmla="*/ 28 w 1575"/>
                <a:gd name="T3" fmla="*/ 274 h 2698"/>
                <a:gd name="T4" fmla="*/ 5 w 1575"/>
                <a:gd name="T5" fmla="*/ 378 h 2698"/>
                <a:gd name="T6" fmla="*/ 19 w 1575"/>
                <a:gd name="T7" fmla="*/ 410 h 2698"/>
                <a:gd name="T8" fmla="*/ 82 w 1575"/>
                <a:gd name="T9" fmla="*/ 549 h 2698"/>
                <a:gd name="T10" fmla="*/ 88 w 1575"/>
                <a:gd name="T11" fmla="*/ 545 h 2698"/>
                <a:gd name="T12" fmla="*/ 91 w 1575"/>
                <a:gd name="T13" fmla="*/ 514 h 2698"/>
                <a:gd name="T14" fmla="*/ 102 w 1575"/>
                <a:gd name="T15" fmla="*/ 510 h 2698"/>
                <a:gd name="T16" fmla="*/ 112 w 1575"/>
                <a:gd name="T17" fmla="*/ 518 h 2698"/>
                <a:gd name="T18" fmla="*/ 94 w 1575"/>
                <a:gd name="T19" fmla="*/ 536 h 2698"/>
                <a:gd name="T20" fmla="*/ 101 w 1575"/>
                <a:gd name="T21" fmla="*/ 546 h 2698"/>
                <a:gd name="T22" fmla="*/ 117 w 1575"/>
                <a:gd name="T23" fmla="*/ 606 h 2698"/>
                <a:gd name="T24" fmla="*/ 107 w 1575"/>
                <a:gd name="T25" fmla="*/ 603 h 2698"/>
                <a:gd name="T26" fmla="*/ 85 w 1575"/>
                <a:gd name="T27" fmla="*/ 579 h 2698"/>
                <a:gd name="T28" fmla="*/ 91 w 1575"/>
                <a:gd name="T29" fmla="*/ 556 h 2698"/>
                <a:gd name="T30" fmla="*/ 81 w 1575"/>
                <a:gd name="T31" fmla="*/ 557 h 2698"/>
                <a:gd name="T32" fmla="*/ 69 w 1575"/>
                <a:gd name="T33" fmla="*/ 583 h 2698"/>
                <a:gd name="T34" fmla="*/ 72 w 1575"/>
                <a:gd name="T35" fmla="*/ 637 h 2698"/>
                <a:gd name="T36" fmla="*/ 86 w 1575"/>
                <a:gd name="T37" fmla="*/ 662 h 2698"/>
                <a:gd name="T38" fmla="*/ 114 w 1575"/>
                <a:gd name="T39" fmla="*/ 683 h 2698"/>
                <a:gd name="T40" fmla="*/ 104 w 1575"/>
                <a:gd name="T41" fmla="*/ 709 h 2698"/>
                <a:gd name="T42" fmla="*/ 88 w 1575"/>
                <a:gd name="T43" fmla="*/ 714 h 2698"/>
                <a:gd name="T44" fmla="*/ 86 w 1575"/>
                <a:gd name="T45" fmla="*/ 749 h 2698"/>
                <a:gd name="T46" fmla="*/ 124 w 1575"/>
                <a:gd name="T47" fmla="*/ 829 h 2698"/>
                <a:gd name="T48" fmla="*/ 155 w 1575"/>
                <a:gd name="T49" fmla="*/ 880 h 2698"/>
                <a:gd name="T50" fmla="*/ 150 w 1575"/>
                <a:gd name="T51" fmla="*/ 909 h 2698"/>
                <a:gd name="T52" fmla="*/ 169 w 1575"/>
                <a:gd name="T53" fmla="*/ 927 h 2698"/>
                <a:gd name="T54" fmla="*/ 161 w 1575"/>
                <a:gd name="T55" fmla="*/ 947 h 2698"/>
                <a:gd name="T56" fmla="*/ 150 w 1575"/>
                <a:gd name="T57" fmla="*/ 994 h 2698"/>
                <a:gd name="T58" fmla="*/ 163 w 1575"/>
                <a:gd name="T59" fmla="*/ 1011 h 2698"/>
                <a:gd name="T60" fmla="*/ 260 w 1575"/>
                <a:gd name="T61" fmla="*/ 1045 h 2698"/>
                <a:gd name="T62" fmla="*/ 299 w 1575"/>
                <a:gd name="T63" fmla="*/ 1098 h 2698"/>
                <a:gd name="T64" fmla="*/ 344 w 1575"/>
                <a:gd name="T65" fmla="*/ 1115 h 2698"/>
                <a:gd name="T66" fmla="*/ 345 w 1575"/>
                <a:gd name="T67" fmla="*/ 1147 h 2698"/>
                <a:gd name="T68" fmla="*/ 375 w 1575"/>
                <a:gd name="T69" fmla="*/ 1155 h 2698"/>
                <a:gd name="T70" fmla="*/ 416 w 1575"/>
                <a:gd name="T71" fmla="*/ 1210 h 2698"/>
                <a:gd name="T72" fmla="*/ 438 w 1575"/>
                <a:gd name="T73" fmla="*/ 1257 h 2698"/>
                <a:gd name="T74" fmla="*/ 439 w 1575"/>
                <a:gd name="T75" fmla="*/ 1329 h 2698"/>
                <a:gd name="T76" fmla="*/ 718 w 1575"/>
                <a:gd name="T77" fmla="*/ 1347 h 2698"/>
                <a:gd name="T78" fmla="*/ 700 w 1575"/>
                <a:gd name="T79" fmla="*/ 1317 h 2698"/>
                <a:gd name="T80" fmla="*/ 709 w 1575"/>
                <a:gd name="T81" fmla="*/ 1274 h 2698"/>
                <a:gd name="T82" fmla="*/ 754 w 1575"/>
                <a:gd name="T83" fmla="*/ 1200 h 2698"/>
                <a:gd name="T84" fmla="*/ 787 w 1575"/>
                <a:gd name="T85" fmla="*/ 1179 h 2698"/>
                <a:gd name="T86" fmla="*/ 768 w 1575"/>
                <a:gd name="T87" fmla="*/ 1153 h 2698"/>
                <a:gd name="T88" fmla="*/ 755 w 1575"/>
                <a:gd name="T89" fmla="*/ 1080 h 2698"/>
                <a:gd name="T90" fmla="*/ 383 w 1575"/>
                <a:gd name="T91" fmla="*/ 520 h 2698"/>
                <a:gd name="T92" fmla="*/ 354 w 1575"/>
                <a:gd name="T93" fmla="*/ 463 h 2698"/>
                <a:gd name="T94" fmla="*/ 448 w 1575"/>
                <a:gd name="T95" fmla="*/ 105 h 2698"/>
                <a:gd name="T96" fmla="*/ 76 w 1575"/>
                <a:gd name="T97" fmla="*/ 0 h 2698"/>
                <a:gd name="T98" fmla="*/ 65 w 1575"/>
                <a:gd name="T99" fmla="*/ 22 h 2698"/>
                <a:gd name="T100" fmla="*/ 68 w 1575"/>
                <a:gd name="T101" fmla="*/ 68 h 2698"/>
                <a:gd name="T102" fmla="*/ 0 w 1575"/>
                <a:gd name="T103" fmla="*/ 180 h 2698"/>
                <a:gd name="T104" fmla="*/ 18 w 1575"/>
                <a:gd name="T105" fmla="*/ 245 h 269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75"/>
                <a:gd name="T160" fmla="*/ 0 h 2698"/>
                <a:gd name="T161" fmla="*/ 1575 w 1575"/>
                <a:gd name="T162" fmla="*/ 2698 h 2698"/>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75" h="2698">
                  <a:moveTo>
                    <a:pt x="37" y="490"/>
                  </a:moveTo>
                  <a:lnTo>
                    <a:pt x="57" y="548"/>
                  </a:lnTo>
                  <a:lnTo>
                    <a:pt x="11" y="758"/>
                  </a:lnTo>
                  <a:lnTo>
                    <a:pt x="39" y="821"/>
                  </a:lnTo>
                  <a:lnTo>
                    <a:pt x="164" y="1099"/>
                  </a:lnTo>
                  <a:lnTo>
                    <a:pt x="177" y="1092"/>
                  </a:lnTo>
                  <a:lnTo>
                    <a:pt x="183" y="1030"/>
                  </a:lnTo>
                  <a:lnTo>
                    <a:pt x="204" y="1022"/>
                  </a:lnTo>
                  <a:lnTo>
                    <a:pt x="225" y="1037"/>
                  </a:lnTo>
                  <a:lnTo>
                    <a:pt x="188" y="1074"/>
                  </a:lnTo>
                  <a:lnTo>
                    <a:pt x="203" y="1094"/>
                  </a:lnTo>
                  <a:lnTo>
                    <a:pt x="235" y="1214"/>
                  </a:lnTo>
                  <a:lnTo>
                    <a:pt x="215" y="1207"/>
                  </a:lnTo>
                  <a:lnTo>
                    <a:pt x="171" y="1160"/>
                  </a:lnTo>
                  <a:lnTo>
                    <a:pt x="183" y="1114"/>
                  </a:lnTo>
                  <a:lnTo>
                    <a:pt x="162" y="1116"/>
                  </a:lnTo>
                  <a:lnTo>
                    <a:pt x="138" y="1167"/>
                  </a:lnTo>
                  <a:lnTo>
                    <a:pt x="145" y="1276"/>
                  </a:lnTo>
                  <a:lnTo>
                    <a:pt x="173" y="1326"/>
                  </a:lnTo>
                  <a:lnTo>
                    <a:pt x="229" y="1369"/>
                  </a:lnTo>
                  <a:lnTo>
                    <a:pt x="209" y="1421"/>
                  </a:lnTo>
                  <a:lnTo>
                    <a:pt x="177" y="1431"/>
                  </a:lnTo>
                  <a:lnTo>
                    <a:pt x="173" y="1500"/>
                  </a:lnTo>
                  <a:lnTo>
                    <a:pt x="249" y="1661"/>
                  </a:lnTo>
                  <a:lnTo>
                    <a:pt x="311" y="1762"/>
                  </a:lnTo>
                  <a:lnTo>
                    <a:pt x="301" y="1821"/>
                  </a:lnTo>
                  <a:lnTo>
                    <a:pt x="338" y="1857"/>
                  </a:lnTo>
                  <a:lnTo>
                    <a:pt x="323" y="1896"/>
                  </a:lnTo>
                  <a:lnTo>
                    <a:pt x="300" y="1990"/>
                  </a:lnTo>
                  <a:lnTo>
                    <a:pt x="327" y="2025"/>
                  </a:lnTo>
                  <a:lnTo>
                    <a:pt x="520" y="2094"/>
                  </a:lnTo>
                  <a:lnTo>
                    <a:pt x="598" y="2199"/>
                  </a:lnTo>
                  <a:lnTo>
                    <a:pt x="688" y="2234"/>
                  </a:lnTo>
                  <a:lnTo>
                    <a:pt x="690" y="2298"/>
                  </a:lnTo>
                  <a:lnTo>
                    <a:pt x="750" y="2314"/>
                  </a:lnTo>
                  <a:lnTo>
                    <a:pt x="832" y="2423"/>
                  </a:lnTo>
                  <a:lnTo>
                    <a:pt x="876" y="2518"/>
                  </a:lnTo>
                  <a:lnTo>
                    <a:pt x="878" y="2662"/>
                  </a:lnTo>
                  <a:lnTo>
                    <a:pt x="1436" y="2698"/>
                  </a:lnTo>
                  <a:lnTo>
                    <a:pt x="1401" y="2638"/>
                  </a:lnTo>
                  <a:lnTo>
                    <a:pt x="1419" y="2552"/>
                  </a:lnTo>
                  <a:lnTo>
                    <a:pt x="1508" y="2404"/>
                  </a:lnTo>
                  <a:lnTo>
                    <a:pt x="1575" y="2362"/>
                  </a:lnTo>
                  <a:lnTo>
                    <a:pt x="1536" y="2310"/>
                  </a:lnTo>
                  <a:lnTo>
                    <a:pt x="1510" y="2163"/>
                  </a:lnTo>
                  <a:lnTo>
                    <a:pt x="766" y="1041"/>
                  </a:lnTo>
                  <a:lnTo>
                    <a:pt x="708" y="927"/>
                  </a:lnTo>
                  <a:lnTo>
                    <a:pt x="896" y="210"/>
                  </a:lnTo>
                  <a:lnTo>
                    <a:pt x="152" y="0"/>
                  </a:lnTo>
                  <a:lnTo>
                    <a:pt x="130" y="44"/>
                  </a:lnTo>
                  <a:lnTo>
                    <a:pt x="137" y="137"/>
                  </a:lnTo>
                  <a:lnTo>
                    <a:pt x="0" y="360"/>
                  </a:lnTo>
                  <a:lnTo>
                    <a:pt x="37" y="490"/>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3" name="Freeform 15"/>
            <p:cNvSpPr>
              <a:spLocks/>
            </p:cNvSpPr>
            <p:nvPr/>
          </p:nvSpPr>
          <p:spPr bwMode="gray">
            <a:xfrm>
              <a:off x="8131698" y="2872380"/>
              <a:ext cx="1146175" cy="904875"/>
            </a:xfrm>
            <a:custGeom>
              <a:avLst/>
              <a:gdLst>
                <a:gd name="T0" fmla="*/ 0 w 1445"/>
                <a:gd name="T1" fmla="*/ 498 h 1144"/>
                <a:gd name="T2" fmla="*/ 70 w 1445"/>
                <a:gd name="T3" fmla="*/ 0 h 1144"/>
                <a:gd name="T4" fmla="*/ 535 w 1445"/>
                <a:gd name="T5" fmla="*/ 53 h 1144"/>
                <a:gd name="T6" fmla="*/ 722 w 1445"/>
                <a:gd name="T7" fmla="*/ 68 h 1144"/>
                <a:gd name="T8" fmla="*/ 714 w 1445"/>
                <a:gd name="T9" fmla="*/ 192 h 1144"/>
                <a:gd name="T10" fmla="*/ 689 w 1445"/>
                <a:gd name="T11" fmla="*/ 570 h 1144"/>
                <a:gd name="T12" fmla="*/ 595 w 1445"/>
                <a:gd name="T13" fmla="*/ 563 h 1144"/>
                <a:gd name="T14" fmla="*/ 298 w 1445"/>
                <a:gd name="T15" fmla="*/ 537 h 1144"/>
                <a:gd name="T16" fmla="*/ 0 w 1445"/>
                <a:gd name="T17" fmla="*/ 498 h 11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45"/>
                <a:gd name="T28" fmla="*/ 0 h 1144"/>
                <a:gd name="T29" fmla="*/ 1445 w 1445"/>
                <a:gd name="T30" fmla="*/ 1144 h 11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45" h="1144">
                  <a:moveTo>
                    <a:pt x="0" y="1000"/>
                  </a:moveTo>
                  <a:lnTo>
                    <a:pt x="140" y="0"/>
                  </a:lnTo>
                  <a:lnTo>
                    <a:pt x="1070" y="106"/>
                  </a:lnTo>
                  <a:lnTo>
                    <a:pt x="1445" y="137"/>
                  </a:lnTo>
                  <a:lnTo>
                    <a:pt x="1429" y="386"/>
                  </a:lnTo>
                  <a:lnTo>
                    <a:pt x="1379" y="1144"/>
                  </a:lnTo>
                  <a:lnTo>
                    <a:pt x="1190" y="1130"/>
                  </a:lnTo>
                  <a:lnTo>
                    <a:pt x="596" y="1078"/>
                  </a:lnTo>
                  <a:lnTo>
                    <a:pt x="0" y="1000"/>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4" name="Freeform 30"/>
            <p:cNvSpPr>
              <a:spLocks/>
            </p:cNvSpPr>
            <p:nvPr/>
          </p:nvSpPr>
          <p:spPr bwMode="gray">
            <a:xfrm>
              <a:off x="7122048" y="1110255"/>
              <a:ext cx="939800" cy="1519238"/>
            </a:xfrm>
            <a:custGeom>
              <a:avLst/>
              <a:gdLst>
                <a:gd name="T0" fmla="*/ 0 w 1185"/>
                <a:gd name="T1" fmla="*/ 849 h 1916"/>
                <a:gd name="T2" fmla="*/ 47 w 1185"/>
                <a:gd name="T3" fmla="*/ 644 h 1916"/>
                <a:gd name="T4" fmla="*/ 71 w 1185"/>
                <a:gd name="T5" fmla="*/ 590 h 1916"/>
                <a:gd name="T6" fmla="*/ 49 w 1185"/>
                <a:gd name="T7" fmla="*/ 564 h 1916"/>
                <a:gd name="T8" fmla="*/ 55 w 1185"/>
                <a:gd name="T9" fmla="*/ 540 h 1916"/>
                <a:gd name="T10" fmla="*/ 92 w 1185"/>
                <a:gd name="T11" fmla="*/ 505 h 1916"/>
                <a:gd name="T12" fmla="*/ 123 w 1185"/>
                <a:gd name="T13" fmla="*/ 457 h 1916"/>
                <a:gd name="T14" fmla="*/ 150 w 1185"/>
                <a:gd name="T15" fmla="*/ 416 h 1916"/>
                <a:gd name="T16" fmla="*/ 130 w 1185"/>
                <a:gd name="T17" fmla="*/ 384 h 1916"/>
                <a:gd name="T18" fmla="*/ 121 w 1185"/>
                <a:gd name="T19" fmla="*/ 363 h 1916"/>
                <a:gd name="T20" fmla="*/ 124 w 1185"/>
                <a:gd name="T21" fmla="*/ 310 h 1916"/>
                <a:gd name="T22" fmla="*/ 196 w 1185"/>
                <a:gd name="T23" fmla="*/ 0 h 1916"/>
                <a:gd name="T24" fmla="*/ 276 w 1185"/>
                <a:gd name="T25" fmla="*/ 17 h 1916"/>
                <a:gd name="T26" fmla="*/ 249 w 1185"/>
                <a:gd name="T27" fmla="*/ 138 h 1916"/>
                <a:gd name="T28" fmla="*/ 267 w 1185"/>
                <a:gd name="T29" fmla="*/ 181 h 1916"/>
                <a:gd name="T30" fmla="*/ 269 w 1185"/>
                <a:gd name="T31" fmla="*/ 208 h 1916"/>
                <a:gd name="T32" fmla="*/ 259 w 1185"/>
                <a:gd name="T33" fmla="*/ 212 h 1916"/>
                <a:gd name="T34" fmla="*/ 290 w 1185"/>
                <a:gd name="T35" fmla="*/ 242 h 1916"/>
                <a:gd name="T36" fmla="*/ 321 w 1185"/>
                <a:gd name="T37" fmla="*/ 319 h 1916"/>
                <a:gd name="T38" fmla="*/ 332 w 1185"/>
                <a:gd name="T39" fmla="*/ 316 h 1916"/>
                <a:gd name="T40" fmla="*/ 333 w 1185"/>
                <a:gd name="T41" fmla="*/ 327 h 1916"/>
                <a:gd name="T42" fmla="*/ 348 w 1185"/>
                <a:gd name="T43" fmla="*/ 331 h 1916"/>
                <a:gd name="T44" fmla="*/ 359 w 1185"/>
                <a:gd name="T45" fmla="*/ 333 h 1916"/>
                <a:gd name="T46" fmla="*/ 331 w 1185"/>
                <a:gd name="T47" fmla="*/ 389 h 1916"/>
                <a:gd name="T48" fmla="*/ 336 w 1185"/>
                <a:gd name="T49" fmla="*/ 426 h 1916"/>
                <a:gd name="T50" fmla="*/ 313 w 1185"/>
                <a:gd name="T51" fmla="*/ 462 h 1916"/>
                <a:gd name="T52" fmla="*/ 329 w 1185"/>
                <a:gd name="T53" fmla="*/ 478 h 1916"/>
                <a:gd name="T54" fmla="*/ 369 w 1185"/>
                <a:gd name="T55" fmla="*/ 455 h 1916"/>
                <a:gd name="T56" fmla="*/ 398 w 1185"/>
                <a:gd name="T57" fmla="*/ 576 h 1916"/>
                <a:gd name="T58" fmla="*/ 416 w 1185"/>
                <a:gd name="T59" fmla="*/ 582 h 1916"/>
                <a:gd name="T60" fmla="*/ 420 w 1185"/>
                <a:gd name="T61" fmla="*/ 619 h 1916"/>
                <a:gd name="T62" fmla="*/ 435 w 1185"/>
                <a:gd name="T63" fmla="*/ 635 h 1916"/>
                <a:gd name="T64" fmla="*/ 447 w 1185"/>
                <a:gd name="T65" fmla="*/ 621 h 1916"/>
                <a:gd name="T66" fmla="*/ 474 w 1185"/>
                <a:gd name="T67" fmla="*/ 633 h 1916"/>
                <a:gd name="T68" fmla="*/ 490 w 1185"/>
                <a:gd name="T69" fmla="*/ 620 h 1916"/>
                <a:gd name="T70" fmla="*/ 544 w 1185"/>
                <a:gd name="T71" fmla="*/ 631 h 1916"/>
                <a:gd name="T72" fmla="*/ 557 w 1185"/>
                <a:gd name="T73" fmla="*/ 634 h 1916"/>
                <a:gd name="T74" fmla="*/ 569 w 1185"/>
                <a:gd name="T75" fmla="*/ 609 h 1916"/>
                <a:gd name="T76" fmla="*/ 592 w 1185"/>
                <a:gd name="T77" fmla="*/ 648 h 1916"/>
                <a:gd name="T78" fmla="*/ 542 w 1185"/>
                <a:gd name="T79" fmla="*/ 957 h 1916"/>
                <a:gd name="T80" fmla="*/ 269 w 1185"/>
                <a:gd name="T81" fmla="*/ 907 h 1916"/>
                <a:gd name="T82" fmla="*/ 0 w 1185"/>
                <a:gd name="T83" fmla="*/ 849 h 191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85"/>
                <a:gd name="T127" fmla="*/ 0 h 1916"/>
                <a:gd name="T128" fmla="*/ 1185 w 1185"/>
                <a:gd name="T129" fmla="*/ 1916 h 191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85" h="1916">
                  <a:moveTo>
                    <a:pt x="0" y="1699"/>
                  </a:moveTo>
                  <a:lnTo>
                    <a:pt x="94" y="1290"/>
                  </a:lnTo>
                  <a:lnTo>
                    <a:pt x="142" y="1181"/>
                  </a:lnTo>
                  <a:lnTo>
                    <a:pt x="99" y="1129"/>
                  </a:lnTo>
                  <a:lnTo>
                    <a:pt x="110" y="1082"/>
                  </a:lnTo>
                  <a:lnTo>
                    <a:pt x="185" y="1011"/>
                  </a:lnTo>
                  <a:lnTo>
                    <a:pt x="246" y="915"/>
                  </a:lnTo>
                  <a:lnTo>
                    <a:pt x="301" y="832"/>
                  </a:lnTo>
                  <a:lnTo>
                    <a:pt x="260" y="769"/>
                  </a:lnTo>
                  <a:lnTo>
                    <a:pt x="242" y="726"/>
                  </a:lnTo>
                  <a:lnTo>
                    <a:pt x="249" y="620"/>
                  </a:lnTo>
                  <a:lnTo>
                    <a:pt x="393" y="0"/>
                  </a:lnTo>
                  <a:lnTo>
                    <a:pt x="552" y="35"/>
                  </a:lnTo>
                  <a:lnTo>
                    <a:pt x="499" y="276"/>
                  </a:lnTo>
                  <a:lnTo>
                    <a:pt x="534" y="363"/>
                  </a:lnTo>
                  <a:lnTo>
                    <a:pt x="538" y="417"/>
                  </a:lnTo>
                  <a:lnTo>
                    <a:pt x="519" y="425"/>
                  </a:lnTo>
                  <a:lnTo>
                    <a:pt x="580" y="484"/>
                  </a:lnTo>
                  <a:lnTo>
                    <a:pt x="642" y="638"/>
                  </a:lnTo>
                  <a:lnTo>
                    <a:pt x="664" y="632"/>
                  </a:lnTo>
                  <a:lnTo>
                    <a:pt x="666" y="654"/>
                  </a:lnTo>
                  <a:lnTo>
                    <a:pt x="696" y="663"/>
                  </a:lnTo>
                  <a:lnTo>
                    <a:pt x="718" y="666"/>
                  </a:lnTo>
                  <a:lnTo>
                    <a:pt x="663" y="778"/>
                  </a:lnTo>
                  <a:lnTo>
                    <a:pt x="672" y="852"/>
                  </a:lnTo>
                  <a:lnTo>
                    <a:pt x="627" y="924"/>
                  </a:lnTo>
                  <a:lnTo>
                    <a:pt x="658" y="956"/>
                  </a:lnTo>
                  <a:lnTo>
                    <a:pt x="738" y="911"/>
                  </a:lnTo>
                  <a:lnTo>
                    <a:pt x="796" y="1154"/>
                  </a:lnTo>
                  <a:lnTo>
                    <a:pt x="833" y="1166"/>
                  </a:lnTo>
                  <a:lnTo>
                    <a:pt x="840" y="1240"/>
                  </a:lnTo>
                  <a:lnTo>
                    <a:pt x="871" y="1271"/>
                  </a:lnTo>
                  <a:lnTo>
                    <a:pt x="894" y="1244"/>
                  </a:lnTo>
                  <a:lnTo>
                    <a:pt x="948" y="1268"/>
                  </a:lnTo>
                  <a:lnTo>
                    <a:pt x="981" y="1242"/>
                  </a:lnTo>
                  <a:lnTo>
                    <a:pt x="1089" y="1263"/>
                  </a:lnTo>
                  <a:lnTo>
                    <a:pt x="1115" y="1269"/>
                  </a:lnTo>
                  <a:lnTo>
                    <a:pt x="1139" y="1220"/>
                  </a:lnTo>
                  <a:lnTo>
                    <a:pt x="1185" y="1298"/>
                  </a:lnTo>
                  <a:lnTo>
                    <a:pt x="1085" y="1916"/>
                  </a:lnTo>
                  <a:lnTo>
                    <a:pt x="539" y="1816"/>
                  </a:lnTo>
                  <a:lnTo>
                    <a:pt x="0" y="1699"/>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5" name="Freeform 34"/>
            <p:cNvSpPr>
              <a:spLocks/>
            </p:cNvSpPr>
            <p:nvPr/>
          </p:nvSpPr>
          <p:spPr bwMode="gray">
            <a:xfrm>
              <a:off x="9225486" y="3178768"/>
              <a:ext cx="1168400" cy="630238"/>
            </a:xfrm>
            <a:custGeom>
              <a:avLst/>
              <a:gdLst>
                <a:gd name="T0" fmla="*/ 0 w 1474"/>
                <a:gd name="T1" fmla="*/ 377 h 798"/>
                <a:gd name="T2" fmla="*/ 25 w 1474"/>
                <a:gd name="T3" fmla="*/ 0 h 798"/>
                <a:gd name="T4" fmla="*/ 300 w 1474"/>
                <a:gd name="T5" fmla="*/ 16 h 798"/>
                <a:gd name="T6" fmla="*/ 664 w 1474"/>
                <a:gd name="T7" fmla="*/ 20 h 798"/>
                <a:gd name="T8" fmla="*/ 683 w 1474"/>
                <a:gd name="T9" fmla="*/ 38 h 798"/>
                <a:gd name="T10" fmla="*/ 695 w 1474"/>
                <a:gd name="T11" fmla="*/ 34 h 798"/>
                <a:gd name="T12" fmla="*/ 706 w 1474"/>
                <a:gd name="T13" fmla="*/ 44 h 798"/>
                <a:gd name="T14" fmla="*/ 708 w 1474"/>
                <a:gd name="T15" fmla="*/ 54 h 798"/>
                <a:gd name="T16" fmla="*/ 697 w 1474"/>
                <a:gd name="T17" fmla="*/ 54 h 798"/>
                <a:gd name="T18" fmla="*/ 685 w 1474"/>
                <a:gd name="T19" fmla="*/ 81 h 798"/>
                <a:gd name="T20" fmla="*/ 714 w 1474"/>
                <a:gd name="T21" fmla="*/ 122 h 798"/>
                <a:gd name="T22" fmla="*/ 736 w 1474"/>
                <a:gd name="T23" fmla="*/ 128 h 798"/>
                <a:gd name="T24" fmla="*/ 733 w 1474"/>
                <a:gd name="T25" fmla="*/ 396 h 798"/>
                <a:gd name="T26" fmla="*/ 418 w 1474"/>
                <a:gd name="T27" fmla="*/ 397 h 798"/>
                <a:gd name="T28" fmla="*/ 0 w 1474"/>
                <a:gd name="T29" fmla="*/ 377 h 79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74"/>
                <a:gd name="T46" fmla="*/ 0 h 798"/>
                <a:gd name="T47" fmla="*/ 1474 w 1474"/>
                <a:gd name="T48" fmla="*/ 798 h 79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74" h="798">
                  <a:moveTo>
                    <a:pt x="0" y="758"/>
                  </a:moveTo>
                  <a:lnTo>
                    <a:pt x="50" y="0"/>
                  </a:lnTo>
                  <a:lnTo>
                    <a:pt x="600" y="32"/>
                  </a:lnTo>
                  <a:lnTo>
                    <a:pt x="1329" y="41"/>
                  </a:lnTo>
                  <a:lnTo>
                    <a:pt x="1368" y="76"/>
                  </a:lnTo>
                  <a:lnTo>
                    <a:pt x="1391" y="69"/>
                  </a:lnTo>
                  <a:lnTo>
                    <a:pt x="1414" y="88"/>
                  </a:lnTo>
                  <a:lnTo>
                    <a:pt x="1417" y="108"/>
                  </a:lnTo>
                  <a:lnTo>
                    <a:pt x="1396" y="109"/>
                  </a:lnTo>
                  <a:lnTo>
                    <a:pt x="1371" y="162"/>
                  </a:lnTo>
                  <a:lnTo>
                    <a:pt x="1429" y="245"/>
                  </a:lnTo>
                  <a:lnTo>
                    <a:pt x="1474" y="258"/>
                  </a:lnTo>
                  <a:lnTo>
                    <a:pt x="1468" y="796"/>
                  </a:lnTo>
                  <a:lnTo>
                    <a:pt x="838" y="798"/>
                  </a:lnTo>
                  <a:lnTo>
                    <a:pt x="0" y="758"/>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6" name="Freeform 47"/>
            <p:cNvSpPr>
              <a:spLocks/>
            </p:cNvSpPr>
            <p:nvPr/>
          </p:nvSpPr>
          <p:spPr bwMode="gray">
            <a:xfrm>
              <a:off x="7518923" y="1138830"/>
              <a:ext cx="1606550" cy="1023938"/>
            </a:xfrm>
            <a:custGeom>
              <a:avLst/>
              <a:gdLst>
                <a:gd name="T0" fmla="*/ 0 w 2027"/>
                <a:gd name="T1" fmla="*/ 120 h 1293"/>
                <a:gd name="T2" fmla="*/ 17 w 2027"/>
                <a:gd name="T3" fmla="*/ 164 h 1293"/>
                <a:gd name="T4" fmla="*/ 19 w 2027"/>
                <a:gd name="T5" fmla="*/ 191 h 1293"/>
                <a:gd name="T6" fmla="*/ 10 w 2027"/>
                <a:gd name="T7" fmla="*/ 195 h 1293"/>
                <a:gd name="T8" fmla="*/ 40 w 2027"/>
                <a:gd name="T9" fmla="*/ 224 h 1293"/>
                <a:gd name="T10" fmla="*/ 71 w 2027"/>
                <a:gd name="T11" fmla="*/ 301 h 1293"/>
                <a:gd name="T12" fmla="*/ 82 w 2027"/>
                <a:gd name="T13" fmla="*/ 298 h 1293"/>
                <a:gd name="T14" fmla="*/ 83 w 2027"/>
                <a:gd name="T15" fmla="*/ 309 h 1293"/>
                <a:gd name="T16" fmla="*/ 98 w 2027"/>
                <a:gd name="T17" fmla="*/ 313 h 1293"/>
                <a:gd name="T18" fmla="*/ 109 w 2027"/>
                <a:gd name="T19" fmla="*/ 315 h 1293"/>
                <a:gd name="T20" fmla="*/ 82 w 2027"/>
                <a:gd name="T21" fmla="*/ 371 h 1293"/>
                <a:gd name="T22" fmla="*/ 86 w 2027"/>
                <a:gd name="T23" fmla="*/ 408 h 1293"/>
                <a:gd name="T24" fmla="*/ 64 w 2027"/>
                <a:gd name="T25" fmla="*/ 443 h 1293"/>
                <a:gd name="T26" fmla="*/ 79 w 2027"/>
                <a:gd name="T27" fmla="*/ 459 h 1293"/>
                <a:gd name="T28" fmla="*/ 119 w 2027"/>
                <a:gd name="T29" fmla="*/ 437 h 1293"/>
                <a:gd name="T30" fmla="*/ 148 w 2027"/>
                <a:gd name="T31" fmla="*/ 558 h 1293"/>
                <a:gd name="T32" fmla="*/ 167 w 2027"/>
                <a:gd name="T33" fmla="*/ 564 h 1293"/>
                <a:gd name="T34" fmla="*/ 170 w 2027"/>
                <a:gd name="T35" fmla="*/ 601 h 1293"/>
                <a:gd name="T36" fmla="*/ 186 w 2027"/>
                <a:gd name="T37" fmla="*/ 617 h 1293"/>
                <a:gd name="T38" fmla="*/ 197 w 2027"/>
                <a:gd name="T39" fmla="*/ 603 h 1293"/>
                <a:gd name="T40" fmla="*/ 224 w 2027"/>
                <a:gd name="T41" fmla="*/ 615 h 1293"/>
                <a:gd name="T42" fmla="*/ 241 w 2027"/>
                <a:gd name="T43" fmla="*/ 602 h 1293"/>
                <a:gd name="T44" fmla="*/ 295 w 2027"/>
                <a:gd name="T45" fmla="*/ 613 h 1293"/>
                <a:gd name="T46" fmla="*/ 308 w 2027"/>
                <a:gd name="T47" fmla="*/ 616 h 1293"/>
                <a:gd name="T48" fmla="*/ 320 w 2027"/>
                <a:gd name="T49" fmla="*/ 591 h 1293"/>
                <a:gd name="T50" fmla="*/ 342 w 2027"/>
                <a:gd name="T51" fmla="*/ 630 h 1293"/>
                <a:gd name="T52" fmla="*/ 353 w 2027"/>
                <a:gd name="T53" fmla="*/ 568 h 1293"/>
                <a:gd name="T54" fmla="*/ 629 w 2027"/>
                <a:gd name="T55" fmla="*/ 609 h 1293"/>
                <a:gd name="T56" fmla="*/ 967 w 2027"/>
                <a:gd name="T57" fmla="*/ 645 h 1293"/>
                <a:gd name="T58" fmla="*/ 979 w 2027"/>
                <a:gd name="T59" fmla="*/ 529 h 1293"/>
                <a:gd name="T60" fmla="*/ 1012 w 2027"/>
                <a:gd name="T61" fmla="*/ 151 h 1293"/>
                <a:gd name="T62" fmla="*/ 564 w 2027"/>
                <a:gd name="T63" fmla="*/ 99 h 1293"/>
                <a:gd name="T64" fmla="*/ 340 w 2027"/>
                <a:gd name="T65" fmla="*/ 62 h 1293"/>
                <a:gd name="T66" fmla="*/ 26 w 2027"/>
                <a:gd name="T67" fmla="*/ 0 h 1293"/>
                <a:gd name="T68" fmla="*/ 0 w 2027"/>
                <a:gd name="T69" fmla="*/ 120 h 129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27"/>
                <a:gd name="T106" fmla="*/ 0 h 1293"/>
                <a:gd name="T107" fmla="*/ 2027 w 2027"/>
                <a:gd name="T108" fmla="*/ 1293 h 129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27" h="1293">
                  <a:moveTo>
                    <a:pt x="0" y="241"/>
                  </a:moveTo>
                  <a:lnTo>
                    <a:pt x="35" y="328"/>
                  </a:lnTo>
                  <a:lnTo>
                    <a:pt x="39" y="382"/>
                  </a:lnTo>
                  <a:lnTo>
                    <a:pt x="20" y="390"/>
                  </a:lnTo>
                  <a:lnTo>
                    <a:pt x="81" y="449"/>
                  </a:lnTo>
                  <a:lnTo>
                    <a:pt x="143" y="603"/>
                  </a:lnTo>
                  <a:lnTo>
                    <a:pt x="165" y="597"/>
                  </a:lnTo>
                  <a:lnTo>
                    <a:pt x="167" y="619"/>
                  </a:lnTo>
                  <a:lnTo>
                    <a:pt x="197" y="628"/>
                  </a:lnTo>
                  <a:lnTo>
                    <a:pt x="219" y="631"/>
                  </a:lnTo>
                  <a:lnTo>
                    <a:pt x="164" y="743"/>
                  </a:lnTo>
                  <a:lnTo>
                    <a:pt x="173" y="817"/>
                  </a:lnTo>
                  <a:lnTo>
                    <a:pt x="128" y="889"/>
                  </a:lnTo>
                  <a:lnTo>
                    <a:pt x="159" y="921"/>
                  </a:lnTo>
                  <a:lnTo>
                    <a:pt x="239" y="876"/>
                  </a:lnTo>
                  <a:lnTo>
                    <a:pt x="297" y="1119"/>
                  </a:lnTo>
                  <a:lnTo>
                    <a:pt x="334" y="1131"/>
                  </a:lnTo>
                  <a:lnTo>
                    <a:pt x="341" y="1205"/>
                  </a:lnTo>
                  <a:lnTo>
                    <a:pt x="372" y="1236"/>
                  </a:lnTo>
                  <a:lnTo>
                    <a:pt x="395" y="1209"/>
                  </a:lnTo>
                  <a:lnTo>
                    <a:pt x="449" y="1233"/>
                  </a:lnTo>
                  <a:lnTo>
                    <a:pt x="482" y="1207"/>
                  </a:lnTo>
                  <a:lnTo>
                    <a:pt x="590" y="1228"/>
                  </a:lnTo>
                  <a:lnTo>
                    <a:pt x="616" y="1234"/>
                  </a:lnTo>
                  <a:lnTo>
                    <a:pt x="640" y="1185"/>
                  </a:lnTo>
                  <a:lnTo>
                    <a:pt x="686" y="1263"/>
                  </a:lnTo>
                  <a:lnTo>
                    <a:pt x="708" y="1139"/>
                  </a:lnTo>
                  <a:lnTo>
                    <a:pt x="1259" y="1221"/>
                  </a:lnTo>
                  <a:lnTo>
                    <a:pt x="1937" y="1293"/>
                  </a:lnTo>
                  <a:lnTo>
                    <a:pt x="1960" y="1060"/>
                  </a:lnTo>
                  <a:lnTo>
                    <a:pt x="2027" y="303"/>
                  </a:lnTo>
                  <a:lnTo>
                    <a:pt x="1130" y="198"/>
                  </a:lnTo>
                  <a:lnTo>
                    <a:pt x="682" y="124"/>
                  </a:lnTo>
                  <a:lnTo>
                    <a:pt x="53" y="0"/>
                  </a:lnTo>
                  <a:lnTo>
                    <a:pt x="0" y="241"/>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7" name="Freeform 48"/>
            <p:cNvSpPr>
              <a:spLocks/>
            </p:cNvSpPr>
            <p:nvPr/>
          </p:nvSpPr>
          <p:spPr bwMode="gray">
            <a:xfrm>
              <a:off x="8981011" y="2558055"/>
              <a:ext cx="1296988" cy="652463"/>
            </a:xfrm>
            <a:custGeom>
              <a:avLst/>
              <a:gdLst>
                <a:gd name="T0" fmla="*/ 0 w 1638"/>
                <a:gd name="T1" fmla="*/ 250 h 821"/>
                <a:gd name="T2" fmla="*/ 23 w 1638"/>
                <a:gd name="T3" fmla="*/ 0 h 821"/>
                <a:gd name="T4" fmla="*/ 526 w 1638"/>
                <a:gd name="T5" fmla="*/ 31 h 821"/>
                <a:gd name="T6" fmla="*/ 561 w 1638"/>
                <a:gd name="T7" fmla="*/ 57 h 821"/>
                <a:gd name="T8" fmla="*/ 620 w 1638"/>
                <a:gd name="T9" fmla="*/ 54 h 821"/>
                <a:gd name="T10" fmla="*/ 649 w 1638"/>
                <a:gd name="T11" fmla="*/ 61 h 821"/>
                <a:gd name="T12" fmla="*/ 682 w 1638"/>
                <a:gd name="T13" fmla="*/ 76 h 821"/>
                <a:gd name="T14" fmla="*/ 700 w 1638"/>
                <a:gd name="T15" fmla="*/ 97 h 821"/>
                <a:gd name="T16" fmla="*/ 715 w 1638"/>
                <a:gd name="T17" fmla="*/ 102 h 821"/>
                <a:gd name="T18" fmla="*/ 743 w 1638"/>
                <a:gd name="T19" fmla="*/ 179 h 821"/>
                <a:gd name="T20" fmla="*/ 743 w 1638"/>
                <a:gd name="T21" fmla="*/ 203 h 821"/>
                <a:gd name="T22" fmla="*/ 762 w 1638"/>
                <a:gd name="T23" fmla="*/ 239 h 821"/>
                <a:gd name="T24" fmla="*/ 771 w 1638"/>
                <a:gd name="T25" fmla="*/ 299 h 821"/>
                <a:gd name="T26" fmla="*/ 766 w 1638"/>
                <a:gd name="T27" fmla="*/ 317 h 821"/>
                <a:gd name="T28" fmla="*/ 778 w 1638"/>
                <a:gd name="T29" fmla="*/ 336 h 821"/>
                <a:gd name="T30" fmla="*/ 817 w 1638"/>
                <a:gd name="T31" fmla="*/ 411 h 821"/>
                <a:gd name="T32" fmla="*/ 453 w 1638"/>
                <a:gd name="T33" fmla="*/ 406 h 821"/>
                <a:gd name="T34" fmla="*/ 179 w 1638"/>
                <a:gd name="T35" fmla="*/ 390 h 821"/>
                <a:gd name="T36" fmla="*/ 187 w 1638"/>
                <a:gd name="T37" fmla="*/ 266 h 821"/>
                <a:gd name="T38" fmla="*/ 0 w 1638"/>
                <a:gd name="T39" fmla="*/ 250 h 8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38"/>
                <a:gd name="T61" fmla="*/ 0 h 821"/>
                <a:gd name="T62" fmla="*/ 1638 w 1638"/>
                <a:gd name="T63" fmla="*/ 821 h 8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38" h="821">
                  <a:moveTo>
                    <a:pt x="0" y="500"/>
                  </a:moveTo>
                  <a:lnTo>
                    <a:pt x="46" y="0"/>
                  </a:lnTo>
                  <a:lnTo>
                    <a:pt x="1055" y="62"/>
                  </a:lnTo>
                  <a:lnTo>
                    <a:pt x="1124" y="113"/>
                  </a:lnTo>
                  <a:lnTo>
                    <a:pt x="1244" y="108"/>
                  </a:lnTo>
                  <a:lnTo>
                    <a:pt x="1301" y="121"/>
                  </a:lnTo>
                  <a:lnTo>
                    <a:pt x="1368" y="151"/>
                  </a:lnTo>
                  <a:lnTo>
                    <a:pt x="1403" y="193"/>
                  </a:lnTo>
                  <a:lnTo>
                    <a:pt x="1433" y="203"/>
                  </a:lnTo>
                  <a:lnTo>
                    <a:pt x="1489" y="358"/>
                  </a:lnTo>
                  <a:lnTo>
                    <a:pt x="1490" y="406"/>
                  </a:lnTo>
                  <a:lnTo>
                    <a:pt x="1527" y="478"/>
                  </a:lnTo>
                  <a:lnTo>
                    <a:pt x="1545" y="597"/>
                  </a:lnTo>
                  <a:lnTo>
                    <a:pt x="1536" y="633"/>
                  </a:lnTo>
                  <a:lnTo>
                    <a:pt x="1559" y="672"/>
                  </a:lnTo>
                  <a:lnTo>
                    <a:pt x="1638" y="821"/>
                  </a:lnTo>
                  <a:lnTo>
                    <a:pt x="909" y="812"/>
                  </a:lnTo>
                  <a:lnTo>
                    <a:pt x="359" y="780"/>
                  </a:lnTo>
                  <a:lnTo>
                    <a:pt x="375" y="531"/>
                  </a:lnTo>
                  <a:lnTo>
                    <a:pt x="0" y="500"/>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8" name="Freeform 49"/>
            <p:cNvSpPr>
              <a:spLocks/>
            </p:cNvSpPr>
            <p:nvPr/>
          </p:nvSpPr>
          <p:spPr bwMode="gray">
            <a:xfrm>
              <a:off x="6548961" y="2351680"/>
              <a:ext cx="1000125" cy="1547813"/>
            </a:xfrm>
            <a:custGeom>
              <a:avLst/>
              <a:gdLst>
                <a:gd name="T0" fmla="*/ 0 w 1262"/>
                <a:gd name="T1" fmla="*/ 358 h 1953"/>
                <a:gd name="T2" fmla="*/ 29 w 1262"/>
                <a:gd name="T3" fmla="*/ 415 h 1953"/>
                <a:gd name="T4" fmla="*/ 400 w 1262"/>
                <a:gd name="T5" fmla="*/ 975 h 1953"/>
                <a:gd name="T6" fmla="*/ 415 w 1262"/>
                <a:gd name="T7" fmla="*/ 845 h 1953"/>
                <a:gd name="T8" fmla="*/ 438 w 1262"/>
                <a:gd name="T9" fmla="*/ 837 h 1953"/>
                <a:gd name="T10" fmla="*/ 475 w 1262"/>
                <a:gd name="T11" fmla="*/ 860 h 1953"/>
                <a:gd name="T12" fmla="*/ 508 w 1262"/>
                <a:gd name="T13" fmla="*/ 743 h 1953"/>
                <a:gd name="T14" fmla="*/ 630 w 1262"/>
                <a:gd name="T15" fmla="*/ 125 h 1953"/>
                <a:gd name="T16" fmla="*/ 361 w 1262"/>
                <a:gd name="T17" fmla="*/ 67 h 1953"/>
                <a:gd name="T18" fmla="*/ 94 w 1262"/>
                <a:gd name="T19" fmla="*/ 0 h 1953"/>
                <a:gd name="T20" fmla="*/ 0 w 1262"/>
                <a:gd name="T21" fmla="*/ 358 h 19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62"/>
                <a:gd name="T34" fmla="*/ 0 h 1953"/>
                <a:gd name="T35" fmla="*/ 1262 w 1262"/>
                <a:gd name="T36" fmla="*/ 1953 h 19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62" h="1953">
                  <a:moveTo>
                    <a:pt x="0" y="717"/>
                  </a:moveTo>
                  <a:lnTo>
                    <a:pt x="58" y="831"/>
                  </a:lnTo>
                  <a:lnTo>
                    <a:pt x="802" y="1953"/>
                  </a:lnTo>
                  <a:lnTo>
                    <a:pt x="832" y="1692"/>
                  </a:lnTo>
                  <a:lnTo>
                    <a:pt x="877" y="1677"/>
                  </a:lnTo>
                  <a:lnTo>
                    <a:pt x="952" y="1722"/>
                  </a:lnTo>
                  <a:lnTo>
                    <a:pt x="1018" y="1489"/>
                  </a:lnTo>
                  <a:lnTo>
                    <a:pt x="1262" y="251"/>
                  </a:lnTo>
                  <a:lnTo>
                    <a:pt x="723" y="134"/>
                  </a:lnTo>
                  <a:lnTo>
                    <a:pt x="188" y="0"/>
                  </a:lnTo>
                  <a:lnTo>
                    <a:pt x="0" y="717"/>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59" name="Freeform 52"/>
            <p:cNvSpPr>
              <a:spLocks/>
            </p:cNvSpPr>
            <p:nvPr/>
          </p:nvSpPr>
          <p:spPr bwMode="gray">
            <a:xfrm>
              <a:off x="7969773" y="3662955"/>
              <a:ext cx="1104900" cy="1131888"/>
            </a:xfrm>
            <a:custGeom>
              <a:avLst/>
              <a:gdLst>
                <a:gd name="T0" fmla="*/ 0 w 1396"/>
                <a:gd name="T1" fmla="*/ 701 h 1427"/>
                <a:gd name="T2" fmla="*/ 87 w 1396"/>
                <a:gd name="T3" fmla="*/ 713 h 1427"/>
                <a:gd name="T4" fmla="*/ 95 w 1396"/>
                <a:gd name="T5" fmla="*/ 659 h 1427"/>
                <a:gd name="T6" fmla="*/ 271 w 1396"/>
                <a:gd name="T7" fmla="*/ 682 h 1427"/>
                <a:gd name="T8" fmla="*/ 263 w 1396"/>
                <a:gd name="T9" fmla="*/ 656 h 1427"/>
                <a:gd name="T10" fmla="*/ 291 w 1396"/>
                <a:gd name="T11" fmla="*/ 658 h 1427"/>
                <a:gd name="T12" fmla="*/ 639 w 1396"/>
                <a:gd name="T13" fmla="*/ 692 h 1427"/>
                <a:gd name="T14" fmla="*/ 691 w 1396"/>
                <a:gd name="T15" fmla="*/ 130 h 1427"/>
                <a:gd name="T16" fmla="*/ 696 w 1396"/>
                <a:gd name="T17" fmla="*/ 65 h 1427"/>
                <a:gd name="T18" fmla="*/ 400 w 1396"/>
                <a:gd name="T19" fmla="*/ 39 h 1427"/>
                <a:gd name="T20" fmla="*/ 103 w 1396"/>
                <a:gd name="T21" fmla="*/ 0 h 1427"/>
                <a:gd name="T22" fmla="*/ 0 w 1396"/>
                <a:gd name="T23" fmla="*/ 701 h 14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96"/>
                <a:gd name="T37" fmla="*/ 0 h 1427"/>
                <a:gd name="T38" fmla="*/ 1396 w 1396"/>
                <a:gd name="T39" fmla="*/ 1427 h 14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96" h="1427">
                  <a:moveTo>
                    <a:pt x="0" y="1402"/>
                  </a:moveTo>
                  <a:lnTo>
                    <a:pt x="174" y="1427"/>
                  </a:lnTo>
                  <a:lnTo>
                    <a:pt x="191" y="1319"/>
                  </a:lnTo>
                  <a:lnTo>
                    <a:pt x="544" y="1364"/>
                  </a:lnTo>
                  <a:lnTo>
                    <a:pt x="528" y="1312"/>
                  </a:lnTo>
                  <a:lnTo>
                    <a:pt x="583" y="1317"/>
                  </a:lnTo>
                  <a:lnTo>
                    <a:pt x="1281" y="1384"/>
                  </a:lnTo>
                  <a:lnTo>
                    <a:pt x="1385" y="261"/>
                  </a:lnTo>
                  <a:lnTo>
                    <a:pt x="1396" y="130"/>
                  </a:lnTo>
                  <a:lnTo>
                    <a:pt x="802" y="78"/>
                  </a:lnTo>
                  <a:lnTo>
                    <a:pt x="206" y="0"/>
                  </a:lnTo>
                  <a:lnTo>
                    <a:pt x="0" y="1402"/>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0" name="Freeform 57"/>
            <p:cNvSpPr>
              <a:spLocks/>
            </p:cNvSpPr>
            <p:nvPr/>
          </p:nvSpPr>
          <p:spPr bwMode="gray">
            <a:xfrm>
              <a:off x="9071498" y="1378543"/>
              <a:ext cx="1035050" cy="652463"/>
            </a:xfrm>
            <a:custGeom>
              <a:avLst/>
              <a:gdLst>
                <a:gd name="T0" fmla="*/ 0 w 1305"/>
                <a:gd name="T1" fmla="*/ 378 h 823"/>
                <a:gd name="T2" fmla="*/ 33 w 1305"/>
                <a:gd name="T3" fmla="*/ 0 h 823"/>
                <a:gd name="T4" fmla="*/ 355 w 1305"/>
                <a:gd name="T5" fmla="*/ 22 h 823"/>
                <a:gd name="T6" fmla="*/ 602 w 1305"/>
                <a:gd name="T7" fmla="*/ 30 h 823"/>
                <a:gd name="T8" fmla="*/ 606 w 1305"/>
                <a:gd name="T9" fmla="*/ 133 h 823"/>
                <a:gd name="T10" fmla="*/ 631 w 1305"/>
                <a:gd name="T11" fmla="*/ 217 h 823"/>
                <a:gd name="T12" fmla="*/ 635 w 1305"/>
                <a:gd name="T13" fmla="*/ 325 h 823"/>
                <a:gd name="T14" fmla="*/ 652 w 1305"/>
                <a:gd name="T15" fmla="*/ 411 h 823"/>
                <a:gd name="T16" fmla="*/ 309 w 1305"/>
                <a:gd name="T17" fmla="*/ 401 h 823"/>
                <a:gd name="T18" fmla="*/ 0 w 1305"/>
                <a:gd name="T19" fmla="*/ 378 h 8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05"/>
                <a:gd name="T31" fmla="*/ 0 h 823"/>
                <a:gd name="T32" fmla="*/ 1305 w 1305"/>
                <a:gd name="T33" fmla="*/ 823 h 8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05" h="823">
                  <a:moveTo>
                    <a:pt x="0" y="757"/>
                  </a:moveTo>
                  <a:lnTo>
                    <a:pt x="67" y="0"/>
                  </a:lnTo>
                  <a:lnTo>
                    <a:pt x="710" y="45"/>
                  </a:lnTo>
                  <a:lnTo>
                    <a:pt x="1204" y="61"/>
                  </a:lnTo>
                  <a:lnTo>
                    <a:pt x="1213" y="267"/>
                  </a:lnTo>
                  <a:lnTo>
                    <a:pt x="1263" y="434"/>
                  </a:lnTo>
                  <a:lnTo>
                    <a:pt x="1270" y="650"/>
                  </a:lnTo>
                  <a:lnTo>
                    <a:pt x="1305" y="823"/>
                  </a:lnTo>
                  <a:lnTo>
                    <a:pt x="618" y="802"/>
                  </a:lnTo>
                  <a:lnTo>
                    <a:pt x="0" y="757"/>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1" name="Freeform 59"/>
            <p:cNvSpPr>
              <a:spLocks/>
            </p:cNvSpPr>
            <p:nvPr/>
          </p:nvSpPr>
          <p:spPr bwMode="gray">
            <a:xfrm>
              <a:off x="9066736" y="3766143"/>
              <a:ext cx="1357313" cy="712788"/>
            </a:xfrm>
            <a:custGeom>
              <a:avLst/>
              <a:gdLst>
                <a:gd name="T0" fmla="*/ 0 w 1712"/>
                <a:gd name="T1" fmla="*/ 66 h 896"/>
                <a:gd name="T2" fmla="*/ 5 w 1712"/>
                <a:gd name="T3" fmla="*/ 0 h 896"/>
                <a:gd name="T4" fmla="*/ 100 w 1712"/>
                <a:gd name="T5" fmla="*/ 7 h 896"/>
                <a:gd name="T6" fmla="*/ 518 w 1712"/>
                <a:gd name="T7" fmla="*/ 27 h 896"/>
                <a:gd name="T8" fmla="*/ 833 w 1712"/>
                <a:gd name="T9" fmla="*/ 26 h 896"/>
                <a:gd name="T10" fmla="*/ 835 w 1712"/>
                <a:gd name="T11" fmla="*/ 91 h 896"/>
                <a:gd name="T12" fmla="*/ 855 w 1712"/>
                <a:gd name="T13" fmla="*/ 232 h 896"/>
                <a:gd name="T14" fmla="*/ 852 w 1712"/>
                <a:gd name="T15" fmla="*/ 449 h 896"/>
                <a:gd name="T16" fmla="*/ 825 w 1712"/>
                <a:gd name="T17" fmla="*/ 439 h 896"/>
                <a:gd name="T18" fmla="*/ 783 w 1712"/>
                <a:gd name="T19" fmla="*/ 411 h 896"/>
                <a:gd name="T20" fmla="*/ 766 w 1712"/>
                <a:gd name="T21" fmla="*/ 419 h 896"/>
                <a:gd name="T22" fmla="*/ 711 w 1712"/>
                <a:gd name="T23" fmla="*/ 424 h 896"/>
                <a:gd name="T24" fmla="*/ 656 w 1712"/>
                <a:gd name="T25" fmla="*/ 442 h 896"/>
                <a:gd name="T26" fmla="*/ 634 w 1712"/>
                <a:gd name="T27" fmla="*/ 421 h 896"/>
                <a:gd name="T28" fmla="*/ 607 w 1712"/>
                <a:gd name="T29" fmla="*/ 426 h 896"/>
                <a:gd name="T30" fmla="*/ 602 w 1712"/>
                <a:gd name="T31" fmla="*/ 411 h 896"/>
                <a:gd name="T32" fmla="*/ 582 w 1712"/>
                <a:gd name="T33" fmla="*/ 425 h 896"/>
                <a:gd name="T34" fmla="*/ 578 w 1712"/>
                <a:gd name="T35" fmla="*/ 442 h 896"/>
                <a:gd name="T36" fmla="*/ 571 w 1712"/>
                <a:gd name="T37" fmla="*/ 419 h 896"/>
                <a:gd name="T38" fmla="*/ 552 w 1712"/>
                <a:gd name="T39" fmla="*/ 431 h 896"/>
                <a:gd name="T40" fmla="*/ 521 w 1712"/>
                <a:gd name="T41" fmla="*/ 406 h 896"/>
                <a:gd name="T42" fmla="*/ 504 w 1712"/>
                <a:gd name="T43" fmla="*/ 425 h 896"/>
                <a:gd name="T44" fmla="*/ 492 w 1712"/>
                <a:gd name="T45" fmla="*/ 415 h 896"/>
                <a:gd name="T46" fmla="*/ 477 w 1712"/>
                <a:gd name="T47" fmla="*/ 385 h 896"/>
                <a:gd name="T48" fmla="*/ 451 w 1712"/>
                <a:gd name="T49" fmla="*/ 383 h 896"/>
                <a:gd name="T50" fmla="*/ 447 w 1712"/>
                <a:gd name="T51" fmla="*/ 392 h 896"/>
                <a:gd name="T52" fmla="*/ 428 w 1712"/>
                <a:gd name="T53" fmla="*/ 380 h 896"/>
                <a:gd name="T54" fmla="*/ 414 w 1712"/>
                <a:gd name="T55" fmla="*/ 385 h 896"/>
                <a:gd name="T56" fmla="*/ 393 w 1712"/>
                <a:gd name="T57" fmla="*/ 375 h 896"/>
                <a:gd name="T58" fmla="*/ 369 w 1712"/>
                <a:gd name="T59" fmla="*/ 373 h 896"/>
                <a:gd name="T60" fmla="*/ 370 w 1712"/>
                <a:gd name="T61" fmla="*/ 357 h 896"/>
                <a:gd name="T62" fmla="*/ 353 w 1712"/>
                <a:gd name="T63" fmla="*/ 342 h 896"/>
                <a:gd name="T64" fmla="*/ 347 w 1712"/>
                <a:gd name="T65" fmla="*/ 352 h 896"/>
                <a:gd name="T66" fmla="*/ 318 w 1712"/>
                <a:gd name="T67" fmla="*/ 351 h 896"/>
                <a:gd name="T68" fmla="*/ 289 w 1712"/>
                <a:gd name="T69" fmla="*/ 326 h 896"/>
                <a:gd name="T70" fmla="*/ 299 w 1712"/>
                <a:gd name="T71" fmla="*/ 83 h 896"/>
                <a:gd name="T72" fmla="*/ 0 w 1712"/>
                <a:gd name="T73" fmla="*/ 66 h 8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712"/>
                <a:gd name="T112" fmla="*/ 0 h 896"/>
                <a:gd name="T113" fmla="*/ 1712 w 1712"/>
                <a:gd name="T114" fmla="*/ 896 h 8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712" h="896">
                  <a:moveTo>
                    <a:pt x="0" y="131"/>
                  </a:moveTo>
                  <a:lnTo>
                    <a:pt x="11" y="0"/>
                  </a:lnTo>
                  <a:lnTo>
                    <a:pt x="200" y="14"/>
                  </a:lnTo>
                  <a:lnTo>
                    <a:pt x="1038" y="54"/>
                  </a:lnTo>
                  <a:lnTo>
                    <a:pt x="1668" y="52"/>
                  </a:lnTo>
                  <a:lnTo>
                    <a:pt x="1672" y="182"/>
                  </a:lnTo>
                  <a:lnTo>
                    <a:pt x="1712" y="462"/>
                  </a:lnTo>
                  <a:lnTo>
                    <a:pt x="1705" y="896"/>
                  </a:lnTo>
                  <a:lnTo>
                    <a:pt x="1652" y="877"/>
                  </a:lnTo>
                  <a:lnTo>
                    <a:pt x="1567" y="820"/>
                  </a:lnTo>
                  <a:lnTo>
                    <a:pt x="1534" y="836"/>
                  </a:lnTo>
                  <a:lnTo>
                    <a:pt x="1423" y="847"/>
                  </a:lnTo>
                  <a:lnTo>
                    <a:pt x="1313" y="882"/>
                  </a:lnTo>
                  <a:lnTo>
                    <a:pt x="1270" y="841"/>
                  </a:lnTo>
                  <a:lnTo>
                    <a:pt x="1216" y="850"/>
                  </a:lnTo>
                  <a:lnTo>
                    <a:pt x="1205" y="821"/>
                  </a:lnTo>
                  <a:lnTo>
                    <a:pt x="1165" y="848"/>
                  </a:lnTo>
                  <a:lnTo>
                    <a:pt x="1158" y="883"/>
                  </a:lnTo>
                  <a:lnTo>
                    <a:pt x="1144" y="836"/>
                  </a:lnTo>
                  <a:lnTo>
                    <a:pt x="1106" y="861"/>
                  </a:lnTo>
                  <a:lnTo>
                    <a:pt x="1043" y="811"/>
                  </a:lnTo>
                  <a:lnTo>
                    <a:pt x="1009" y="848"/>
                  </a:lnTo>
                  <a:lnTo>
                    <a:pt x="986" y="829"/>
                  </a:lnTo>
                  <a:lnTo>
                    <a:pt x="956" y="768"/>
                  </a:lnTo>
                  <a:lnTo>
                    <a:pt x="903" y="764"/>
                  </a:lnTo>
                  <a:lnTo>
                    <a:pt x="896" y="783"/>
                  </a:lnTo>
                  <a:lnTo>
                    <a:pt x="858" y="758"/>
                  </a:lnTo>
                  <a:lnTo>
                    <a:pt x="828" y="769"/>
                  </a:lnTo>
                  <a:lnTo>
                    <a:pt x="787" y="749"/>
                  </a:lnTo>
                  <a:lnTo>
                    <a:pt x="738" y="744"/>
                  </a:lnTo>
                  <a:lnTo>
                    <a:pt x="740" y="712"/>
                  </a:lnTo>
                  <a:lnTo>
                    <a:pt x="706" y="683"/>
                  </a:lnTo>
                  <a:lnTo>
                    <a:pt x="695" y="703"/>
                  </a:lnTo>
                  <a:lnTo>
                    <a:pt x="637" y="700"/>
                  </a:lnTo>
                  <a:lnTo>
                    <a:pt x="578" y="651"/>
                  </a:lnTo>
                  <a:lnTo>
                    <a:pt x="598" y="165"/>
                  </a:lnTo>
                  <a:lnTo>
                    <a:pt x="0" y="131"/>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2" name="Freeform 60"/>
            <p:cNvSpPr>
              <a:spLocks/>
            </p:cNvSpPr>
            <p:nvPr/>
          </p:nvSpPr>
          <p:spPr bwMode="gray">
            <a:xfrm>
              <a:off x="6109223" y="1389655"/>
              <a:ext cx="1252538" cy="1068388"/>
            </a:xfrm>
            <a:custGeom>
              <a:avLst/>
              <a:gdLst>
                <a:gd name="T0" fmla="*/ 0 w 1580"/>
                <a:gd name="T1" fmla="*/ 501 h 1348"/>
                <a:gd name="T2" fmla="*/ 12 w 1580"/>
                <a:gd name="T3" fmla="*/ 380 h 1348"/>
                <a:gd name="T4" fmla="*/ 74 w 1580"/>
                <a:gd name="T5" fmla="*/ 282 h 1348"/>
                <a:gd name="T6" fmla="*/ 171 w 1580"/>
                <a:gd name="T7" fmla="*/ 0 h 1348"/>
                <a:gd name="T8" fmla="*/ 220 w 1580"/>
                <a:gd name="T9" fmla="*/ 15 h 1348"/>
                <a:gd name="T10" fmla="*/ 222 w 1580"/>
                <a:gd name="T11" fmla="*/ 27 h 1348"/>
                <a:gd name="T12" fmla="*/ 235 w 1580"/>
                <a:gd name="T13" fmla="*/ 29 h 1348"/>
                <a:gd name="T14" fmla="*/ 260 w 1580"/>
                <a:gd name="T15" fmla="*/ 78 h 1348"/>
                <a:gd name="T16" fmla="*/ 256 w 1580"/>
                <a:gd name="T17" fmla="*/ 94 h 1348"/>
                <a:gd name="T18" fmla="*/ 294 w 1580"/>
                <a:gd name="T19" fmla="*/ 127 h 1348"/>
                <a:gd name="T20" fmla="*/ 362 w 1580"/>
                <a:gd name="T21" fmla="*/ 124 h 1348"/>
                <a:gd name="T22" fmla="*/ 411 w 1580"/>
                <a:gd name="T23" fmla="*/ 147 h 1348"/>
                <a:gd name="T24" fmla="*/ 435 w 1580"/>
                <a:gd name="T25" fmla="*/ 142 h 1348"/>
                <a:gd name="T26" fmla="*/ 587 w 1580"/>
                <a:gd name="T27" fmla="*/ 147 h 1348"/>
                <a:gd name="T28" fmla="*/ 760 w 1580"/>
                <a:gd name="T29" fmla="*/ 187 h 1348"/>
                <a:gd name="T30" fmla="*/ 769 w 1580"/>
                <a:gd name="T31" fmla="*/ 209 h 1348"/>
                <a:gd name="T32" fmla="*/ 789 w 1580"/>
                <a:gd name="T33" fmla="*/ 240 h 1348"/>
                <a:gd name="T34" fmla="*/ 762 w 1580"/>
                <a:gd name="T35" fmla="*/ 282 h 1348"/>
                <a:gd name="T36" fmla="*/ 731 w 1580"/>
                <a:gd name="T37" fmla="*/ 330 h 1348"/>
                <a:gd name="T38" fmla="*/ 694 w 1580"/>
                <a:gd name="T39" fmla="*/ 365 h 1348"/>
                <a:gd name="T40" fmla="*/ 688 w 1580"/>
                <a:gd name="T41" fmla="*/ 388 h 1348"/>
                <a:gd name="T42" fmla="*/ 710 w 1580"/>
                <a:gd name="T43" fmla="*/ 414 h 1348"/>
                <a:gd name="T44" fmla="*/ 686 w 1580"/>
                <a:gd name="T45" fmla="*/ 469 h 1348"/>
                <a:gd name="T46" fmla="*/ 639 w 1580"/>
                <a:gd name="T47" fmla="*/ 673 h 1348"/>
                <a:gd name="T48" fmla="*/ 372 w 1580"/>
                <a:gd name="T49" fmla="*/ 606 h 1348"/>
                <a:gd name="T50" fmla="*/ 0 w 1580"/>
                <a:gd name="T51" fmla="*/ 501 h 13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80"/>
                <a:gd name="T79" fmla="*/ 0 h 1348"/>
                <a:gd name="T80" fmla="*/ 1580 w 1580"/>
                <a:gd name="T81" fmla="*/ 1348 h 13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80" h="1348">
                  <a:moveTo>
                    <a:pt x="0" y="1004"/>
                  </a:moveTo>
                  <a:lnTo>
                    <a:pt x="25" y="761"/>
                  </a:lnTo>
                  <a:lnTo>
                    <a:pt x="148" y="564"/>
                  </a:lnTo>
                  <a:lnTo>
                    <a:pt x="343" y="0"/>
                  </a:lnTo>
                  <a:lnTo>
                    <a:pt x="440" y="30"/>
                  </a:lnTo>
                  <a:lnTo>
                    <a:pt x="445" y="55"/>
                  </a:lnTo>
                  <a:lnTo>
                    <a:pt x="471" y="59"/>
                  </a:lnTo>
                  <a:lnTo>
                    <a:pt x="520" y="156"/>
                  </a:lnTo>
                  <a:lnTo>
                    <a:pt x="512" y="188"/>
                  </a:lnTo>
                  <a:lnTo>
                    <a:pt x="589" y="254"/>
                  </a:lnTo>
                  <a:lnTo>
                    <a:pt x="724" y="249"/>
                  </a:lnTo>
                  <a:lnTo>
                    <a:pt x="824" y="294"/>
                  </a:lnTo>
                  <a:lnTo>
                    <a:pt x="872" y="284"/>
                  </a:lnTo>
                  <a:lnTo>
                    <a:pt x="1175" y="294"/>
                  </a:lnTo>
                  <a:lnTo>
                    <a:pt x="1521" y="375"/>
                  </a:lnTo>
                  <a:lnTo>
                    <a:pt x="1539" y="418"/>
                  </a:lnTo>
                  <a:lnTo>
                    <a:pt x="1580" y="481"/>
                  </a:lnTo>
                  <a:lnTo>
                    <a:pt x="1525" y="564"/>
                  </a:lnTo>
                  <a:lnTo>
                    <a:pt x="1464" y="660"/>
                  </a:lnTo>
                  <a:lnTo>
                    <a:pt x="1389" y="731"/>
                  </a:lnTo>
                  <a:lnTo>
                    <a:pt x="1378" y="778"/>
                  </a:lnTo>
                  <a:lnTo>
                    <a:pt x="1421" y="830"/>
                  </a:lnTo>
                  <a:lnTo>
                    <a:pt x="1373" y="939"/>
                  </a:lnTo>
                  <a:lnTo>
                    <a:pt x="1279" y="1348"/>
                  </a:lnTo>
                  <a:lnTo>
                    <a:pt x="744" y="1214"/>
                  </a:lnTo>
                  <a:lnTo>
                    <a:pt x="0" y="1004"/>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3" name="Freeform 64"/>
            <p:cNvSpPr>
              <a:spLocks/>
            </p:cNvSpPr>
            <p:nvPr/>
          </p:nvSpPr>
          <p:spPr bwMode="gray">
            <a:xfrm>
              <a:off x="9017523" y="1978618"/>
              <a:ext cx="1104900" cy="741363"/>
            </a:xfrm>
            <a:custGeom>
              <a:avLst/>
              <a:gdLst>
                <a:gd name="T0" fmla="*/ 0 w 1395"/>
                <a:gd name="T1" fmla="*/ 366 h 936"/>
                <a:gd name="T2" fmla="*/ 23 w 1395"/>
                <a:gd name="T3" fmla="*/ 116 h 936"/>
                <a:gd name="T4" fmla="*/ 34 w 1395"/>
                <a:gd name="T5" fmla="*/ 0 h 936"/>
                <a:gd name="T6" fmla="*/ 343 w 1395"/>
                <a:gd name="T7" fmla="*/ 22 h 936"/>
                <a:gd name="T8" fmla="*/ 686 w 1395"/>
                <a:gd name="T9" fmla="*/ 33 h 936"/>
                <a:gd name="T10" fmla="*/ 663 w 1395"/>
                <a:gd name="T11" fmla="*/ 77 h 936"/>
                <a:gd name="T12" fmla="*/ 696 w 1395"/>
                <a:gd name="T13" fmla="*/ 110 h 936"/>
                <a:gd name="T14" fmla="*/ 694 w 1395"/>
                <a:gd name="T15" fmla="*/ 339 h 936"/>
                <a:gd name="T16" fmla="*/ 681 w 1395"/>
                <a:gd name="T17" fmla="*/ 338 h 936"/>
                <a:gd name="T18" fmla="*/ 682 w 1395"/>
                <a:gd name="T19" fmla="*/ 368 h 936"/>
                <a:gd name="T20" fmla="*/ 693 w 1395"/>
                <a:gd name="T21" fmla="*/ 391 h 936"/>
                <a:gd name="T22" fmla="*/ 686 w 1395"/>
                <a:gd name="T23" fmla="*/ 413 h 936"/>
                <a:gd name="T24" fmla="*/ 692 w 1395"/>
                <a:gd name="T25" fmla="*/ 467 h 936"/>
                <a:gd name="T26" fmla="*/ 677 w 1395"/>
                <a:gd name="T27" fmla="*/ 462 h 936"/>
                <a:gd name="T28" fmla="*/ 660 w 1395"/>
                <a:gd name="T29" fmla="*/ 441 h 936"/>
                <a:gd name="T30" fmla="*/ 626 w 1395"/>
                <a:gd name="T31" fmla="*/ 426 h 936"/>
                <a:gd name="T32" fmla="*/ 598 w 1395"/>
                <a:gd name="T33" fmla="*/ 420 h 936"/>
                <a:gd name="T34" fmla="*/ 538 w 1395"/>
                <a:gd name="T35" fmla="*/ 422 h 936"/>
                <a:gd name="T36" fmla="*/ 503 w 1395"/>
                <a:gd name="T37" fmla="*/ 397 h 936"/>
                <a:gd name="T38" fmla="*/ 0 w 1395"/>
                <a:gd name="T39" fmla="*/ 366 h 9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95"/>
                <a:gd name="T61" fmla="*/ 0 h 936"/>
                <a:gd name="T62" fmla="*/ 1395 w 1395"/>
                <a:gd name="T63" fmla="*/ 936 h 9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95" h="936">
                  <a:moveTo>
                    <a:pt x="0" y="733"/>
                  </a:moveTo>
                  <a:lnTo>
                    <a:pt x="46" y="233"/>
                  </a:lnTo>
                  <a:lnTo>
                    <a:pt x="69" y="0"/>
                  </a:lnTo>
                  <a:lnTo>
                    <a:pt x="687" y="45"/>
                  </a:lnTo>
                  <a:lnTo>
                    <a:pt x="1374" y="66"/>
                  </a:lnTo>
                  <a:lnTo>
                    <a:pt x="1328" y="155"/>
                  </a:lnTo>
                  <a:lnTo>
                    <a:pt x="1395" y="220"/>
                  </a:lnTo>
                  <a:lnTo>
                    <a:pt x="1391" y="679"/>
                  </a:lnTo>
                  <a:lnTo>
                    <a:pt x="1364" y="677"/>
                  </a:lnTo>
                  <a:lnTo>
                    <a:pt x="1367" y="738"/>
                  </a:lnTo>
                  <a:lnTo>
                    <a:pt x="1389" y="783"/>
                  </a:lnTo>
                  <a:lnTo>
                    <a:pt x="1374" y="827"/>
                  </a:lnTo>
                  <a:lnTo>
                    <a:pt x="1387" y="936"/>
                  </a:lnTo>
                  <a:lnTo>
                    <a:pt x="1357" y="926"/>
                  </a:lnTo>
                  <a:lnTo>
                    <a:pt x="1322" y="884"/>
                  </a:lnTo>
                  <a:lnTo>
                    <a:pt x="1255" y="854"/>
                  </a:lnTo>
                  <a:lnTo>
                    <a:pt x="1198" y="841"/>
                  </a:lnTo>
                  <a:lnTo>
                    <a:pt x="1078" y="846"/>
                  </a:lnTo>
                  <a:lnTo>
                    <a:pt x="1009" y="795"/>
                  </a:lnTo>
                  <a:lnTo>
                    <a:pt x="0" y="733"/>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4" name="Freeform 66"/>
            <p:cNvSpPr>
              <a:spLocks/>
            </p:cNvSpPr>
            <p:nvPr/>
          </p:nvSpPr>
          <p:spPr bwMode="gray">
            <a:xfrm>
              <a:off x="8388873" y="3856630"/>
              <a:ext cx="2195513" cy="2132013"/>
            </a:xfrm>
            <a:custGeom>
              <a:avLst/>
              <a:gdLst>
                <a:gd name="T0" fmla="*/ 27 w 2771"/>
                <a:gd name="T1" fmla="*/ 527 h 2690"/>
                <a:gd name="T2" fmla="*/ 726 w 2771"/>
                <a:gd name="T3" fmla="*/ 17 h 2690"/>
                <a:gd name="T4" fmla="*/ 775 w 2771"/>
                <a:gd name="T5" fmla="*/ 286 h 2690"/>
                <a:gd name="T6" fmla="*/ 796 w 2771"/>
                <a:gd name="T7" fmla="*/ 306 h 2690"/>
                <a:gd name="T8" fmla="*/ 856 w 2771"/>
                <a:gd name="T9" fmla="*/ 313 h 2690"/>
                <a:gd name="T10" fmla="*/ 905 w 2771"/>
                <a:gd name="T11" fmla="*/ 318 h 2690"/>
                <a:gd name="T12" fmla="*/ 948 w 2771"/>
                <a:gd name="T13" fmla="*/ 339 h 2690"/>
                <a:gd name="T14" fmla="*/ 1006 w 2771"/>
                <a:gd name="T15" fmla="*/ 375 h 2690"/>
                <a:gd name="T16" fmla="*/ 1035 w 2771"/>
                <a:gd name="T17" fmla="*/ 359 h 2690"/>
                <a:gd name="T18" fmla="*/ 1138 w 2771"/>
                <a:gd name="T19" fmla="*/ 357 h 2690"/>
                <a:gd name="T20" fmla="*/ 1252 w 2771"/>
                <a:gd name="T21" fmla="*/ 372 h 2690"/>
                <a:gd name="T22" fmla="*/ 1324 w 2771"/>
                <a:gd name="T23" fmla="*/ 393 h 2690"/>
                <a:gd name="T24" fmla="*/ 1347 w 2771"/>
                <a:gd name="T25" fmla="*/ 609 h 2690"/>
                <a:gd name="T26" fmla="*/ 1382 w 2771"/>
                <a:gd name="T27" fmla="*/ 729 h 2690"/>
                <a:gd name="T28" fmla="*/ 1371 w 2771"/>
                <a:gd name="T29" fmla="*/ 809 h 2690"/>
                <a:gd name="T30" fmla="*/ 1345 w 2771"/>
                <a:gd name="T31" fmla="*/ 862 h 2690"/>
                <a:gd name="T32" fmla="*/ 1254 w 2771"/>
                <a:gd name="T33" fmla="*/ 916 h 2690"/>
                <a:gd name="T34" fmla="*/ 1261 w 2771"/>
                <a:gd name="T35" fmla="*/ 861 h 2690"/>
                <a:gd name="T36" fmla="*/ 1227 w 2771"/>
                <a:gd name="T37" fmla="*/ 897 h 2690"/>
                <a:gd name="T38" fmla="*/ 1221 w 2771"/>
                <a:gd name="T39" fmla="*/ 938 h 2690"/>
                <a:gd name="T40" fmla="*/ 1080 w 2771"/>
                <a:gd name="T41" fmla="*/ 1038 h 2690"/>
                <a:gd name="T42" fmla="*/ 1094 w 2771"/>
                <a:gd name="T43" fmla="*/ 1017 h 2690"/>
                <a:gd name="T44" fmla="*/ 1072 w 2771"/>
                <a:gd name="T45" fmla="*/ 999 h 2690"/>
                <a:gd name="T46" fmla="*/ 1048 w 2771"/>
                <a:gd name="T47" fmla="*/ 1016 h 2690"/>
                <a:gd name="T48" fmla="*/ 1032 w 2771"/>
                <a:gd name="T49" fmla="*/ 1027 h 2690"/>
                <a:gd name="T50" fmla="*/ 986 w 2771"/>
                <a:gd name="T51" fmla="*/ 1066 h 2690"/>
                <a:gd name="T52" fmla="*/ 947 w 2771"/>
                <a:gd name="T53" fmla="*/ 1105 h 2690"/>
                <a:gd name="T54" fmla="*/ 974 w 2771"/>
                <a:gd name="T55" fmla="*/ 1126 h 2690"/>
                <a:gd name="T56" fmla="*/ 950 w 2771"/>
                <a:gd name="T57" fmla="*/ 1160 h 2690"/>
                <a:gd name="T58" fmla="*/ 922 w 2771"/>
                <a:gd name="T59" fmla="*/ 1177 h 2690"/>
                <a:gd name="T60" fmla="*/ 954 w 2771"/>
                <a:gd name="T61" fmla="*/ 1284 h 2690"/>
                <a:gd name="T62" fmla="*/ 906 w 2771"/>
                <a:gd name="T63" fmla="*/ 1326 h 2690"/>
                <a:gd name="T64" fmla="*/ 769 w 2771"/>
                <a:gd name="T65" fmla="*/ 1279 h 2690"/>
                <a:gd name="T66" fmla="*/ 732 w 2771"/>
                <a:gd name="T67" fmla="*/ 1201 h 2690"/>
                <a:gd name="T68" fmla="*/ 724 w 2771"/>
                <a:gd name="T69" fmla="*/ 1132 h 2690"/>
                <a:gd name="T70" fmla="*/ 596 w 2771"/>
                <a:gd name="T71" fmla="*/ 919 h 2690"/>
                <a:gd name="T72" fmla="*/ 497 w 2771"/>
                <a:gd name="T73" fmla="*/ 848 h 2690"/>
                <a:gd name="T74" fmla="*/ 427 w 2771"/>
                <a:gd name="T75" fmla="*/ 845 h 2690"/>
                <a:gd name="T76" fmla="*/ 340 w 2771"/>
                <a:gd name="T77" fmla="*/ 936 h 2690"/>
                <a:gd name="T78" fmla="*/ 247 w 2771"/>
                <a:gd name="T79" fmla="*/ 887 h 2690"/>
                <a:gd name="T80" fmla="*/ 184 w 2771"/>
                <a:gd name="T81" fmla="*/ 767 h 2690"/>
                <a:gd name="T82" fmla="*/ 60 w 2771"/>
                <a:gd name="T83" fmla="*/ 608 h 2690"/>
                <a:gd name="T84" fmla="*/ 8 w 2771"/>
                <a:gd name="T85" fmla="*/ 551 h 269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771"/>
                <a:gd name="T130" fmla="*/ 0 h 2690"/>
                <a:gd name="T131" fmla="*/ 2771 w 2771"/>
                <a:gd name="T132" fmla="*/ 2690 h 269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771" h="2690">
                  <a:moveTo>
                    <a:pt x="16" y="1103"/>
                  </a:moveTo>
                  <a:lnTo>
                    <a:pt x="0" y="1051"/>
                  </a:lnTo>
                  <a:lnTo>
                    <a:pt x="55" y="1056"/>
                  </a:lnTo>
                  <a:lnTo>
                    <a:pt x="753" y="1123"/>
                  </a:lnTo>
                  <a:lnTo>
                    <a:pt x="857" y="0"/>
                  </a:lnTo>
                  <a:lnTo>
                    <a:pt x="1455" y="34"/>
                  </a:lnTo>
                  <a:lnTo>
                    <a:pt x="1435" y="520"/>
                  </a:lnTo>
                  <a:lnTo>
                    <a:pt x="1494" y="569"/>
                  </a:lnTo>
                  <a:lnTo>
                    <a:pt x="1552" y="572"/>
                  </a:lnTo>
                  <a:lnTo>
                    <a:pt x="1563" y="552"/>
                  </a:lnTo>
                  <a:lnTo>
                    <a:pt x="1597" y="581"/>
                  </a:lnTo>
                  <a:lnTo>
                    <a:pt x="1595" y="613"/>
                  </a:lnTo>
                  <a:lnTo>
                    <a:pt x="1644" y="618"/>
                  </a:lnTo>
                  <a:lnTo>
                    <a:pt x="1685" y="638"/>
                  </a:lnTo>
                  <a:lnTo>
                    <a:pt x="1715" y="627"/>
                  </a:lnTo>
                  <a:lnTo>
                    <a:pt x="1753" y="652"/>
                  </a:lnTo>
                  <a:lnTo>
                    <a:pt x="1760" y="633"/>
                  </a:lnTo>
                  <a:lnTo>
                    <a:pt x="1813" y="637"/>
                  </a:lnTo>
                  <a:lnTo>
                    <a:pt x="1843" y="698"/>
                  </a:lnTo>
                  <a:lnTo>
                    <a:pt x="1866" y="717"/>
                  </a:lnTo>
                  <a:lnTo>
                    <a:pt x="1900" y="680"/>
                  </a:lnTo>
                  <a:lnTo>
                    <a:pt x="1963" y="730"/>
                  </a:lnTo>
                  <a:lnTo>
                    <a:pt x="2001" y="705"/>
                  </a:lnTo>
                  <a:lnTo>
                    <a:pt x="2015" y="752"/>
                  </a:lnTo>
                  <a:lnTo>
                    <a:pt x="2022" y="717"/>
                  </a:lnTo>
                  <a:lnTo>
                    <a:pt x="2062" y="690"/>
                  </a:lnTo>
                  <a:lnTo>
                    <a:pt x="2073" y="719"/>
                  </a:lnTo>
                  <a:lnTo>
                    <a:pt x="2127" y="710"/>
                  </a:lnTo>
                  <a:lnTo>
                    <a:pt x="2170" y="751"/>
                  </a:lnTo>
                  <a:lnTo>
                    <a:pt x="2280" y="716"/>
                  </a:lnTo>
                  <a:lnTo>
                    <a:pt x="2391" y="705"/>
                  </a:lnTo>
                  <a:lnTo>
                    <a:pt x="2424" y="689"/>
                  </a:lnTo>
                  <a:lnTo>
                    <a:pt x="2509" y="746"/>
                  </a:lnTo>
                  <a:lnTo>
                    <a:pt x="2562" y="765"/>
                  </a:lnTo>
                  <a:lnTo>
                    <a:pt x="2582" y="790"/>
                  </a:lnTo>
                  <a:lnTo>
                    <a:pt x="2653" y="788"/>
                  </a:lnTo>
                  <a:lnTo>
                    <a:pt x="2656" y="922"/>
                  </a:lnTo>
                  <a:lnTo>
                    <a:pt x="2669" y="1185"/>
                  </a:lnTo>
                  <a:lnTo>
                    <a:pt x="2699" y="1219"/>
                  </a:lnTo>
                  <a:lnTo>
                    <a:pt x="2711" y="1286"/>
                  </a:lnTo>
                  <a:lnTo>
                    <a:pt x="2771" y="1380"/>
                  </a:lnTo>
                  <a:lnTo>
                    <a:pt x="2769" y="1460"/>
                  </a:lnTo>
                  <a:lnTo>
                    <a:pt x="2733" y="1536"/>
                  </a:lnTo>
                  <a:lnTo>
                    <a:pt x="2736" y="1577"/>
                  </a:lnTo>
                  <a:lnTo>
                    <a:pt x="2747" y="1621"/>
                  </a:lnTo>
                  <a:lnTo>
                    <a:pt x="2742" y="1664"/>
                  </a:lnTo>
                  <a:lnTo>
                    <a:pt x="2721" y="1692"/>
                  </a:lnTo>
                  <a:lnTo>
                    <a:pt x="2694" y="1726"/>
                  </a:lnTo>
                  <a:lnTo>
                    <a:pt x="2713" y="1747"/>
                  </a:lnTo>
                  <a:lnTo>
                    <a:pt x="2602" y="1784"/>
                  </a:lnTo>
                  <a:lnTo>
                    <a:pt x="2513" y="1835"/>
                  </a:lnTo>
                  <a:lnTo>
                    <a:pt x="2567" y="1793"/>
                  </a:lnTo>
                  <a:lnTo>
                    <a:pt x="2509" y="1792"/>
                  </a:lnTo>
                  <a:lnTo>
                    <a:pt x="2526" y="1724"/>
                  </a:lnTo>
                  <a:lnTo>
                    <a:pt x="2479" y="1763"/>
                  </a:lnTo>
                  <a:lnTo>
                    <a:pt x="2456" y="1750"/>
                  </a:lnTo>
                  <a:lnTo>
                    <a:pt x="2458" y="1796"/>
                  </a:lnTo>
                  <a:lnTo>
                    <a:pt x="2478" y="1804"/>
                  </a:lnTo>
                  <a:lnTo>
                    <a:pt x="2482" y="1846"/>
                  </a:lnTo>
                  <a:lnTo>
                    <a:pt x="2446" y="1878"/>
                  </a:lnTo>
                  <a:lnTo>
                    <a:pt x="2425" y="1876"/>
                  </a:lnTo>
                  <a:lnTo>
                    <a:pt x="2419" y="1923"/>
                  </a:lnTo>
                  <a:lnTo>
                    <a:pt x="2163" y="2080"/>
                  </a:lnTo>
                  <a:lnTo>
                    <a:pt x="2166" y="2064"/>
                  </a:lnTo>
                  <a:lnTo>
                    <a:pt x="2284" y="1988"/>
                  </a:lnTo>
                  <a:lnTo>
                    <a:pt x="2192" y="2037"/>
                  </a:lnTo>
                  <a:lnTo>
                    <a:pt x="2198" y="1992"/>
                  </a:lnTo>
                  <a:lnTo>
                    <a:pt x="2173" y="2014"/>
                  </a:lnTo>
                  <a:lnTo>
                    <a:pt x="2147" y="2001"/>
                  </a:lnTo>
                  <a:lnTo>
                    <a:pt x="2137" y="2037"/>
                  </a:lnTo>
                  <a:lnTo>
                    <a:pt x="2096" y="2001"/>
                  </a:lnTo>
                  <a:lnTo>
                    <a:pt x="2099" y="2035"/>
                  </a:lnTo>
                  <a:lnTo>
                    <a:pt x="2147" y="2066"/>
                  </a:lnTo>
                  <a:lnTo>
                    <a:pt x="2092" y="2098"/>
                  </a:lnTo>
                  <a:lnTo>
                    <a:pt x="2067" y="2057"/>
                  </a:lnTo>
                  <a:lnTo>
                    <a:pt x="2048" y="2159"/>
                  </a:lnTo>
                  <a:lnTo>
                    <a:pt x="2024" y="2118"/>
                  </a:lnTo>
                  <a:lnTo>
                    <a:pt x="1975" y="2135"/>
                  </a:lnTo>
                  <a:lnTo>
                    <a:pt x="1965" y="2161"/>
                  </a:lnTo>
                  <a:lnTo>
                    <a:pt x="1989" y="2207"/>
                  </a:lnTo>
                  <a:lnTo>
                    <a:pt x="1898" y="2213"/>
                  </a:lnTo>
                  <a:lnTo>
                    <a:pt x="1931" y="2222"/>
                  </a:lnTo>
                  <a:lnTo>
                    <a:pt x="1933" y="2267"/>
                  </a:lnTo>
                  <a:lnTo>
                    <a:pt x="1952" y="2256"/>
                  </a:lnTo>
                  <a:lnTo>
                    <a:pt x="1942" y="2288"/>
                  </a:lnTo>
                  <a:lnTo>
                    <a:pt x="1901" y="2354"/>
                  </a:lnTo>
                  <a:lnTo>
                    <a:pt x="1904" y="2323"/>
                  </a:lnTo>
                  <a:lnTo>
                    <a:pt x="1877" y="2351"/>
                  </a:lnTo>
                  <a:lnTo>
                    <a:pt x="1841" y="2310"/>
                  </a:lnTo>
                  <a:lnTo>
                    <a:pt x="1848" y="2357"/>
                  </a:lnTo>
                  <a:lnTo>
                    <a:pt x="1917" y="2364"/>
                  </a:lnTo>
                  <a:lnTo>
                    <a:pt x="1890" y="2434"/>
                  </a:lnTo>
                  <a:lnTo>
                    <a:pt x="1912" y="2571"/>
                  </a:lnTo>
                  <a:lnTo>
                    <a:pt x="1973" y="2685"/>
                  </a:lnTo>
                  <a:lnTo>
                    <a:pt x="1893" y="2690"/>
                  </a:lnTo>
                  <a:lnTo>
                    <a:pt x="1816" y="2655"/>
                  </a:lnTo>
                  <a:lnTo>
                    <a:pt x="1750" y="2656"/>
                  </a:lnTo>
                  <a:lnTo>
                    <a:pt x="1653" y="2604"/>
                  </a:lnTo>
                  <a:lnTo>
                    <a:pt x="1540" y="2562"/>
                  </a:lnTo>
                  <a:lnTo>
                    <a:pt x="1528" y="2517"/>
                  </a:lnTo>
                  <a:lnTo>
                    <a:pt x="1504" y="2453"/>
                  </a:lnTo>
                  <a:lnTo>
                    <a:pt x="1467" y="2405"/>
                  </a:lnTo>
                  <a:lnTo>
                    <a:pt x="1471" y="2354"/>
                  </a:lnTo>
                  <a:lnTo>
                    <a:pt x="1450" y="2336"/>
                  </a:lnTo>
                  <a:lnTo>
                    <a:pt x="1451" y="2267"/>
                  </a:lnTo>
                  <a:lnTo>
                    <a:pt x="1385" y="2215"/>
                  </a:lnTo>
                  <a:lnTo>
                    <a:pt x="1313" y="2109"/>
                  </a:lnTo>
                  <a:lnTo>
                    <a:pt x="1194" y="1840"/>
                  </a:lnTo>
                  <a:lnTo>
                    <a:pt x="1103" y="1771"/>
                  </a:lnTo>
                  <a:lnTo>
                    <a:pt x="1073" y="1709"/>
                  </a:lnTo>
                  <a:lnTo>
                    <a:pt x="995" y="1699"/>
                  </a:lnTo>
                  <a:lnTo>
                    <a:pt x="930" y="1692"/>
                  </a:lnTo>
                  <a:lnTo>
                    <a:pt x="873" y="1666"/>
                  </a:lnTo>
                  <a:lnTo>
                    <a:pt x="855" y="1692"/>
                  </a:lnTo>
                  <a:lnTo>
                    <a:pt x="794" y="1692"/>
                  </a:lnTo>
                  <a:lnTo>
                    <a:pt x="740" y="1819"/>
                  </a:lnTo>
                  <a:lnTo>
                    <a:pt x="681" y="1874"/>
                  </a:lnTo>
                  <a:lnTo>
                    <a:pt x="647" y="1870"/>
                  </a:lnTo>
                  <a:lnTo>
                    <a:pt x="541" y="1790"/>
                  </a:lnTo>
                  <a:lnTo>
                    <a:pt x="495" y="1777"/>
                  </a:lnTo>
                  <a:lnTo>
                    <a:pt x="394" y="1685"/>
                  </a:lnTo>
                  <a:lnTo>
                    <a:pt x="367" y="1612"/>
                  </a:lnTo>
                  <a:lnTo>
                    <a:pt x="368" y="1537"/>
                  </a:lnTo>
                  <a:lnTo>
                    <a:pt x="319" y="1431"/>
                  </a:lnTo>
                  <a:lnTo>
                    <a:pt x="235" y="1362"/>
                  </a:lnTo>
                  <a:lnTo>
                    <a:pt x="121" y="1217"/>
                  </a:lnTo>
                  <a:lnTo>
                    <a:pt x="77" y="1192"/>
                  </a:lnTo>
                  <a:lnTo>
                    <a:pt x="47" y="1116"/>
                  </a:lnTo>
                  <a:lnTo>
                    <a:pt x="16" y="1103"/>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5" name="Freeform 67"/>
            <p:cNvSpPr>
              <a:spLocks/>
            </p:cNvSpPr>
            <p:nvPr/>
          </p:nvSpPr>
          <p:spPr bwMode="gray">
            <a:xfrm>
              <a:off x="7356998" y="2548530"/>
              <a:ext cx="887413" cy="1114425"/>
            </a:xfrm>
            <a:custGeom>
              <a:avLst/>
              <a:gdLst>
                <a:gd name="T0" fmla="*/ 0 w 1119"/>
                <a:gd name="T1" fmla="*/ 618 h 1406"/>
                <a:gd name="T2" fmla="*/ 122 w 1119"/>
                <a:gd name="T3" fmla="*/ 0 h 1406"/>
                <a:gd name="T4" fmla="*/ 395 w 1119"/>
                <a:gd name="T5" fmla="*/ 50 h 1406"/>
                <a:gd name="T6" fmla="*/ 374 w 1119"/>
                <a:gd name="T7" fmla="*/ 174 h 1406"/>
                <a:gd name="T8" fmla="*/ 559 w 1119"/>
                <a:gd name="T9" fmla="*/ 203 h 1406"/>
                <a:gd name="T10" fmla="*/ 489 w 1119"/>
                <a:gd name="T11" fmla="*/ 702 h 1406"/>
                <a:gd name="T12" fmla="*/ 0 w 1119"/>
                <a:gd name="T13" fmla="*/ 618 h 1406"/>
                <a:gd name="T14" fmla="*/ 0 60000 65536"/>
                <a:gd name="T15" fmla="*/ 0 60000 65536"/>
                <a:gd name="T16" fmla="*/ 0 60000 65536"/>
                <a:gd name="T17" fmla="*/ 0 60000 65536"/>
                <a:gd name="T18" fmla="*/ 0 60000 65536"/>
                <a:gd name="T19" fmla="*/ 0 60000 65536"/>
                <a:gd name="T20" fmla="*/ 0 60000 65536"/>
                <a:gd name="T21" fmla="*/ 0 w 1119"/>
                <a:gd name="T22" fmla="*/ 0 h 1406"/>
                <a:gd name="T23" fmla="*/ 1119 w 1119"/>
                <a:gd name="T24" fmla="*/ 1406 h 14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19" h="1406">
                  <a:moveTo>
                    <a:pt x="0" y="1238"/>
                  </a:moveTo>
                  <a:lnTo>
                    <a:pt x="244" y="0"/>
                  </a:lnTo>
                  <a:lnTo>
                    <a:pt x="790" y="100"/>
                  </a:lnTo>
                  <a:lnTo>
                    <a:pt x="748" y="349"/>
                  </a:lnTo>
                  <a:lnTo>
                    <a:pt x="1119" y="406"/>
                  </a:lnTo>
                  <a:lnTo>
                    <a:pt x="979" y="1406"/>
                  </a:lnTo>
                  <a:lnTo>
                    <a:pt x="0" y="1238"/>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6" name="Freeform 71"/>
            <p:cNvSpPr>
              <a:spLocks/>
            </p:cNvSpPr>
            <p:nvPr/>
          </p:nvSpPr>
          <p:spPr bwMode="gray">
            <a:xfrm>
              <a:off x="6383861" y="919755"/>
              <a:ext cx="1050925" cy="766763"/>
            </a:xfrm>
            <a:custGeom>
              <a:avLst/>
              <a:gdLst>
                <a:gd name="T0" fmla="*/ 23 w 1325"/>
                <a:gd name="T1" fmla="*/ 133 h 966"/>
                <a:gd name="T2" fmla="*/ 19 w 1325"/>
                <a:gd name="T3" fmla="*/ 206 h 966"/>
                <a:gd name="T4" fmla="*/ 28 w 1325"/>
                <a:gd name="T5" fmla="*/ 215 h 966"/>
                <a:gd name="T6" fmla="*/ 15 w 1325"/>
                <a:gd name="T7" fmla="*/ 238 h 966"/>
                <a:gd name="T8" fmla="*/ 20 w 1325"/>
                <a:gd name="T9" fmla="*/ 250 h 966"/>
                <a:gd name="T10" fmla="*/ 8 w 1325"/>
                <a:gd name="T11" fmla="*/ 281 h 966"/>
                <a:gd name="T12" fmla="*/ 0 w 1325"/>
                <a:gd name="T13" fmla="*/ 286 h 966"/>
                <a:gd name="T14" fmla="*/ 49 w 1325"/>
                <a:gd name="T15" fmla="*/ 323 h 966"/>
                <a:gd name="T16" fmla="*/ 82 w 1325"/>
                <a:gd name="T17" fmla="*/ 390 h 966"/>
                <a:gd name="T18" fmla="*/ 238 w 1325"/>
                <a:gd name="T19" fmla="*/ 443 h 966"/>
                <a:gd name="T20" fmla="*/ 587 w 1325"/>
                <a:gd name="T21" fmla="*/ 483 h 966"/>
                <a:gd name="T22" fmla="*/ 204 w 1325"/>
                <a:gd name="T23" fmla="*/ 0 h 966"/>
                <a:gd name="T24" fmla="*/ 197 w 1325"/>
                <a:gd name="T25" fmla="*/ 12 h 966"/>
                <a:gd name="T26" fmla="*/ 202 w 1325"/>
                <a:gd name="T27" fmla="*/ 33 h 966"/>
                <a:gd name="T28" fmla="*/ 212 w 1325"/>
                <a:gd name="T29" fmla="*/ 48 h 966"/>
                <a:gd name="T30" fmla="*/ 195 w 1325"/>
                <a:gd name="T31" fmla="*/ 60 h 966"/>
                <a:gd name="T32" fmla="*/ 199 w 1325"/>
                <a:gd name="T33" fmla="*/ 72 h 966"/>
                <a:gd name="T34" fmla="*/ 208 w 1325"/>
                <a:gd name="T35" fmla="*/ 124 h 966"/>
                <a:gd name="T36" fmla="*/ 205 w 1325"/>
                <a:gd name="T37" fmla="*/ 134 h 966"/>
                <a:gd name="T38" fmla="*/ 187 w 1325"/>
                <a:gd name="T39" fmla="*/ 165 h 966"/>
                <a:gd name="T40" fmla="*/ 182 w 1325"/>
                <a:gd name="T41" fmla="*/ 176 h 966"/>
                <a:gd name="T42" fmla="*/ 171 w 1325"/>
                <a:gd name="T43" fmla="*/ 215 h 966"/>
                <a:gd name="T44" fmla="*/ 143 w 1325"/>
                <a:gd name="T45" fmla="*/ 228 h 966"/>
                <a:gd name="T46" fmla="*/ 131 w 1325"/>
                <a:gd name="T47" fmla="*/ 222 h 966"/>
                <a:gd name="T48" fmla="*/ 121 w 1325"/>
                <a:gd name="T49" fmla="*/ 229 h 966"/>
                <a:gd name="T50" fmla="*/ 124 w 1325"/>
                <a:gd name="T51" fmla="*/ 215 h 966"/>
                <a:gd name="T52" fmla="*/ 113 w 1325"/>
                <a:gd name="T53" fmla="*/ 207 h 966"/>
                <a:gd name="T54" fmla="*/ 130 w 1325"/>
                <a:gd name="T55" fmla="*/ 199 h 966"/>
                <a:gd name="T56" fmla="*/ 139 w 1325"/>
                <a:gd name="T57" fmla="*/ 216 h 966"/>
                <a:gd name="T58" fmla="*/ 151 w 1325"/>
                <a:gd name="T59" fmla="*/ 205 h 966"/>
                <a:gd name="T60" fmla="*/ 164 w 1325"/>
                <a:gd name="T61" fmla="*/ 195 h 966"/>
                <a:gd name="T62" fmla="*/ 158 w 1325"/>
                <a:gd name="T63" fmla="*/ 175 h 966"/>
                <a:gd name="T64" fmla="*/ 167 w 1325"/>
                <a:gd name="T65" fmla="*/ 153 h 966"/>
                <a:gd name="T66" fmla="*/ 178 w 1325"/>
                <a:gd name="T67" fmla="*/ 127 h 966"/>
                <a:gd name="T68" fmla="*/ 163 w 1325"/>
                <a:gd name="T69" fmla="*/ 148 h 966"/>
                <a:gd name="T70" fmla="*/ 131 w 1325"/>
                <a:gd name="T71" fmla="*/ 169 h 966"/>
                <a:gd name="T72" fmla="*/ 122 w 1325"/>
                <a:gd name="T73" fmla="*/ 189 h 966"/>
                <a:gd name="T74" fmla="*/ 144 w 1325"/>
                <a:gd name="T75" fmla="*/ 152 h 966"/>
                <a:gd name="T76" fmla="*/ 169 w 1325"/>
                <a:gd name="T77" fmla="*/ 137 h 966"/>
                <a:gd name="T78" fmla="*/ 172 w 1325"/>
                <a:gd name="T79" fmla="*/ 116 h 966"/>
                <a:gd name="T80" fmla="*/ 166 w 1325"/>
                <a:gd name="T81" fmla="*/ 101 h 966"/>
                <a:gd name="T82" fmla="*/ 158 w 1325"/>
                <a:gd name="T83" fmla="*/ 104 h 966"/>
                <a:gd name="T84" fmla="*/ 142 w 1325"/>
                <a:gd name="T85" fmla="*/ 91 h 966"/>
                <a:gd name="T86" fmla="*/ 27 w 1325"/>
                <a:gd name="T87" fmla="*/ 24 h 9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25"/>
                <a:gd name="T133" fmla="*/ 0 h 966"/>
                <a:gd name="T134" fmla="*/ 1325 w 1325"/>
                <a:gd name="T135" fmla="*/ 966 h 9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25" h="966">
                  <a:moveTo>
                    <a:pt x="30" y="167"/>
                  </a:moveTo>
                  <a:lnTo>
                    <a:pt x="49" y="210"/>
                  </a:lnTo>
                  <a:lnTo>
                    <a:pt x="46" y="266"/>
                  </a:lnTo>
                  <a:lnTo>
                    <a:pt x="41" y="318"/>
                  </a:lnTo>
                  <a:lnTo>
                    <a:pt x="48" y="339"/>
                  </a:lnTo>
                  <a:lnTo>
                    <a:pt x="39" y="412"/>
                  </a:lnTo>
                  <a:lnTo>
                    <a:pt x="61" y="397"/>
                  </a:lnTo>
                  <a:lnTo>
                    <a:pt x="92" y="426"/>
                  </a:lnTo>
                  <a:lnTo>
                    <a:pt x="56" y="430"/>
                  </a:lnTo>
                  <a:lnTo>
                    <a:pt x="36" y="428"/>
                  </a:lnTo>
                  <a:lnTo>
                    <a:pt x="33" y="457"/>
                  </a:lnTo>
                  <a:lnTo>
                    <a:pt x="30" y="476"/>
                  </a:lnTo>
                  <a:lnTo>
                    <a:pt x="62" y="476"/>
                  </a:lnTo>
                  <a:lnTo>
                    <a:pt x="67" y="489"/>
                  </a:lnTo>
                  <a:lnTo>
                    <a:pt x="41" y="501"/>
                  </a:lnTo>
                  <a:lnTo>
                    <a:pt x="46" y="529"/>
                  </a:lnTo>
                  <a:lnTo>
                    <a:pt x="28" y="562"/>
                  </a:lnTo>
                  <a:lnTo>
                    <a:pt x="16" y="561"/>
                  </a:lnTo>
                  <a:lnTo>
                    <a:pt x="29" y="513"/>
                  </a:lnTo>
                  <a:lnTo>
                    <a:pt x="22" y="499"/>
                  </a:lnTo>
                  <a:lnTo>
                    <a:pt x="0" y="571"/>
                  </a:lnTo>
                  <a:lnTo>
                    <a:pt x="36" y="595"/>
                  </a:lnTo>
                  <a:lnTo>
                    <a:pt x="93" y="621"/>
                  </a:lnTo>
                  <a:lnTo>
                    <a:pt x="98" y="646"/>
                  </a:lnTo>
                  <a:lnTo>
                    <a:pt x="124" y="650"/>
                  </a:lnTo>
                  <a:lnTo>
                    <a:pt x="173" y="747"/>
                  </a:lnTo>
                  <a:lnTo>
                    <a:pt x="165" y="779"/>
                  </a:lnTo>
                  <a:lnTo>
                    <a:pt x="242" y="845"/>
                  </a:lnTo>
                  <a:lnTo>
                    <a:pt x="377" y="840"/>
                  </a:lnTo>
                  <a:lnTo>
                    <a:pt x="477" y="885"/>
                  </a:lnTo>
                  <a:lnTo>
                    <a:pt x="525" y="875"/>
                  </a:lnTo>
                  <a:lnTo>
                    <a:pt x="828" y="885"/>
                  </a:lnTo>
                  <a:lnTo>
                    <a:pt x="1174" y="966"/>
                  </a:lnTo>
                  <a:lnTo>
                    <a:pt x="1181" y="860"/>
                  </a:lnTo>
                  <a:lnTo>
                    <a:pt x="1325" y="240"/>
                  </a:lnTo>
                  <a:lnTo>
                    <a:pt x="408" y="0"/>
                  </a:lnTo>
                  <a:lnTo>
                    <a:pt x="398" y="5"/>
                  </a:lnTo>
                  <a:lnTo>
                    <a:pt x="404" y="18"/>
                  </a:lnTo>
                  <a:lnTo>
                    <a:pt x="394" y="24"/>
                  </a:lnTo>
                  <a:lnTo>
                    <a:pt x="404" y="37"/>
                  </a:lnTo>
                  <a:lnTo>
                    <a:pt x="400" y="51"/>
                  </a:lnTo>
                  <a:lnTo>
                    <a:pt x="404" y="66"/>
                  </a:lnTo>
                  <a:lnTo>
                    <a:pt x="417" y="61"/>
                  </a:lnTo>
                  <a:lnTo>
                    <a:pt x="432" y="68"/>
                  </a:lnTo>
                  <a:lnTo>
                    <a:pt x="425" y="96"/>
                  </a:lnTo>
                  <a:lnTo>
                    <a:pt x="430" y="107"/>
                  </a:lnTo>
                  <a:lnTo>
                    <a:pt x="412" y="143"/>
                  </a:lnTo>
                  <a:lnTo>
                    <a:pt x="391" y="120"/>
                  </a:lnTo>
                  <a:lnTo>
                    <a:pt x="382" y="124"/>
                  </a:lnTo>
                  <a:lnTo>
                    <a:pt x="382" y="141"/>
                  </a:lnTo>
                  <a:lnTo>
                    <a:pt x="399" y="144"/>
                  </a:lnTo>
                  <a:lnTo>
                    <a:pt x="418" y="183"/>
                  </a:lnTo>
                  <a:lnTo>
                    <a:pt x="410" y="233"/>
                  </a:lnTo>
                  <a:lnTo>
                    <a:pt x="417" y="249"/>
                  </a:lnTo>
                  <a:lnTo>
                    <a:pt x="429" y="253"/>
                  </a:lnTo>
                  <a:lnTo>
                    <a:pt x="421" y="262"/>
                  </a:lnTo>
                  <a:lnTo>
                    <a:pt x="410" y="267"/>
                  </a:lnTo>
                  <a:lnTo>
                    <a:pt x="382" y="299"/>
                  </a:lnTo>
                  <a:lnTo>
                    <a:pt x="382" y="310"/>
                  </a:lnTo>
                  <a:lnTo>
                    <a:pt x="375" y="330"/>
                  </a:lnTo>
                  <a:lnTo>
                    <a:pt x="368" y="332"/>
                  </a:lnTo>
                  <a:lnTo>
                    <a:pt x="377" y="347"/>
                  </a:lnTo>
                  <a:lnTo>
                    <a:pt x="365" y="351"/>
                  </a:lnTo>
                  <a:lnTo>
                    <a:pt x="365" y="408"/>
                  </a:lnTo>
                  <a:lnTo>
                    <a:pt x="342" y="415"/>
                  </a:lnTo>
                  <a:lnTo>
                    <a:pt x="342" y="430"/>
                  </a:lnTo>
                  <a:lnTo>
                    <a:pt x="326" y="411"/>
                  </a:lnTo>
                  <a:lnTo>
                    <a:pt x="323" y="422"/>
                  </a:lnTo>
                  <a:lnTo>
                    <a:pt x="287" y="455"/>
                  </a:lnTo>
                  <a:lnTo>
                    <a:pt x="274" y="450"/>
                  </a:lnTo>
                  <a:lnTo>
                    <a:pt x="268" y="434"/>
                  </a:lnTo>
                  <a:lnTo>
                    <a:pt x="263" y="444"/>
                  </a:lnTo>
                  <a:lnTo>
                    <a:pt x="255" y="436"/>
                  </a:lnTo>
                  <a:lnTo>
                    <a:pt x="248" y="461"/>
                  </a:lnTo>
                  <a:lnTo>
                    <a:pt x="243" y="458"/>
                  </a:lnTo>
                  <a:lnTo>
                    <a:pt x="245" y="441"/>
                  </a:lnTo>
                  <a:lnTo>
                    <a:pt x="232" y="443"/>
                  </a:lnTo>
                  <a:lnTo>
                    <a:pt x="248" y="429"/>
                  </a:lnTo>
                  <a:lnTo>
                    <a:pt x="228" y="428"/>
                  </a:lnTo>
                  <a:lnTo>
                    <a:pt x="243" y="418"/>
                  </a:lnTo>
                  <a:lnTo>
                    <a:pt x="227" y="413"/>
                  </a:lnTo>
                  <a:lnTo>
                    <a:pt x="234" y="402"/>
                  </a:lnTo>
                  <a:lnTo>
                    <a:pt x="250" y="413"/>
                  </a:lnTo>
                  <a:lnTo>
                    <a:pt x="260" y="397"/>
                  </a:lnTo>
                  <a:lnTo>
                    <a:pt x="287" y="383"/>
                  </a:lnTo>
                  <a:lnTo>
                    <a:pt x="273" y="416"/>
                  </a:lnTo>
                  <a:lnTo>
                    <a:pt x="279" y="431"/>
                  </a:lnTo>
                  <a:lnTo>
                    <a:pt x="289" y="400"/>
                  </a:lnTo>
                  <a:lnTo>
                    <a:pt x="315" y="387"/>
                  </a:lnTo>
                  <a:lnTo>
                    <a:pt x="302" y="409"/>
                  </a:lnTo>
                  <a:lnTo>
                    <a:pt x="316" y="421"/>
                  </a:lnTo>
                  <a:lnTo>
                    <a:pt x="316" y="403"/>
                  </a:lnTo>
                  <a:lnTo>
                    <a:pt x="329" y="389"/>
                  </a:lnTo>
                  <a:lnTo>
                    <a:pt x="343" y="366"/>
                  </a:lnTo>
                  <a:lnTo>
                    <a:pt x="340" y="348"/>
                  </a:lnTo>
                  <a:lnTo>
                    <a:pt x="316" y="350"/>
                  </a:lnTo>
                  <a:lnTo>
                    <a:pt x="320" y="328"/>
                  </a:lnTo>
                  <a:lnTo>
                    <a:pt x="333" y="340"/>
                  </a:lnTo>
                  <a:lnTo>
                    <a:pt x="334" y="305"/>
                  </a:lnTo>
                  <a:lnTo>
                    <a:pt x="365" y="307"/>
                  </a:lnTo>
                  <a:lnTo>
                    <a:pt x="367" y="273"/>
                  </a:lnTo>
                  <a:lnTo>
                    <a:pt x="356" y="255"/>
                  </a:lnTo>
                  <a:lnTo>
                    <a:pt x="355" y="287"/>
                  </a:lnTo>
                  <a:lnTo>
                    <a:pt x="347" y="280"/>
                  </a:lnTo>
                  <a:lnTo>
                    <a:pt x="326" y="295"/>
                  </a:lnTo>
                  <a:lnTo>
                    <a:pt x="313" y="315"/>
                  </a:lnTo>
                  <a:lnTo>
                    <a:pt x="295" y="317"/>
                  </a:lnTo>
                  <a:lnTo>
                    <a:pt x="263" y="338"/>
                  </a:lnTo>
                  <a:lnTo>
                    <a:pt x="238" y="366"/>
                  </a:lnTo>
                  <a:lnTo>
                    <a:pt x="282" y="367"/>
                  </a:lnTo>
                  <a:lnTo>
                    <a:pt x="244" y="377"/>
                  </a:lnTo>
                  <a:lnTo>
                    <a:pt x="227" y="370"/>
                  </a:lnTo>
                  <a:lnTo>
                    <a:pt x="263" y="317"/>
                  </a:lnTo>
                  <a:lnTo>
                    <a:pt x="289" y="304"/>
                  </a:lnTo>
                  <a:lnTo>
                    <a:pt x="317" y="271"/>
                  </a:lnTo>
                  <a:lnTo>
                    <a:pt x="322" y="289"/>
                  </a:lnTo>
                  <a:lnTo>
                    <a:pt x="339" y="273"/>
                  </a:lnTo>
                  <a:lnTo>
                    <a:pt x="355" y="237"/>
                  </a:lnTo>
                  <a:lnTo>
                    <a:pt x="351" y="213"/>
                  </a:lnTo>
                  <a:lnTo>
                    <a:pt x="345" y="232"/>
                  </a:lnTo>
                  <a:lnTo>
                    <a:pt x="335" y="229"/>
                  </a:lnTo>
                  <a:lnTo>
                    <a:pt x="343" y="202"/>
                  </a:lnTo>
                  <a:lnTo>
                    <a:pt x="332" y="202"/>
                  </a:lnTo>
                  <a:lnTo>
                    <a:pt x="329" y="226"/>
                  </a:lnTo>
                  <a:lnTo>
                    <a:pt x="319" y="233"/>
                  </a:lnTo>
                  <a:lnTo>
                    <a:pt x="317" y="208"/>
                  </a:lnTo>
                  <a:lnTo>
                    <a:pt x="308" y="202"/>
                  </a:lnTo>
                  <a:lnTo>
                    <a:pt x="300" y="214"/>
                  </a:lnTo>
                  <a:lnTo>
                    <a:pt x="284" y="181"/>
                  </a:lnTo>
                  <a:lnTo>
                    <a:pt x="254" y="180"/>
                  </a:lnTo>
                  <a:lnTo>
                    <a:pt x="137" y="120"/>
                  </a:lnTo>
                  <a:lnTo>
                    <a:pt x="55" y="47"/>
                  </a:lnTo>
                  <a:lnTo>
                    <a:pt x="32" y="100"/>
                  </a:lnTo>
                  <a:lnTo>
                    <a:pt x="30" y="167"/>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7" name="Freeform 72"/>
            <p:cNvSpPr>
              <a:spLocks/>
            </p:cNvSpPr>
            <p:nvPr/>
          </p:nvSpPr>
          <p:spPr bwMode="gray">
            <a:xfrm>
              <a:off x="6629923" y="965793"/>
              <a:ext cx="47625" cy="57150"/>
            </a:xfrm>
            <a:custGeom>
              <a:avLst/>
              <a:gdLst>
                <a:gd name="T0" fmla="*/ 0 w 60"/>
                <a:gd name="T1" fmla="*/ 16 h 72"/>
                <a:gd name="T2" fmla="*/ 25 w 60"/>
                <a:gd name="T3" fmla="*/ 0 h 72"/>
                <a:gd name="T4" fmla="*/ 30 w 60"/>
                <a:gd name="T5" fmla="*/ 15 h 72"/>
                <a:gd name="T6" fmla="*/ 25 w 60"/>
                <a:gd name="T7" fmla="*/ 36 h 72"/>
                <a:gd name="T8" fmla="*/ 0 w 60"/>
                <a:gd name="T9" fmla="*/ 16 h 72"/>
                <a:gd name="T10" fmla="*/ 0 60000 65536"/>
                <a:gd name="T11" fmla="*/ 0 60000 65536"/>
                <a:gd name="T12" fmla="*/ 0 60000 65536"/>
                <a:gd name="T13" fmla="*/ 0 60000 65536"/>
                <a:gd name="T14" fmla="*/ 0 60000 65536"/>
                <a:gd name="T15" fmla="*/ 0 w 60"/>
                <a:gd name="T16" fmla="*/ 0 h 72"/>
                <a:gd name="T17" fmla="*/ 60 w 60"/>
                <a:gd name="T18" fmla="*/ 72 h 72"/>
              </a:gdLst>
              <a:ahLst/>
              <a:cxnLst>
                <a:cxn ang="T10">
                  <a:pos x="T0" y="T1"/>
                </a:cxn>
                <a:cxn ang="T11">
                  <a:pos x="T2" y="T3"/>
                </a:cxn>
                <a:cxn ang="T12">
                  <a:pos x="T4" y="T5"/>
                </a:cxn>
                <a:cxn ang="T13">
                  <a:pos x="T6" y="T7"/>
                </a:cxn>
                <a:cxn ang="T14">
                  <a:pos x="T8" y="T9"/>
                </a:cxn>
              </a:cxnLst>
              <a:rect l="T15" t="T16" r="T17" b="T18"/>
              <a:pathLst>
                <a:path w="60" h="72">
                  <a:moveTo>
                    <a:pt x="0" y="32"/>
                  </a:moveTo>
                  <a:lnTo>
                    <a:pt x="49" y="0"/>
                  </a:lnTo>
                  <a:lnTo>
                    <a:pt x="60" y="30"/>
                  </a:lnTo>
                  <a:lnTo>
                    <a:pt x="50" y="72"/>
                  </a:lnTo>
                  <a:lnTo>
                    <a:pt x="0" y="32"/>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8" name="Freeform 73"/>
            <p:cNvSpPr>
              <a:spLocks/>
            </p:cNvSpPr>
            <p:nvPr/>
          </p:nvSpPr>
          <p:spPr bwMode="gray">
            <a:xfrm>
              <a:off x="6663261" y="1040405"/>
              <a:ext cx="34925" cy="80963"/>
            </a:xfrm>
            <a:custGeom>
              <a:avLst/>
              <a:gdLst>
                <a:gd name="T0" fmla="*/ 0 w 44"/>
                <a:gd name="T1" fmla="*/ 14 h 103"/>
                <a:gd name="T2" fmla="*/ 13 w 44"/>
                <a:gd name="T3" fmla="*/ 0 h 103"/>
                <a:gd name="T4" fmla="*/ 22 w 44"/>
                <a:gd name="T5" fmla="*/ 8 h 103"/>
                <a:gd name="T6" fmla="*/ 16 w 44"/>
                <a:gd name="T7" fmla="*/ 51 h 103"/>
                <a:gd name="T8" fmla="*/ 0 w 44"/>
                <a:gd name="T9" fmla="*/ 14 h 103"/>
                <a:gd name="T10" fmla="*/ 0 60000 65536"/>
                <a:gd name="T11" fmla="*/ 0 60000 65536"/>
                <a:gd name="T12" fmla="*/ 0 60000 65536"/>
                <a:gd name="T13" fmla="*/ 0 60000 65536"/>
                <a:gd name="T14" fmla="*/ 0 60000 65536"/>
                <a:gd name="T15" fmla="*/ 0 w 44"/>
                <a:gd name="T16" fmla="*/ 0 h 103"/>
                <a:gd name="T17" fmla="*/ 44 w 44"/>
                <a:gd name="T18" fmla="*/ 103 h 103"/>
              </a:gdLst>
              <a:ahLst/>
              <a:cxnLst>
                <a:cxn ang="T10">
                  <a:pos x="T0" y="T1"/>
                </a:cxn>
                <a:cxn ang="T11">
                  <a:pos x="T2" y="T3"/>
                </a:cxn>
                <a:cxn ang="T12">
                  <a:pos x="T4" y="T5"/>
                </a:cxn>
                <a:cxn ang="T13">
                  <a:pos x="T6" y="T7"/>
                </a:cxn>
                <a:cxn ang="T14">
                  <a:pos x="T8" y="T9"/>
                </a:cxn>
              </a:cxnLst>
              <a:rect l="T15" t="T16" r="T17" b="T18"/>
              <a:pathLst>
                <a:path w="44" h="103">
                  <a:moveTo>
                    <a:pt x="0" y="28"/>
                  </a:moveTo>
                  <a:lnTo>
                    <a:pt x="26" y="0"/>
                  </a:lnTo>
                  <a:lnTo>
                    <a:pt x="44" y="17"/>
                  </a:lnTo>
                  <a:lnTo>
                    <a:pt x="32" y="103"/>
                  </a:lnTo>
                  <a:lnTo>
                    <a:pt x="0" y="28"/>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69" name="Freeform 76"/>
            <p:cNvSpPr>
              <a:spLocks/>
            </p:cNvSpPr>
            <p:nvPr/>
          </p:nvSpPr>
          <p:spPr bwMode="gray">
            <a:xfrm>
              <a:off x="7949136" y="2042118"/>
              <a:ext cx="1104900" cy="914400"/>
            </a:xfrm>
            <a:custGeom>
              <a:avLst/>
              <a:gdLst>
                <a:gd name="T0" fmla="*/ 0 w 1393"/>
                <a:gd name="T1" fmla="*/ 495 h 1154"/>
                <a:gd name="T2" fmla="*/ 21 w 1393"/>
                <a:gd name="T3" fmla="*/ 370 h 1154"/>
                <a:gd name="T4" fmla="*/ 71 w 1393"/>
                <a:gd name="T5" fmla="*/ 62 h 1154"/>
                <a:gd name="T6" fmla="*/ 82 w 1393"/>
                <a:gd name="T7" fmla="*/ 0 h 1154"/>
                <a:gd name="T8" fmla="*/ 357 w 1393"/>
                <a:gd name="T9" fmla="*/ 41 h 1154"/>
                <a:gd name="T10" fmla="*/ 696 w 1393"/>
                <a:gd name="T11" fmla="*/ 77 h 1154"/>
                <a:gd name="T12" fmla="*/ 673 w 1393"/>
                <a:gd name="T13" fmla="*/ 326 h 1154"/>
                <a:gd name="T14" fmla="*/ 650 w 1393"/>
                <a:gd name="T15" fmla="*/ 576 h 1154"/>
                <a:gd name="T16" fmla="*/ 185 w 1393"/>
                <a:gd name="T17" fmla="*/ 523 h 1154"/>
                <a:gd name="T18" fmla="*/ 0 w 1393"/>
                <a:gd name="T19" fmla="*/ 495 h 11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93"/>
                <a:gd name="T31" fmla="*/ 0 h 1154"/>
                <a:gd name="T32" fmla="*/ 1393 w 1393"/>
                <a:gd name="T33" fmla="*/ 1154 h 115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93" h="1154">
                  <a:moveTo>
                    <a:pt x="0" y="991"/>
                  </a:moveTo>
                  <a:lnTo>
                    <a:pt x="42" y="742"/>
                  </a:lnTo>
                  <a:lnTo>
                    <a:pt x="142" y="124"/>
                  </a:lnTo>
                  <a:lnTo>
                    <a:pt x="164" y="0"/>
                  </a:lnTo>
                  <a:lnTo>
                    <a:pt x="715" y="82"/>
                  </a:lnTo>
                  <a:lnTo>
                    <a:pt x="1393" y="154"/>
                  </a:lnTo>
                  <a:lnTo>
                    <a:pt x="1347" y="654"/>
                  </a:lnTo>
                  <a:lnTo>
                    <a:pt x="1301" y="1154"/>
                  </a:lnTo>
                  <a:lnTo>
                    <a:pt x="371" y="1048"/>
                  </a:lnTo>
                  <a:lnTo>
                    <a:pt x="0" y="991"/>
                  </a:lnTo>
                  <a:close/>
                </a:path>
              </a:pathLst>
            </a:custGeom>
            <a:grp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grpSp>
      <p:sp>
        <p:nvSpPr>
          <p:cNvPr id="70" name="Freeform 60"/>
          <p:cNvSpPr>
            <a:spLocks/>
          </p:cNvSpPr>
          <p:nvPr/>
        </p:nvSpPr>
        <p:spPr bwMode="gray">
          <a:xfrm rot="20739849">
            <a:off x="3728812" y="3412050"/>
            <a:ext cx="3490238" cy="2690871"/>
          </a:xfrm>
          <a:custGeom>
            <a:avLst/>
            <a:gdLst>
              <a:gd name="T0" fmla="*/ 0 w 1580"/>
              <a:gd name="T1" fmla="*/ 501 h 1348"/>
              <a:gd name="T2" fmla="*/ 12 w 1580"/>
              <a:gd name="T3" fmla="*/ 380 h 1348"/>
              <a:gd name="T4" fmla="*/ 74 w 1580"/>
              <a:gd name="T5" fmla="*/ 282 h 1348"/>
              <a:gd name="T6" fmla="*/ 171 w 1580"/>
              <a:gd name="T7" fmla="*/ 0 h 1348"/>
              <a:gd name="T8" fmla="*/ 220 w 1580"/>
              <a:gd name="T9" fmla="*/ 15 h 1348"/>
              <a:gd name="T10" fmla="*/ 222 w 1580"/>
              <a:gd name="T11" fmla="*/ 27 h 1348"/>
              <a:gd name="T12" fmla="*/ 235 w 1580"/>
              <a:gd name="T13" fmla="*/ 29 h 1348"/>
              <a:gd name="T14" fmla="*/ 260 w 1580"/>
              <a:gd name="T15" fmla="*/ 78 h 1348"/>
              <a:gd name="T16" fmla="*/ 256 w 1580"/>
              <a:gd name="T17" fmla="*/ 94 h 1348"/>
              <a:gd name="T18" fmla="*/ 294 w 1580"/>
              <a:gd name="T19" fmla="*/ 127 h 1348"/>
              <a:gd name="T20" fmla="*/ 362 w 1580"/>
              <a:gd name="T21" fmla="*/ 124 h 1348"/>
              <a:gd name="T22" fmla="*/ 411 w 1580"/>
              <a:gd name="T23" fmla="*/ 147 h 1348"/>
              <a:gd name="T24" fmla="*/ 435 w 1580"/>
              <a:gd name="T25" fmla="*/ 142 h 1348"/>
              <a:gd name="T26" fmla="*/ 587 w 1580"/>
              <a:gd name="T27" fmla="*/ 147 h 1348"/>
              <a:gd name="T28" fmla="*/ 760 w 1580"/>
              <a:gd name="T29" fmla="*/ 187 h 1348"/>
              <a:gd name="T30" fmla="*/ 769 w 1580"/>
              <a:gd name="T31" fmla="*/ 209 h 1348"/>
              <a:gd name="T32" fmla="*/ 789 w 1580"/>
              <a:gd name="T33" fmla="*/ 240 h 1348"/>
              <a:gd name="T34" fmla="*/ 762 w 1580"/>
              <a:gd name="T35" fmla="*/ 282 h 1348"/>
              <a:gd name="T36" fmla="*/ 731 w 1580"/>
              <a:gd name="T37" fmla="*/ 330 h 1348"/>
              <a:gd name="T38" fmla="*/ 694 w 1580"/>
              <a:gd name="T39" fmla="*/ 365 h 1348"/>
              <a:gd name="T40" fmla="*/ 688 w 1580"/>
              <a:gd name="T41" fmla="*/ 388 h 1348"/>
              <a:gd name="T42" fmla="*/ 710 w 1580"/>
              <a:gd name="T43" fmla="*/ 414 h 1348"/>
              <a:gd name="T44" fmla="*/ 686 w 1580"/>
              <a:gd name="T45" fmla="*/ 469 h 1348"/>
              <a:gd name="T46" fmla="*/ 639 w 1580"/>
              <a:gd name="T47" fmla="*/ 673 h 1348"/>
              <a:gd name="T48" fmla="*/ 372 w 1580"/>
              <a:gd name="T49" fmla="*/ 606 h 1348"/>
              <a:gd name="T50" fmla="*/ 0 w 1580"/>
              <a:gd name="T51" fmla="*/ 501 h 134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80"/>
              <a:gd name="T79" fmla="*/ 0 h 1348"/>
              <a:gd name="T80" fmla="*/ 1580 w 1580"/>
              <a:gd name="T81" fmla="*/ 1348 h 134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80" h="1348">
                <a:moveTo>
                  <a:pt x="0" y="1004"/>
                </a:moveTo>
                <a:lnTo>
                  <a:pt x="25" y="761"/>
                </a:lnTo>
                <a:lnTo>
                  <a:pt x="148" y="564"/>
                </a:lnTo>
                <a:lnTo>
                  <a:pt x="343" y="0"/>
                </a:lnTo>
                <a:lnTo>
                  <a:pt x="440" y="30"/>
                </a:lnTo>
                <a:lnTo>
                  <a:pt x="445" y="55"/>
                </a:lnTo>
                <a:lnTo>
                  <a:pt x="471" y="59"/>
                </a:lnTo>
                <a:lnTo>
                  <a:pt x="520" y="156"/>
                </a:lnTo>
                <a:lnTo>
                  <a:pt x="512" y="188"/>
                </a:lnTo>
                <a:lnTo>
                  <a:pt x="589" y="254"/>
                </a:lnTo>
                <a:lnTo>
                  <a:pt x="724" y="249"/>
                </a:lnTo>
                <a:lnTo>
                  <a:pt x="824" y="294"/>
                </a:lnTo>
                <a:lnTo>
                  <a:pt x="872" y="284"/>
                </a:lnTo>
                <a:lnTo>
                  <a:pt x="1175" y="294"/>
                </a:lnTo>
                <a:lnTo>
                  <a:pt x="1521" y="375"/>
                </a:lnTo>
                <a:lnTo>
                  <a:pt x="1539" y="418"/>
                </a:lnTo>
                <a:lnTo>
                  <a:pt x="1580" y="481"/>
                </a:lnTo>
                <a:lnTo>
                  <a:pt x="1525" y="564"/>
                </a:lnTo>
                <a:lnTo>
                  <a:pt x="1464" y="660"/>
                </a:lnTo>
                <a:lnTo>
                  <a:pt x="1389" y="731"/>
                </a:lnTo>
                <a:lnTo>
                  <a:pt x="1378" y="778"/>
                </a:lnTo>
                <a:lnTo>
                  <a:pt x="1421" y="830"/>
                </a:lnTo>
                <a:lnTo>
                  <a:pt x="1373" y="939"/>
                </a:lnTo>
                <a:lnTo>
                  <a:pt x="1279" y="1348"/>
                </a:lnTo>
                <a:lnTo>
                  <a:pt x="744" y="1214"/>
                </a:lnTo>
                <a:lnTo>
                  <a:pt x="0" y="1004"/>
                </a:lnTo>
                <a:close/>
              </a:path>
            </a:pathLst>
          </a:custGeom>
          <a:solidFill>
            <a:srgbClr val="83CACC"/>
          </a:solidFill>
          <a:ln w="3175" cap="rnd">
            <a:solidFill>
              <a:schemeClr val="bg1"/>
            </a:solidFill>
            <a:round/>
            <a:headEnd/>
            <a:tailEnd/>
          </a:ln>
        </p:spPr>
        <p:txBody>
          <a:bodyPr/>
          <a:lstStyle/>
          <a:p>
            <a:pPr algn="ctr" eaLnBrk="0" fontAlgn="base" hangingPunct="0">
              <a:lnSpc>
                <a:spcPct val="106000"/>
              </a:lnSpc>
              <a:spcBef>
                <a:spcPct val="30000"/>
              </a:spcBef>
              <a:spcAft>
                <a:spcPct val="0"/>
              </a:spcAft>
            </a:pPr>
            <a:endParaRPr lang="en-US" sz="900">
              <a:solidFill>
                <a:srgbClr val="000066"/>
              </a:solidFill>
            </a:endParaRPr>
          </a:p>
        </p:txBody>
      </p:sp>
      <p:sp>
        <p:nvSpPr>
          <p:cNvPr id="13" name="Curved Down Arrow 12"/>
          <p:cNvSpPr/>
          <p:nvPr/>
        </p:nvSpPr>
        <p:spPr>
          <a:xfrm rot="284759">
            <a:off x="4750353" y="3770859"/>
            <a:ext cx="1765769" cy="481743"/>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2" name="Curved Down Arrow 71"/>
          <p:cNvSpPr/>
          <p:nvPr/>
        </p:nvSpPr>
        <p:spPr>
          <a:xfrm rot="2540518">
            <a:off x="4661899" y="4350260"/>
            <a:ext cx="1765769" cy="481743"/>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3" name="Curved Down Arrow 72"/>
          <p:cNvSpPr/>
          <p:nvPr/>
        </p:nvSpPr>
        <p:spPr>
          <a:xfrm rot="17287128" flipH="1">
            <a:off x="4023611" y="4247998"/>
            <a:ext cx="884271" cy="481743"/>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1" name="Oval 70"/>
          <p:cNvSpPr/>
          <p:nvPr/>
        </p:nvSpPr>
        <p:spPr bwMode="auto">
          <a:xfrm>
            <a:off x="4696705" y="4116388"/>
            <a:ext cx="155145" cy="155145"/>
          </a:xfrm>
          <a:prstGeom prst="ellipse">
            <a:avLst/>
          </a:prstGeom>
          <a:solidFill>
            <a:srgbClr val="F15D5A"/>
          </a:solidFill>
          <a:ln w="12700" cap="flat" cmpd="sng" algn="ctr">
            <a:solidFill>
              <a:schemeClr val="bg1"/>
            </a:solid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bodyPr>
          <a:lstStyle/>
          <a:p>
            <a:pPr eaLnBrk="0" fontAlgn="base" hangingPunct="0">
              <a:lnSpc>
                <a:spcPct val="106000"/>
              </a:lnSpc>
              <a:spcBef>
                <a:spcPct val="50000"/>
              </a:spcBef>
              <a:spcAft>
                <a:spcPct val="0"/>
              </a:spcAft>
              <a:buSzPct val="100000"/>
              <a:buFont typeface="Wingdings 2" pitchFamily="18" charset="2"/>
              <a:buNone/>
            </a:pPr>
            <a:endParaRPr lang="en-US" sz="1100">
              <a:solidFill>
                <a:srgbClr val="000000"/>
              </a:solidFill>
            </a:endParaRPr>
          </a:p>
        </p:txBody>
      </p:sp>
      <p:sp>
        <p:nvSpPr>
          <p:cNvPr id="74" name="Oval 73"/>
          <p:cNvSpPr/>
          <p:nvPr/>
        </p:nvSpPr>
        <p:spPr bwMode="auto">
          <a:xfrm>
            <a:off x="8232918" y="2616402"/>
            <a:ext cx="99531" cy="99531"/>
          </a:xfrm>
          <a:prstGeom prst="ellipse">
            <a:avLst/>
          </a:prstGeom>
          <a:solidFill>
            <a:srgbClr val="F15D5A"/>
          </a:solidFill>
          <a:ln w="12700" cap="flat" cmpd="sng" algn="ctr">
            <a:solidFill>
              <a:schemeClr val="bg1"/>
            </a:solid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bodyPr>
          <a:lstStyle/>
          <a:p>
            <a:pPr eaLnBrk="0" fontAlgn="base" hangingPunct="0">
              <a:lnSpc>
                <a:spcPct val="106000"/>
              </a:lnSpc>
              <a:spcBef>
                <a:spcPct val="50000"/>
              </a:spcBef>
              <a:spcAft>
                <a:spcPct val="0"/>
              </a:spcAft>
              <a:buSzPct val="100000"/>
              <a:buFont typeface="Wingdings 2" pitchFamily="18" charset="2"/>
              <a:buNone/>
            </a:pPr>
            <a:endParaRPr lang="en-US" sz="1100">
              <a:solidFill>
                <a:srgbClr val="000000"/>
              </a:solidFill>
            </a:endParaRPr>
          </a:p>
        </p:txBody>
      </p:sp>
      <p:sp>
        <p:nvSpPr>
          <p:cNvPr id="75" name="Curved Down Arrow 74"/>
          <p:cNvSpPr/>
          <p:nvPr/>
        </p:nvSpPr>
        <p:spPr>
          <a:xfrm rot="2540518">
            <a:off x="7960463" y="3281154"/>
            <a:ext cx="3746636" cy="775230"/>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6" name="Curved Down Arrow 75"/>
          <p:cNvSpPr/>
          <p:nvPr/>
        </p:nvSpPr>
        <p:spPr>
          <a:xfrm rot="17964162">
            <a:off x="7976618" y="2234950"/>
            <a:ext cx="467490" cy="379228"/>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7" name="Curved Down Arrow 76"/>
          <p:cNvSpPr/>
          <p:nvPr/>
        </p:nvSpPr>
        <p:spPr>
          <a:xfrm rot="17287128" flipH="1">
            <a:off x="7278478" y="2905864"/>
            <a:ext cx="1229528" cy="529041"/>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8" name="Curved Down Arrow 77"/>
          <p:cNvSpPr/>
          <p:nvPr/>
        </p:nvSpPr>
        <p:spPr>
          <a:xfrm rot="5790496">
            <a:off x="7545005" y="3308405"/>
            <a:ext cx="1851931" cy="596802"/>
          </a:xfrm>
          <a:prstGeom prst="curvedDownArrow">
            <a:avLst/>
          </a:prstGeom>
          <a:solidFill>
            <a:srgbClr val="04465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79" name="Oval 78"/>
          <p:cNvSpPr/>
          <p:nvPr/>
        </p:nvSpPr>
        <p:spPr bwMode="auto">
          <a:xfrm>
            <a:off x="8210148" y="2637431"/>
            <a:ext cx="155145" cy="155145"/>
          </a:xfrm>
          <a:prstGeom prst="ellipse">
            <a:avLst/>
          </a:prstGeom>
          <a:solidFill>
            <a:srgbClr val="F15D5A"/>
          </a:solidFill>
          <a:ln w="12700" cap="flat" cmpd="sng" algn="ctr">
            <a:solidFill>
              <a:schemeClr val="bg1"/>
            </a:solidFill>
            <a:prstDash val="solid"/>
            <a:round/>
            <a:headEnd type="none" w="med" len="med"/>
            <a:tailEnd type="none" w="med" len="med"/>
          </a:ln>
          <a:effectLst/>
        </p:spPr>
        <p:txBody>
          <a:bodyPr vert="horz" wrap="square" lIns="73152" tIns="73152" rIns="73152" bIns="73152" numCol="1" rtlCol="0" anchor="t" anchorCtr="0" compatLnSpc="1">
            <a:prstTxWarp prst="textNoShape">
              <a:avLst/>
            </a:prstTxWarp>
          </a:bodyPr>
          <a:lstStyle/>
          <a:p>
            <a:pPr eaLnBrk="0" fontAlgn="base" hangingPunct="0">
              <a:lnSpc>
                <a:spcPct val="106000"/>
              </a:lnSpc>
              <a:spcBef>
                <a:spcPct val="50000"/>
              </a:spcBef>
              <a:spcAft>
                <a:spcPct val="0"/>
              </a:spcAft>
              <a:buSzPct val="100000"/>
              <a:buFont typeface="Wingdings 2" pitchFamily="18" charset="2"/>
              <a:buNone/>
            </a:pPr>
            <a:endParaRPr lang="en-US" sz="1100">
              <a:solidFill>
                <a:srgbClr val="000000"/>
              </a:solidFill>
            </a:endParaRPr>
          </a:p>
        </p:txBody>
      </p:sp>
    </p:spTree>
    <p:extLst>
      <p:ext uri="{BB962C8B-B14F-4D97-AF65-F5344CB8AC3E}">
        <p14:creationId xmlns:p14="http://schemas.microsoft.com/office/powerpoint/2010/main" val="748237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7946</TotalTime>
  <Words>904</Words>
  <Application>Microsoft Macintosh PowerPoint</Application>
  <PresentationFormat>Custom</PresentationFormat>
  <Paragraphs>153</Paragraphs>
  <Slides>15</Slides>
  <Notes>12</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Our Vision</vt:lpstr>
      <vt:lpstr>The Problem</vt:lpstr>
      <vt:lpstr>Solution: Present Education</vt:lpstr>
      <vt:lpstr>How Present Works</vt:lpstr>
      <vt:lpstr>The Market</vt:lpstr>
      <vt:lpstr>Business Model</vt:lpstr>
      <vt:lpstr>Go-to-Market Strategy</vt:lpstr>
      <vt:lpstr>Competitors</vt:lpstr>
      <vt:lpstr>Differentiation</vt:lpstr>
      <vt:lpstr>Team</vt:lpstr>
      <vt:lpstr>Appendix</vt:lpstr>
      <vt:lpstr>How does Present work for…</vt:lpstr>
      <vt:lpstr>Demo</vt:lpstr>
      <vt:lpstr>Geographic Growth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Nauvin</dc:creator>
  <cp:lastModifiedBy>Eli Coon</cp:lastModifiedBy>
  <cp:revision>450</cp:revision>
  <dcterms:created xsi:type="dcterms:W3CDTF">2018-08-02T20:05:07Z</dcterms:created>
  <dcterms:modified xsi:type="dcterms:W3CDTF">2018-10-11T09:03:17Z</dcterms:modified>
</cp:coreProperties>
</file>